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9" r:id="rId1"/>
  </p:sldMasterIdLst>
  <p:notesMasterIdLst>
    <p:notesMasterId r:id="rId23"/>
  </p:notesMasterIdLst>
  <p:handoutMasterIdLst>
    <p:handoutMasterId r:id="rId24"/>
  </p:handoutMasterIdLst>
  <p:sldIdLst>
    <p:sldId id="1966" r:id="rId2"/>
    <p:sldId id="1967" r:id="rId3"/>
    <p:sldId id="1935" r:id="rId4"/>
    <p:sldId id="1910" r:id="rId5"/>
    <p:sldId id="1938" r:id="rId6"/>
    <p:sldId id="1949" r:id="rId7"/>
    <p:sldId id="1950" r:id="rId8"/>
    <p:sldId id="1951" r:id="rId9"/>
    <p:sldId id="1956" r:id="rId10"/>
    <p:sldId id="1958" r:id="rId11"/>
    <p:sldId id="1959" r:id="rId12"/>
    <p:sldId id="1957" r:id="rId13"/>
    <p:sldId id="1965" r:id="rId14"/>
    <p:sldId id="1952" r:id="rId15"/>
    <p:sldId id="1954" r:id="rId16"/>
    <p:sldId id="1955" r:id="rId17"/>
    <p:sldId id="1960" r:id="rId18"/>
    <p:sldId id="1961" r:id="rId19"/>
    <p:sldId id="1962" r:id="rId20"/>
    <p:sldId id="1963" r:id="rId21"/>
    <p:sldId id="1964" r:id="rId22"/>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ahoma" pitchFamily="-106" charset="0"/>
        <a:ea typeface="+mn-ea"/>
        <a:cs typeface="+mn-cs"/>
      </a:defRPr>
    </a:lvl1pPr>
    <a:lvl2pPr marL="457200" algn="l" rtl="0" fontAlgn="base">
      <a:spcBef>
        <a:spcPct val="0"/>
      </a:spcBef>
      <a:spcAft>
        <a:spcPct val="0"/>
      </a:spcAft>
      <a:defRPr sz="2400" kern="1200">
        <a:solidFill>
          <a:schemeClr val="tx1"/>
        </a:solidFill>
        <a:latin typeface="Tahoma" pitchFamily="-106" charset="0"/>
        <a:ea typeface="+mn-ea"/>
        <a:cs typeface="+mn-cs"/>
      </a:defRPr>
    </a:lvl2pPr>
    <a:lvl3pPr marL="914400" algn="l" rtl="0" fontAlgn="base">
      <a:spcBef>
        <a:spcPct val="0"/>
      </a:spcBef>
      <a:spcAft>
        <a:spcPct val="0"/>
      </a:spcAft>
      <a:defRPr sz="2400" kern="1200">
        <a:solidFill>
          <a:schemeClr val="tx1"/>
        </a:solidFill>
        <a:latin typeface="Tahoma" pitchFamily="-106" charset="0"/>
        <a:ea typeface="+mn-ea"/>
        <a:cs typeface="+mn-cs"/>
      </a:defRPr>
    </a:lvl3pPr>
    <a:lvl4pPr marL="1371600" algn="l" rtl="0" fontAlgn="base">
      <a:spcBef>
        <a:spcPct val="0"/>
      </a:spcBef>
      <a:spcAft>
        <a:spcPct val="0"/>
      </a:spcAft>
      <a:defRPr sz="2400" kern="1200">
        <a:solidFill>
          <a:schemeClr val="tx1"/>
        </a:solidFill>
        <a:latin typeface="Tahoma" pitchFamily="-106" charset="0"/>
        <a:ea typeface="+mn-ea"/>
        <a:cs typeface="+mn-cs"/>
      </a:defRPr>
    </a:lvl4pPr>
    <a:lvl5pPr marL="1828800" algn="l" rtl="0" fontAlgn="base">
      <a:spcBef>
        <a:spcPct val="0"/>
      </a:spcBef>
      <a:spcAft>
        <a:spcPct val="0"/>
      </a:spcAft>
      <a:defRPr sz="2400" kern="1200">
        <a:solidFill>
          <a:schemeClr val="tx1"/>
        </a:solidFill>
        <a:latin typeface="Tahoma" pitchFamily="-106" charset="0"/>
        <a:ea typeface="+mn-ea"/>
        <a:cs typeface="+mn-cs"/>
      </a:defRPr>
    </a:lvl5pPr>
    <a:lvl6pPr marL="2286000" algn="l" defTabSz="457200" rtl="0" eaLnBrk="1" latinLnBrk="0" hangingPunct="1">
      <a:defRPr sz="2400" kern="1200">
        <a:solidFill>
          <a:schemeClr val="tx1"/>
        </a:solidFill>
        <a:latin typeface="Tahoma" pitchFamily="-106" charset="0"/>
        <a:ea typeface="+mn-ea"/>
        <a:cs typeface="+mn-cs"/>
      </a:defRPr>
    </a:lvl6pPr>
    <a:lvl7pPr marL="2743200" algn="l" defTabSz="457200" rtl="0" eaLnBrk="1" latinLnBrk="0" hangingPunct="1">
      <a:defRPr sz="2400" kern="1200">
        <a:solidFill>
          <a:schemeClr val="tx1"/>
        </a:solidFill>
        <a:latin typeface="Tahoma" pitchFamily="-106" charset="0"/>
        <a:ea typeface="+mn-ea"/>
        <a:cs typeface="+mn-cs"/>
      </a:defRPr>
    </a:lvl7pPr>
    <a:lvl8pPr marL="3200400" algn="l" defTabSz="457200" rtl="0" eaLnBrk="1" latinLnBrk="0" hangingPunct="1">
      <a:defRPr sz="2400" kern="1200">
        <a:solidFill>
          <a:schemeClr val="tx1"/>
        </a:solidFill>
        <a:latin typeface="Tahoma" pitchFamily="-106" charset="0"/>
        <a:ea typeface="+mn-ea"/>
        <a:cs typeface="+mn-cs"/>
      </a:defRPr>
    </a:lvl8pPr>
    <a:lvl9pPr marL="3657600" algn="l" defTabSz="457200" rtl="0" eaLnBrk="1" latinLnBrk="0" hangingPunct="1">
      <a:defRPr sz="2400" kern="1200">
        <a:solidFill>
          <a:schemeClr val="tx1"/>
        </a:solidFill>
        <a:latin typeface="Tahoma" pitchFamily="-106"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78B044"/>
    <a:srgbClr val="78BD70"/>
    <a:srgbClr val="FF0000"/>
    <a:srgbClr val="8922FD"/>
    <a:srgbClr val="92D050"/>
    <a:srgbClr val="8424F8"/>
    <a:srgbClr val="D6CDEC"/>
    <a:srgbClr val="A4F15D"/>
    <a:srgbClr val="FFE3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116"/>
    <p:restoredTop sz="96327" autoAdjust="0"/>
  </p:normalViewPr>
  <p:slideViewPr>
    <p:cSldViewPr>
      <p:cViewPr varScale="1">
        <p:scale>
          <a:sx n="127" d="100"/>
          <a:sy n="127" d="100"/>
        </p:scale>
        <p:origin x="1648" y="176"/>
      </p:cViewPr>
      <p:guideLst>
        <p:guide orient="horz" pos="2160"/>
        <p:guide pos="2880"/>
      </p:guideLst>
    </p:cSldViewPr>
  </p:slideViewPr>
  <p:outlineViewPr>
    <p:cViewPr>
      <p:scale>
        <a:sx n="33" d="100"/>
        <a:sy n="33" d="100"/>
      </p:scale>
      <p:origin x="0" y="-7048"/>
    </p:cViewPr>
  </p:outlineViewPr>
  <p:notesTextViewPr>
    <p:cViewPr>
      <p:scale>
        <a:sx n="100" d="100"/>
        <a:sy n="100" d="100"/>
      </p:scale>
      <p:origin x="0" y="0"/>
    </p:cViewPr>
  </p:notesTextViewPr>
  <p:sorterViewPr>
    <p:cViewPr>
      <p:scale>
        <a:sx n="1" d="1"/>
        <a:sy n="1" d="1"/>
      </p:scale>
      <p:origin x="0" y="24480"/>
    </p:cViewPr>
  </p:sorterViewPr>
  <p:notesViewPr>
    <p:cSldViewPr>
      <p:cViewPr varScale="1">
        <p:scale>
          <a:sx n="55" d="100"/>
          <a:sy n="55" d="100"/>
        </p:scale>
        <p:origin x="-1878"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ahoma" pitchFamily="-84" charset="0"/>
              </a:defRPr>
            </a:lvl1pPr>
          </a:lstStyle>
          <a:p>
            <a:pPr>
              <a:defRPr/>
            </a:pPr>
            <a:endParaRPr lang="en-US"/>
          </a:p>
        </p:txBody>
      </p:sp>
      <p:sp>
        <p:nvSpPr>
          <p:cNvPr id="16387"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ahoma" pitchFamily="-84" charset="0"/>
              </a:defRPr>
            </a:lvl1pPr>
          </a:lstStyle>
          <a:p>
            <a:pPr>
              <a:defRPr/>
            </a:pPr>
            <a:endParaRPr lang="en-US"/>
          </a:p>
        </p:txBody>
      </p:sp>
      <p:sp>
        <p:nvSpPr>
          <p:cNvPr id="16388"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ahoma" pitchFamily="-84" charset="0"/>
              </a:defRPr>
            </a:lvl1pPr>
          </a:lstStyle>
          <a:p>
            <a:pPr>
              <a:defRPr/>
            </a:pPr>
            <a:endParaRPr lang="en-US"/>
          </a:p>
        </p:txBody>
      </p:sp>
      <p:sp>
        <p:nvSpPr>
          <p:cNvPr id="16389"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ahoma" pitchFamily="-84" charset="0"/>
              </a:defRPr>
            </a:lvl1pPr>
          </a:lstStyle>
          <a:p>
            <a:pPr>
              <a:defRPr/>
            </a:pPr>
            <a:fld id="{E3C2E8F3-95F7-4145-A301-3FA10ED4E2FD}"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ahoma" pitchFamily="-84" charset="0"/>
              </a:defRPr>
            </a:lvl1pPr>
          </a:lstStyle>
          <a:p>
            <a:pPr>
              <a:defRPr/>
            </a:pPr>
            <a:endParaRPr lang="en-US"/>
          </a:p>
        </p:txBody>
      </p:sp>
      <p:sp>
        <p:nvSpPr>
          <p:cNvPr id="102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ahoma" pitchFamily="-84" charset="0"/>
              </a:defRPr>
            </a:lvl1pPr>
          </a:lstStyle>
          <a:p>
            <a:pPr>
              <a:defRPr/>
            </a:pPr>
            <a:endParaRPr lang="en-US"/>
          </a:p>
        </p:txBody>
      </p:sp>
      <p:sp>
        <p:nvSpPr>
          <p:cNvPr id="1434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02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3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ahoma" pitchFamily="-84" charset="0"/>
              </a:defRPr>
            </a:lvl1pPr>
          </a:lstStyle>
          <a:p>
            <a:pPr>
              <a:defRPr/>
            </a:pPr>
            <a:endParaRPr lang="en-US"/>
          </a:p>
        </p:txBody>
      </p:sp>
      <p:sp>
        <p:nvSpPr>
          <p:cNvPr id="103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ahoma" pitchFamily="-84" charset="0"/>
              </a:defRPr>
            </a:lvl1pPr>
          </a:lstStyle>
          <a:p>
            <a:pPr>
              <a:defRPr/>
            </a:pPr>
            <a:fld id="{2BFE2475-28EF-9A44-97D3-D2287C00B1B1}" type="slidenum">
              <a:rPr lang="en-US"/>
              <a:pPr>
                <a:defRPr/>
              </a:pPr>
              <a:t>‹#›</a:t>
            </a:fld>
            <a:endParaRPr 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charset="0"/>
        <a:ea typeface="ＭＳ Ｐゴシック" pitchFamily="-84" charset="-128"/>
        <a:cs typeface="ＭＳ Ｐゴシック" pitchFamily="-84" charset="-128"/>
      </a:defRPr>
    </a:lvl1pPr>
    <a:lvl2pPr marL="4572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17"/>
          <p:cNvSpPr>
            <a:spLocks noChangeArrowheads="1"/>
          </p:cNvSpPr>
          <p:nvPr userDrawn="1"/>
        </p:nvSpPr>
        <p:spPr bwMode="auto">
          <a:xfrm>
            <a:off x="0" y="0"/>
            <a:ext cx="9144000" cy="1295400"/>
          </a:xfrm>
          <a:prstGeom prst="rect">
            <a:avLst/>
          </a:prstGeom>
          <a:gradFill rotWithShape="0">
            <a:gsLst>
              <a:gs pos="0">
                <a:srgbClr val="9900CC"/>
              </a:gs>
              <a:gs pos="100000">
                <a:srgbClr val="FFFFFF"/>
              </a:gs>
            </a:gsLst>
            <a:lin ang="0" scaled="1"/>
          </a:gradFill>
          <a:ln w="9525">
            <a:noFill/>
            <a:miter lim="800000"/>
            <a:headEnd/>
            <a:tailEnd/>
          </a:ln>
          <a:effectLst/>
        </p:spPr>
        <p:txBody>
          <a:bodyPr wrap="none" anchor="ctr">
            <a:prstTxWarp prst="textNoShape">
              <a:avLst/>
            </a:prstTxWarp>
          </a:bodyPr>
          <a:lstStyle/>
          <a:p>
            <a:pPr>
              <a:defRPr/>
            </a:pPr>
            <a:endParaRPr lang="en-US">
              <a:latin typeface="Tahoma" pitchFamily="-84" charset="0"/>
            </a:endParaRPr>
          </a:p>
        </p:txBody>
      </p:sp>
      <p:sp>
        <p:nvSpPr>
          <p:cNvPr id="5" name="Rectangle 18"/>
          <p:cNvSpPr>
            <a:spLocks noChangeArrowheads="1"/>
          </p:cNvSpPr>
          <p:nvPr userDrawn="1"/>
        </p:nvSpPr>
        <p:spPr bwMode="auto">
          <a:xfrm rot="16200000">
            <a:off x="-2514600" y="3810000"/>
            <a:ext cx="5562600" cy="533400"/>
          </a:xfrm>
          <a:prstGeom prst="rect">
            <a:avLst/>
          </a:prstGeom>
          <a:gradFill rotWithShape="0">
            <a:gsLst>
              <a:gs pos="0">
                <a:srgbClr val="9900CC"/>
              </a:gs>
              <a:gs pos="100000">
                <a:srgbClr val="FFFFFF"/>
              </a:gs>
            </a:gsLst>
            <a:lin ang="5400000" scaled="1"/>
          </a:gradFill>
          <a:ln w="9525">
            <a:noFill/>
            <a:miter lim="800000"/>
            <a:headEnd/>
            <a:tailEnd/>
          </a:ln>
          <a:effectLst/>
        </p:spPr>
        <p:txBody>
          <a:bodyPr wrap="none" anchor="ctr">
            <a:prstTxWarp prst="textNoShape">
              <a:avLst/>
            </a:prstTxWarp>
          </a:bodyPr>
          <a:lstStyle/>
          <a:p>
            <a:pPr>
              <a:defRPr/>
            </a:pPr>
            <a:endParaRPr lang="en-US">
              <a:latin typeface="Tahoma" pitchFamily="-84" charset="0"/>
            </a:endParaRPr>
          </a:p>
        </p:txBody>
      </p:sp>
      <p:sp>
        <p:nvSpPr>
          <p:cNvPr id="6156" name="Rectangle 12"/>
          <p:cNvSpPr>
            <a:spLocks noGrp="1" noChangeArrowheads="1"/>
          </p:cNvSpPr>
          <p:nvPr>
            <p:ph type="ctrTitle"/>
          </p:nvPr>
        </p:nvSpPr>
        <p:spPr>
          <a:xfrm>
            <a:off x="990600" y="1828800"/>
            <a:ext cx="7772400" cy="1143000"/>
          </a:xfrm>
        </p:spPr>
        <p:txBody>
          <a:bodyPr/>
          <a:lstStyle>
            <a:lvl1pPr>
              <a:defRPr/>
            </a:lvl1pPr>
          </a:lstStyle>
          <a:p>
            <a:r>
              <a:rPr lang="en-US"/>
              <a:t>Click to edit Master title style</a:t>
            </a:r>
          </a:p>
        </p:txBody>
      </p:sp>
      <p:sp>
        <p:nvSpPr>
          <p:cNvPr id="6157" name="Rectangle 13"/>
          <p:cNvSpPr>
            <a:spLocks noGrp="1" noChangeArrowheads="1"/>
          </p:cNvSpPr>
          <p:nvPr>
            <p:ph type="subTitle" idx="1"/>
          </p:nvPr>
        </p:nvSpPr>
        <p:spPr>
          <a:xfrm>
            <a:off x="1371600" y="3886200"/>
            <a:ext cx="6400800" cy="1752600"/>
          </a:xfrm>
        </p:spPr>
        <p:txBody>
          <a:bodyPr/>
          <a:lstStyle>
            <a:lvl1pPr marL="0" indent="0" algn="ctr">
              <a:buFont typeface="Wingdings" charset="2"/>
              <a:buNone/>
              <a:defRPr/>
            </a:lvl1pPr>
          </a:lstStyle>
          <a:p>
            <a:r>
              <a:rPr lang="en-US"/>
              <a:t>Click to edit Master subtitle style</a:t>
            </a:r>
          </a:p>
        </p:txBody>
      </p:sp>
      <p:sp>
        <p:nvSpPr>
          <p:cNvPr id="6" name="Rectangle 14"/>
          <p:cNvSpPr>
            <a:spLocks noGrp="1" noChangeArrowheads="1"/>
          </p:cNvSpPr>
          <p:nvPr>
            <p:ph type="dt" sz="half" idx="10"/>
          </p:nvPr>
        </p:nvSpPr>
        <p:spPr bwMode="auto">
          <a:xfrm>
            <a:off x="990600"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400">
                <a:solidFill>
                  <a:schemeClr val="bg2"/>
                </a:solidFill>
                <a:latin typeface="Tahoma" pitchFamily="-84" charset="0"/>
              </a:defRPr>
            </a:lvl1pPr>
          </a:lstStyle>
          <a:p>
            <a:pPr>
              <a:defRPr/>
            </a:pPr>
            <a:endParaRPr lang="en-US"/>
          </a:p>
        </p:txBody>
      </p:sp>
      <p:sp>
        <p:nvSpPr>
          <p:cNvPr id="7"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r>
              <a:rPr lang="en-US"/>
              <a:t>HAMR - Hatcliff -- Kansas State</a:t>
            </a:r>
          </a:p>
        </p:txBody>
      </p:sp>
      <p:sp>
        <p:nvSpPr>
          <p:cNvPr id="8"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pPr>
              <a:defRPr/>
            </a:pPr>
            <a:fld id="{45E685A3-5A44-F34A-9DD6-E549D5259BBF}"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p:cNvSpPr>
            <a:spLocks noGrp="1" noChangeArrowheads="1"/>
          </p:cNvSpPr>
          <p:nvPr>
            <p:ph type="ftr" sz="quarter" idx="10"/>
          </p:nvPr>
        </p:nvSpPr>
        <p:spPr>
          <a:ln/>
        </p:spPr>
        <p:txBody>
          <a:bodyPr/>
          <a:lstStyle>
            <a:lvl1pPr>
              <a:defRPr/>
            </a:lvl1pPr>
          </a:lstStyle>
          <a:p>
            <a:pPr>
              <a:defRPr/>
            </a:pPr>
            <a:r>
              <a:rPr lang="en-US"/>
              <a:t>HAMR - Hatcliff -- Kansas State</a:t>
            </a:r>
          </a:p>
        </p:txBody>
      </p:sp>
      <p:sp>
        <p:nvSpPr>
          <p:cNvPr id="5" name="Rectangle 13"/>
          <p:cNvSpPr>
            <a:spLocks noGrp="1" noChangeArrowheads="1"/>
          </p:cNvSpPr>
          <p:nvPr>
            <p:ph type="sldNum" sz="quarter" idx="11"/>
          </p:nvPr>
        </p:nvSpPr>
        <p:spPr>
          <a:ln/>
        </p:spPr>
        <p:txBody>
          <a:bodyPr/>
          <a:lstStyle>
            <a:lvl1pPr>
              <a:defRPr/>
            </a:lvl1pPr>
          </a:lstStyle>
          <a:p>
            <a:pPr>
              <a:defRPr/>
            </a:pPr>
            <a:fld id="{C22399C2-1ADD-1549-9753-CEA7C1EED1B8}"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2"/>
          <p:cNvSpPr>
            <a:spLocks noGrp="1" noChangeArrowheads="1"/>
          </p:cNvSpPr>
          <p:nvPr>
            <p:ph type="ftr" sz="quarter" idx="10"/>
          </p:nvPr>
        </p:nvSpPr>
        <p:spPr>
          <a:ln/>
        </p:spPr>
        <p:txBody>
          <a:bodyPr/>
          <a:lstStyle>
            <a:lvl1pPr>
              <a:defRPr/>
            </a:lvl1pPr>
          </a:lstStyle>
          <a:p>
            <a:pPr>
              <a:defRPr/>
            </a:pPr>
            <a:r>
              <a:rPr lang="en-US"/>
              <a:t>HAMR - Hatcliff -- Kansas State</a:t>
            </a:r>
          </a:p>
        </p:txBody>
      </p:sp>
      <p:sp>
        <p:nvSpPr>
          <p:cNvPr id="5" name="Rectangle 13"/>
          <p:cNvSpPr>
            <a:spLocks noGrp="1" noChangeArrowheads="1"/>
          </p:cNvSpPr>
          <p:nvPr>
            <p:ph type="sldNum" sz="quarter" idx="11"/>
          </p:nvPr>
        </p:nvSpPr>
        <p:spPr>
          <a:ln/>
        </p:spPr>
        <p:txBody>
          <a:bodyPr/>
          <a:lstStyle>
            <a:lvl1pPr>
              <a:defRPr/>
            </a:lvl1pPr>
          </a:lstStyle>
          <a:p>
            <a:pPr>
              <a:defRPr/>
            </a:pPr>
            <a:fld id="{50848EDB-E059-EE4C-BEE4-92ACBFC1ACEA}"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524000"/>
            <a:ext cx="40005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38700" y="1524000"/>
            <a:ext cx="40005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2"/>
          <p:cNvSpPr>
            <a:spLocks noGrp="1" noChangeArrowheads="1"/>
          </p:cNvSpPr>
          <p:nvPr>
            <p:ph type="ftr" sz="quarter" idx="10"/>
          </p:nvPr>
        </p:nvSpPr>
        <p:spPr>
          <a:ln/>
        </p:spPr>
        <p:txBody>
          <a:bodyPr/>
          <a:lstStyle>
            <a:lvl1pPr>
              <a:defRPr/>
            </a:lvl1pPr>
          </a:lstStyle>
          <a:p>
            <a:pPr>
              <a:defRPr/>
            </a:pPr>
            <a:r>
              <a:rPr lang="en-US"/>
              <a:t>HAMR - Hatcliff -- Kansas State</a:t>
            </a:r>
          </a:p>
        </p:txBody>
      </p:sp>
      <p:sp>
        <p:nvSpPr>
          <p:cNvPr id="6" name="Rectangle 13"/>
          <p:cNvSpPr>
            <a:spLocks noGrp="1" noChangeArrowheads="1"/>
          </p:cNvSpPr>
          <p:nvPr>
            <p:ph type="sldNum" sz="quarter" idx="11"/>
          </p:nvPr>
        </p:nvSpPr>
        <p:spPr>
          <a:ln/>
        </p:spPr>
        <p:txBody>
          <a:bodyPr/>
          <a:lstStyle>
            <a:lvl1pPr>
              <a:defRPr/>
            </a:lvl1pPr>
          </a:lstStyle>
          <a:p>
            <a:pPr>
              <a:defRPr/>
            </a:pPr>
            <a:fld id="{1EE9051A-5116-C044-BC66-ED283B4D5A77}"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2"/>
          <p:cNvSpPr>
            <a:spLocks noGrp="1" noChangeArrowheads="1"/>
          </p:cNvSpPr>
          <p:nvPr>
            <p:ph type="ftr" sz="quarter" idx="10"/>
          </p:nvPr>
        </p:nvSpPr>
        <p:spPr>
          <a:ln/>
        </p:spPr>
        <p:txBody>
          <a:bodyPr/>
          <a:lstStyle>
            <a:lvl1pPr>
              <a:defRPr/>
            </a:lvl1pPr>
          </a:lstStyle>
          <a:p>
            <a:pPr>
              <a:defRPr/>
            </a:pPr>
            <a:r>
              <a:rPr lang="en-US"/>
              <a:t>HAMR - Hatcliff -- Kansas State</a:t>
            </a:r>
          </a:p>
        </p:txBody>
      </p:sp>
      <p:sp>
        <p:nvSpPr>
          <p:cNvPr id="8" name="Rectangle 13"/>
          <p:cNvSpPr>
            <a:spLocks noGrp="1" noChangeArrowheads="1"/>
          </p:cNvSpPr>
          <p:nvPr>
            <p:ph type="sldNum" sz="quarter" idx="11"/>
          </p:nvPr>
        </p:nvSpPr>
        <p:spPr>
          <a:ln/>
        </p:spPr>
        <p:txBody>
          <a:bodyPr/>
          <a:lstStyle>
            <a:lvl1pPr>
              <a:defRPr/>
            </a:lvl1pPr>
          </a:lstStyle>
          <a:p>
            <a:pPr>
              <a:defRPr/>
            </a:pPr>
            <a:fld id="{2E73A91B-A097-8F43-A5C5-A8482E10CE6F}"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2"/>
          <p:cNvSpPr>
            <a:spLocks noGrp="1" noChangeArrowheads="1"/>
          </p:cNvSpPr>
          <p:nvPr>
            <p:ph type="ftr" sz="quarter" idx="10"/>
          </p:nvPr>
        </p:nvSpPr>
        <p:spPr>
          <a:ln/>
        </p:spPr>
        <p:txBody>
          <a:bodyPr/>
          <a:lstStyle>
            <a:lvl1pPr>
              <a:defRPr/>
            </a:lvl1pPr>
          </a:lstStyle>
          <a:p>
            <a:pPr>
              <a:defRPr/>
            </a:pPr>
            <a:r>
              <a:rPr lang="en-US"/>
              <a:t>HAMR - Hatcliff -- Kansas State</a:t>
            </a:r>
          </a:p>
        </p:txBody>
      </p:sp>
      <p:sp>
        <p:nvSpPr>
          <p:cNvPr id="4" name="Rectangle 13"/>
          <p:cNvSpPr>
            <a:spLocks noGrp="1" noChangeArrowheads="1"/>
          </p:cNvSpPr>
          <p:nvPr>
            <p:ph type="sldNum" sz="quarter" idx="11"/>
          </p:nvPr>
        </p:nvSpPr>
        <p:spPr>
          <a:ln/>
        </p:spPr>
        <p:txBody>
          <a:bodyPr/>
          <a:lstStyle>
            <a:lvl1pPr>
              <a:defRPr/>
            </a:lvl1pPr>
          </a:lstStyle>
          <a:p>
            <a:pPr>
              <a:defRPr/>
            </a:pPr>
            <a:fld id="{6E0AA622-F4CE-604D-A669-CD3D12FC535C}"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2"/>
          <p:cNvSpPr>
            <a:spLocks noGrp="1" noChangeArrowheads="1"/>
          </p:cNvSpPr>
          <p:nvPr>
            <p:ph type="ftr" sz="quarter" idx="10"/>
          </p:nvPr>
        </p:nvSpPr>
        <p:spPr>
          <a:ln/>
        </p:spPr>
        <p:txBody>
          <a:bodyPr/>
          <a:lstStyle>
            <a:lvl1pPr>
              <a:defRPr/>
            </a:lvl1pPr>
          </a:lstStyle>
          <a:p>
            <a:pPr>
              <a:defRPr/>
            </a:pPr>
            <a:r>
              <a:rPr lang="en-US"/>
              <a:t>HAMR - Hatcliff -- Kansas State</a:t>
            </a:r>
          </a:p>
        </p:txBody>
      </p:sp>
      <p:sp>
        <p:nvSpPr>
          <p:cNvPr id="3" name="Rectangle 13"/>
          <p:cNvSpPr>
            <a:spLocks noGrp="1" noChangeArrowheads="1"/>
          </p:cNvSpPr>
          <p:nvPr>
            <p:ph type="sldNum" sz="quarter" idx="11"/>
          </p:nvPr>
        </p:nvSpPr>
        <p:spPr>
          <a:ln/>
        </p:spPr>
        <p:txBody>
          <a:bodyPr/>
          <a:lstStyle>
            <a:lvl1pPr>
              <a:defRPr/>
            </a:lvl1pPr>
          </a:lstStyle>
          <a:p>
            <a:pPr>
              <a:defRPr/>
            </a:pPr>
            <a:fld id="{BA615124-8EB2-6E40-9E50-F98D2465DC75}"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2"/>
          <p:cNvSpPr>
            <a:spLocks noGrp="1" noChangeArrowheads="1"/>
          </p:cNvSpPr>
          <p:nvPr>
            <p:ph type="ftr" sz="quarter" idx="10"/>
          </p:nvPr>
        </p:nvSpPr>
        <p:spPr>
          <a:ln/>
        </p:spPr>
        <p:txBody>
          <a:bodyPr/>
          <a:lstStyle>
            <a:lvl1pPr>
              <a:defRPr/>
            </a:lvl1pPr>
          </a:lstStyle>
          <a:p>
            <a:pPr>
              <a:defRPr/>
            </a:pPr>
            <a:r>
              <a:rPr lang="en-US"/>
              <a:t>HAMR - Hatcliff -- Kansas State</a:t>
            </a:r>
          </a:p>
        </p:txBody>
      </p:sp>
      <p:sp>
        <p:nvSpPr>
          <p:cNvPr id="6" name="Rectangle 13"/>
          <p:cNvSpPr>
            <a:spLocks noGrp="1" noChangeArrowheads="1"/>
          </p:cNvSpPr>
          <p:nvPr>
            <p:ph type="sldNum" sz="quarter" idx="11"/>
          </p:nvPr>
        </p:nvSpPr>
        <p:spPr>
          <a:ln/>
        </p:spPr>
        <p:txBody>
          <a:bodyPr/>
          <a:lstStyle>
            <a:lvl1pPr>
              <a:defRPr/>
            </a:lvl1pPr>
          </a:lstStyle>
          <a:p>
            <a:pPr>
              <a:defRPr/>
            </a:pPr>
            <a:fld id="{A44EE25D-892F-FA42-8251-4062CB60CA5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2"/>
          <p:cNvSpPr>
            <a:spLocks noGrp="1" noChangeArrowheads="1"/>
          </p:cNvSpPr>
          <p:nvPr>
            <p:ph type="ftr" sz="quarter" idx="10"/>
          </p:nvPr>
        </p:nvSpPr>
        <p:spPr>
          <a:ln/>
        </p:spPr>
        <p:txBody>
          <a:bodyPr/>
          <a:lstStyle>
            <a:lvl1pPr>
              <a:defRPr/>
            </a:lvl1pPr>
          </a:lstStyle>
          <a:p>
            <a:pPr>
              <a:defRPr/>
            </a:pPr>
            <a:r>
              <a:rPr lang="en-US"/>
              <a:t>HAMR - Hatcliff -- Kansas State</a:t>
            </a:r>
          </a:p>
        </p:txBody>
      </p:sp>
      <p:sp>
        <p:nvSpPr>
          <p:cNvPr id="6" name="Rectangle 13"/>
          <p:cNvSpPr>
            <a:spLocks noGrp="1" noChangeArrowheads="1"/>
          </p:cNvSpPr>
          <p:nvPr>
            <p:ph type="sldNum" sz="quarter" idx="11"/>
          </p:nvPr>
        </p:nvSpPr>
        <p:spPr>
          <a:ln/>
        </p:spPr>
        <p:txBody>
          <a:bodyPr/>
          <a:lstStyle>
            <a:lvl1pPr>
              <a:defRPr/>
            </a:lvl1pPr>
          </a:lstStyle>
          <a:p>
            <a:pPr>
              <a:defRPr/>
            </a:pPr>
            <a:fld id="{2C56E9B7-6EE0-8D46-8C36-993F30F20EC8}"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p:cNvSpPr>
            <a:spLocks noGrp="1" noChangeArrowheads="1"/>
          </p:cNvSpPr>
          <p:nvPr>
            <p:ph type="ftr" sz="quarter" idx="10"/>
          </p:nvPr>
        </p:nvSpPr>
        <p:spPr>
          <a:ln/>
        </p:spPr>
        <p:txBody>
          <a:bodyPr/>
          <a:lstStyle>
            <a:lvl1pPr>
              <a:defRPr/>
            </a:lvl1pPr>
          </a:lstStyle>
          <a:p>
            <a:pPr>
              <a:defRPr/>
            </a:pPr>
            <a:r>
              <a:rPr lang="en-US"/>
              <a:t>HAMR - Hatcliff -- Kansas State</a:t>
            </a:r>
          </a:p>
        </p:txBody>
      </p:sp>
      <p:sp>
        <p:nvSpPr>
          <p:cNvPr id="5" name="Rectangle 13"/>
          <p:cNvSpPr>
            <a:spLocks noGrp="1" noChangeArrowheads="1"/>
          </p:cNvSpPr>
          <p:nvPr>
            <p:ph type="sldNum" sz="quarter" idx="11"/>
          </p:nvPr>
        </p:nvSpPr>
        <p:spPr>
          <a:ln/>
        </p:spPr>
        <p:txBody>
          <a:bodyPr/>
          <a:lstStyle>
            <a:lvl1pPr>
              <a:defRPr/>
            </a:lvl1pPr>
          </a:lstStyle>
          <a:p>
            <a:pPr>
              <a:defRPr/>
            </a:pPr>
            <a:fld id="{0CB14967-302F-6E48-8678-32FDE0F3292B}"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00850" y="0"/>
            <a:ext cx="2038350" cy="6400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0"/>
            <a:ext cx="5962650" cy="6400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p:cNvSpPr>
            <a:spLocks noGrp="1" noChangeArrowheads="1"/>
          </p:cNvSpPr>
          <p:nvPr>
            <p:ph type="ftr" sz="quarter" idx="10"/>
          </p:nvPr>
        </p:nvSpPr>
        <p:spPr>
          <a:ln/>
        </p:spPr>
        <p:txBody>
          <a:bodyPr/>
          <a:lstStyle>
            <a:lvl1pPr>
              <a:defRPr/>
            </a:lvl1pPr>
          </a:lstStyle>
          <a:p>
            <a:pPr>
              <a:defRPr/>
            </a:pPr>
            <a:r>
              <a:rPr lang="en-US"/>
              <a:t>HAMR - Hatcliff -- Kansas State</a:t>
            </a:r>
          </a:p>
        </p:txBody>
      </p:sp>
      <p:sp>
        <p:nvSpPr>
          <p:cNvPr id="5" name="Rectangle 13"/>
          <p:cNvSpPr>
            <a:spLocks noGrp="1" noChangeArrowheads="1"/>
          </p:cNvSpPr>
          <p:nvPr>
            <p:ph type="sldNum" sz="quarter" idx="11"/>
          </p:nvPr>
        </p:nvSpPr>
        <p:spPr>
          <a:ln/>
        </p:spPr>
        <p:txBody>
          <a:bodyPr/>
          <a:lstStyle>
            <a:lvl1pPr>
              <a:defRPr/>
            </a:lvl1pPr>
          </a:lstStyle>
          <a:p>
            <a:pPr>
              <a:defRPr/>
            </a:pPr>
            <a:fld id="{EBA15ABF-0168-ED43-8055-FDAC86F85D9F}"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35" name="Rectangle 15"/>
          <p:cNvSpPr>
            <a:spLocks noChangeArrowheads="1"/>
          </p:cNvSpPr>
          <p:nvPr userDrawn="1"/>
        </p:nvSpPr>
        <p:spPr bwMode="auto">
          <a:xfrm rot="-5400000">
            <a:off x="-2590800" y="3733800"/>
            <a:ext cx="5715000" cy="533400"/>
          </a:xfrm>
          <a:prstGeom prst="rect">
            <a:avLst/>
          </a:prstGeom>
          <a:gradFill rotWithShape="0">
            <a:gsLst>
              <a:gs pos="0">
                <a:srgbClr val="DDCBE7"/>
              </a:gs>
              <a:gs pos="100000">
                <a:srgbClr val="DDCBE7">
                  <a:gamma/>
                  <a:tint val="0"/>
                  <a:invGamma/>
                </a:srgbClr>
              </a:gs>
            </a:gsLst>
            <a:lin ang="5400000" scaled="1"/>
          </a:gradFill>
          <a:ln w="9525">
            <a:noFill/>
            <a:miter lim="800000"/>
            <a:headEnd/>
            <a:tailEnd/>
          </a:ln>
          <a:effectLst/>
        </p:spPr>
        <p:txBody>
          <a:bodyPr wrap="none" anchor="ctr">
            <a:prstTxWarp prst="textNoShape">
              <a:avLst/>
            </a:prstTxWarp>
          </a:bodyPr>
          <a:lstStyle/>
          <a:p>
            <a:pPr>
              <a:defRPr/>
            </a:pPr>
            <a:endParaRPr lang="en-US">
              <a:latin typeface="Tahoma" pitchFamily="-84" charset="0"/>
            </a:endParaRPr>
          </a:p>
        </p:txBody>
      </p:sp>
      <p:sp>
        <p:nvSpPr>
          <p:cNvPr id="5134" name="Rectangle 14"/>
          <p:cNvSpPr>
            <a:spLocks noChangeArrowheads="1"/>
          </p:cNvSpPr>
          <p:nvPr userDrawn="1"/>
        </p:nvSpPr>
        <p:spPr bwMode="auto">
          <a:xfrm>
            <a:off x="0" y="0"/>
            <a:ext cx="9144000" cy="1143000"/>
          </a:xfrm>
          <a:prstGeom prst="rect">
            <a:avLst/>
          </a:prstGeom>
          <a:gradFill rotWithShape="0">
            <a:gsLst>
              <a:gs pos="0">
                <a:srgbClr val="9900CC"/>
              </a:gs>
              <a:gs pos="100000">
                <a:srgbClr val="FFFFFF"/>
              </a:gs>
            </a:gsLst>
            <a:lin ang="0" scaled="1"/>
          </a:gradFill>
          <a:ln w="9525">
            <a:noFill/>
            <a:miter lim="800000"/>
            <a:headEnd/>
            <a:tailEnd/>
          </a:ln>
          <a:effectLst/>
        </p:spPr>
        <p:txBody>
          <a:bodyPr wrap="none" anchor="ctr">
            <a:prstTxWarp prst="textNoShape">
              <a:avLst/>
            </a:prstTxWarp>
          </a:bodyPr>
          <a:lstStyle/>
          <a:p>
            <a:pPr>
              <a:defRPr/>
            </a:pPr>
            <a:endParaRPr lang="en-US">
              <a:latin typeface="Tahoma" pitchFamily="-84" charset="0"/>
            </a:endParaRPr>
          </a:p>
        </p:txBody>
      </p:sp>
      <p:sp>
        <p:nvSpPr>
          <p:cNvPr id="1028" name="Rectangle 9"/>
          <p:cNvSpPr>
            <a:spLocks noGrp="1" noChangeArrowheads="1"/>
          </p:cNvSpPr>
          <p:nvPr>
            <p:ph type="title"/>
          </p:nvPr>
        </p:nvSpPr>
        <p:spPr bwMode="auto">
          <a:xfrm>
            <a:off x="685800" y="0"/>
            <a:ext cx="8153400" cy="11430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9" name="Rectangle 10"/>
          <p:cNvSpPr>
            <a:spLocks noGrp="1" noChangeArrowheads="1"/>
          </p:cNvSpPr>
          <p:nvPr>
            <p:ph type="body" idx="1"/>
          </p:nvPr>
        </p:nvSpPr>
        <p:spPr bwMode="auto">
          <a:xfrm>
            <a:off x="685800" y="1524000"/>
            <a:ext cx="8153400" cy="4876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32" name="Rectangle 12"/>
          <p:cNvSpPr>
            <a:spLocks noGrp="1" noChangeArrowheads="1"/>
          </p:cNvSpPr>
          <p:nvPr>
            <p:ph type="ftr" sz="quarter" idx="3"/>
          </p:nvPr>
        </p:nvSpPr>
        <p:spPr bwMode="auto">
          <a:xfrm>
            <a:off x="0" y="6553200"/>
            <a:ext cx="3581400" cy="3048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a:solidFill>
                  <a:srgbClr val="D0B6DE"/>
                </a:solidFill>
                <a:latin typeface="Tahoma" pitchFamily="-84" charset="0"/>
              </a:defRPr>
            </a:lvl1pPr>
          </a:lstStyle>
          <a:p>
            <a:pPr>
              <a:defRPr/>
            </a:pPr>
            <a:r>
              <a:rPr lang="en-US"/>
              <a:t>HAMR - Hatcliff -- Kansas State</a:t>
            </a:r>
          </a:p>
        </p:txBody>
      </p:sp>
      <p:sp>
        <p:nvSpPr>
          <p:cNvPr id="5133" name="Rectangle 13"/>
          <p:cNvSpPr>
            <a:spLocks noGrp="1" noChangeArrowheads="1"/>
          </p:cNvSpPr>
          <p:nvPr>
            <p:ph type="sldNum" sz="quarter" idx="4"/>
          </p:nvPr>
        </p:nvSpPr>
        <p:spPr bwMode="auto">
          <a:xfrm>
            <a:off x="8686800" y="6400800"/>
            <a:ext cx="4572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solidFill>
                  <a:srgbClr val="D0B6DE"/>
                </a:solidFill>
                <a:latin typeface="Tahoma" pitchFamily="-84" charset="0"/>
              </a:defRPr>
            </a:lvl1pPr>
          </a:lstStyle>
          <a:p>
            <a:pPr>
              <a:defRPr/>
            </a:pPr>
            <a:fld id="{623F72AE-F2FC-1C4B-AEBE-5105C7AC914D}"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80"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hdr="0" ftr="0" dt="0"/>
  <p:txStyles>
    <p:titleStyle>
      <a:lvl1pPr algn="l" rtl="0" eaLnBrk="0" fontAlgn="base" hangingPunct="0">
        <a:spcBef>
          <a:spcPct val="0"/>
        </a:spcBef>
        <a:spcAft>
          <a:spcPct val="0"/>
        </a:spcAft>
        <a:defRPr sz="4400" b="1">
          <a:solidFill>
            <a:schemeClr val="tx1"/>
          </a:solidFill>
          <a:latin typeface="+mj-lt"/>
          <a:ea typeface="ＭＳ Ｐゴシック" pitchFamily="-84" charset="-128"/>
          <a:cs typeface="ＭＳ Ｐゴシック" pitchFamily="-84" charset="-128"/>
        </a:defRPr>
      </a:lvl1pPr>
      <a:lvl2pPr algn="l" rtl="0" eaLnBrk="0" fontAlgn="base" hangingPunct="0">
        <a:spcBef>
          <a:spcPct val="0"/>
        </a:spcBef>
        <a:spcAft>
          <a:spcPct val="0"/>
        </a:spcAft>
        <a:defRPr sz="4400" b="1">
          <a:solidFill>
            <a:schemeClr val="tx1"/>
          </a:solidFill>
          <a:latin typeface="Microsoft Sans Serif" charset="0"/>
          <a:ea typeface="ＭＳ Ｐゴシック" pitchFamily="-84" charset="-128"/>
          <a:cs typeface="ＭＳ Ｐゴシック" pitchFamily="-84" charset="-128"/>
        </a:defRPr>
      </a:lvl2pPr>
      <a:lvl3pPr algn="l" rtl="0" eaLnBrk="0" fontAlgn="base" hangingPunct="0">
        <a:spcBef>
          <a:spcPct val="0"/>
        </a:spcBef>
        <a:spcAft>
          <a:spcPct val="0"/>
        </a:spcAft>
        <a:defRPr sz="4400" b="1">
          <a:solidFill>
            <a:schemeClr val="tx1"/>
          </a:solidFill>
          <a:latin typeface="Microsoft Sans Serif" charset="0"/>
          <a:ea typeface="ＭＳ Ｐゴシック" pitchFamily="-84" charset="-128"/>
          <a:cs typeface="ＭＳ Ｐゴシック" pitchFamily="-84" charset="-128"/>
        </a:defRPr>
      </a:lvl3pPr>
      <a:lvl4pPr algn="l" rtl="0" eaLnBrk="0" fontAlgn="base" hangingPunct="0">
        <a:spcBef>
          <a:spcPct val="0"/>
        </a:spcBef>
        <a:spcAft>
          <a:spcPct val="0"/>
        </a:spcAft>
        <a:defRPr sz="4400" b="1">
          <a:solidFill>
            <a:schemeClr val="tx1"/>
          </a:solidFill>
          <a:latin typeface="Microsoft Sans Serif" charset="0"/>
          <a:ea typeface="ＭＳ Ｐゴシック" pitchFamily="-84" charset="-128"/>
          <a:cs typeface="ＭＳ Ｐゴシック" pitchFamily="-84" charset="-128"/>
        </a:defRPr>
      </a:lvl4pPr>
      <a:lvl5pPr algn="l" rtl="0" eaLnBrk="0" fontAlgn="base" hangingPunct="0">
        <a:spcBef>
          <a:spcPct val="0"/>
        </a:spcBef>
        <a:spcAft>
          <a:spcPct val="0"/>
        </a:spcAft>
        <a:defRPr sz="4400" b="1">
          <a:solidFill>
            <a:schemeClr val="tx1"/>
          </a:solidFill>
          <a:latin typeface="Microsoft Sans Serif" charset="0"/>
          <a:ea typeface="ＭＳ Ｐゴシック" pitchFamily="-84" charset="-128"/>
          <a:cs typeface="ＭＳ Ｐゴシック" pitchFamily="-84" charset="-128"/>
        </a:defRPr>
      </a:lvl5pPr>
      <a:lvl6pPr marL="457200" algn="l" rtl="0" fontAlgn="base">
        <a:spcBef>
          <a:spcPct val="0"/>
        </a:spcBef>
        <a:spcAft>
          <a:spcPct val="0"/>
        </a:spcAft>
        <a:defRPr sz="4400" b="1">
          <a:solidFill>
            <a:schemeClr val="tx1"/>
          </a:solidFill>
          <a:latin typeface="Microsoft Sans Serif" charset="0"/>
        </a:defRPr>
      </a:lvl6pPr>
      <a:lvl7pPr marL="914400" algn="l" rtl="0" fontAlgn="base">
        <a:spcBef>
          <a:spcPct val="0"/>
        </a:spcBef>
        <a:spcAft>
          <a:spcPct val="0"/>
        </a:spcAft>
        <a:defRPr sz="4400" b="1">
          <a:solidFill>
            <a:schemeClr val="tx1"/>
          </a:solidFill>
          <a:latin typeface="Microsoft Sans Serif" charset="0"/>
        </a:defRPr>
      </a:lvl7pPr>
      <a:lvl8pPr marL="1371600" algn="l" rtl="0" fontAlgn="base">
        <a:spcBef>
          <a:spcPct val="0"/>
        </a:spcBef>
        <a:spcAft>
          <a:spcPct val="0"/>
        </a:spcAft>
        <a:defRPr sz="4400" b="1">
          <a:solidFill>
            <a:schemeClr val="tx1"/>
          </a:solidFill>
          <a:latin typeface="Microsoft Sans Serif" charset="0"/>
        </a:defRPr>
      </a:lvl8pPr>
      <a:lvl9pPr marL="1828800" algn="l" rtl="0" fontAlgn="base">
        <a:spcBef>
          <a:spcPct val="0"/>
        </a:spcBef>
        <a:spcAft>
          <a:spcPct val="0"/>
        </a:spcAft>
        <a:defRPr sz="4400" b="1">
          <a:solidFill>
            <a:schemeClr val="tx1"/>
          </a:solidFill>
          <a:latin typeface="Microsoft Sans Serif" charset="0"/>
        </a:defRPr>
      </a:lvl9pPr>
    </p:titleStyle>
    <p:bodyStyle>
      <a:lvl1pPr marL="342900" indent="-342900" algn="l" rtl="0" eaLnBrk="0" fontAlgn="base" hangingPunct="0">
        <a:spcBef>
          <a:spcPct val="20000"/>
        </a:spcBef>
        <a:spcAft>
          <a:spcPct val="0"/>
        </a:spcAft>
        <a:buClr>
          <a:schemeClr val="folHlink"/>
        </a:buClr>
        <a:buSzPct val="60000"/>
        <a:buFont typeface="Wingdings" pitchFamily="-106" charset="2"/>
        <a:buChar char="n"/>
        <a:defRPr sz="3200">
          <a:solidFill>
            <a:schemeClr val="tx1"/>
          </a:solidFill>
          <a:latin typeface="+mn-lt"/>
          <a:ea typeface="ＭＳ Ｐゴシック" pitchFamily="-84" charset="-128"/>
          <a:cs typeface="ＭＳ Ｐゴシック" pitchFamily="-84" charset="-128"/>
        </a:defRPr>
      </a:lvl1pPr>
      <a:lvl2pPr marL="742950" indent="-285750" algn="l" rtl="0" eaLnBrk="0" fontAlgn="base" hangingPunct="0">
        <a:spcBef>
          <a:spcPct val="20000"/>
        </a:spcBef>
        <a:spcAft>
          <a:spcPct val="0"/>
        </a:spcAft>
        <a:buClr>
          <a:schemeClr val="hlink"/>
        </a:buClr>
        <a:buSzPct val="55000"/>
        <a:buFont typeface="Wingdings" pitchFamily="-106" charset="2"/>
        <a:buChar char="n"/>
        <a:defRPr sz="2800">
          <a:solidFill>
            <a:schemeClr val="tx1"/>
          </a:solidFill>
          <a:latin typeface="+mn-lt"/>
          <a:ea typeface="ＭＳ Ｐゴシック" charset="-128"/>
        </a:defRPr>
      </a:lvl2pPr>
      <a:lvl3pPr marL="1143000" indent="-228600" algn="l" rtl="0" eaLnBrk="0" fontAlgn="base" hangingPunct="0">
        <a:spcBef>
          <a:spcPct val="20000"/>
        </a:spcBef>
        <a:spcAft>
          <a:spcPct val="0"/>
        </a:spcAft>
        <a:buClr>
          <a:schemeClr val="folHlink"/>
        </a:buClr>
        <a:buSzPct val="50000"/>
        <a:buFont typeface="Wingdings" pitchFamily="-106" charset="2"/>
        <a:buChar char="n"/>
        <a:defRPr sz="2400">
          <a:solidFill>
            <a:schemeClr val="tx1"/>
          </a:solidFill>
          <a:latin typeface="+mn-lt"/>
          <a:ea typeface="ＭＳ Ｐゴシック" charset="-128"/>
        </a:defRPr>
      </a:lvl3pPr>
      <a:lvl4pPr marL="1600200" indent="-228600" algn="l" rtl="0" eaLnBrk="0" fontAlgn="base" hangingPunct="0">
        <a:spcBef>
          <a:spcPct val="20000"/>
        </a:spcBef>
        <a:spcAft>
          <a:spcPct val="0"/>
        </a:spcAft>
        <a:buClr>
          <a:schemeClr val="accent2"/>
        </a:buClr>
        <a:buSzPct val="55000"/>
        <a:buFont typeface="Wingdings" pitchFamily="-106" charset="2"/>
        <a:buChar char="n"/>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Clr>
          <a:schemeClr val="accent1"/>
        </a:buClr>
        <a:buSzPct val="50000"/>
        <a:buFont typeface="Wingdings" pitchFamily="-106" charset="2"/>
        <a:buChar char="n"/>
        <a:defRPr sz="2000">
          <a:solidFill>
            <a:schemeClr val="tx1"/>
          </a:solidFill>
          <a:latin typeface="+mn-lt"/>
          <a:ea typeface="ＭＳ Ｐゴシック" charset="-128"/>
        </a:defRPr>
      </a:lvl5pPr>
      <a:lvl6pPr marL="2514600" indent="-228600" algn="l" rtl="0" fontAlgn="base">
        <a:spcBef>
          <a:spcPct val="20000"/>
        </a:spcBef>
        <a:spcAft>
          <a:spcPct val="0"/>
        </a:spcAft>
        <a:buClr>
          <a:schemeClr val="accent1"/>
        </a:buClr>
        <a:buSzPct val="50000"/>
        <a:buFont typeface="Wingdings" charset="2"/>
        <a:buChar char="n"/>
        <a:defRPr sz="2000">
          <a:solidFill>
            <a:schemeClr val="tx1"/>
          </a:solidFill>
          <a:latin typeface="+mn-lt"/>
          <a:ea typeface="ＭＳ Ｐゴシック" charset="-128"/>
        </a:defRPr>
      </a:lvl6pPr>
      <a:lvl7pPr marL="2971800" indent="-228600" algn="l" rtl="0" fontAlgn="base">
        <a:spcBef>
          <a:spcPct val="20000"/>
        </a:spcBef>
        <a:spcAft>
          <a:spcPct val="0"/>
        </a:spcAft>
        <a:buClr>
          <a:schemeClr val="accent1"/>
        </a:buClr>
        <a:buSzPct val="50000"/>
        <a:buFont typeface="Wingdings" charset="2"/>
        <a:buChar char="n"/>
        <a:defRPr sz="2000">
          <a:solidFill>
            <a:schemeClr val="tx1"/>
          </a:solidFill>
          <a:latin typeface="+mn-lt"/>
          <a:ea typeface="ＭＳ Ｐゴシック" charset="-128"/>
        </a:defRPr>
      </a:lvl7pPr>
      <a:lvl8pPr marL="3429000" indent="-228600" algn="l" rtl="0" fontAlgn="base">
        <a:spcBef>
          <a:spcPct val="20000"/>
        </a:spcBef>
        <a:spcAft>
          <a:spcPct val="0"/>
        </a:spcAft>
        <a:buClr>
          <a:schemeClr val="accent1"/>
        </a:buClr>
        <a:buSzPct val="50000"/>
        <a:buFont typeface="Wingdings" charset="2"/>
        <a:buChar char="n"/>
        <a:defRPr sz="2000">
          <a:solidFill>
            <a:schemeClr val="tx1"/>
          </a:solidFill>
          <a:latin typeface="+mn-lt"/>
          <a:ea typeface="ＭＳ Ｐゴシック" charset="-128"/>
        </a:defRPr>
      </a:lvl8pPr>
      <a:lvl9pPr marL="3886200" indent="-228600" algn="l" rtl="0" fontAlgn="base">
        <a:spcBef>
          <a:spcPct val="20000"/>
        </a:spcBef>
        <a:spcAft>
          <a:spcPct val="0"/>
        </a:spcAft>
        <a:buClr>
          <a:schemeClr val="accent1"/>
        </a:buClr>
        <a:buSzPct val="50000"/>
        <a:buFont typeface="Wingdings" charset="2"/>
        <a:buChar char="n"/>
        <a:defRPr sz="2000">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347931B-A5C6-73B9-D74C-6A61E3350EF4}"/>
              </a:ext>
            </a:extLst>
          </p:cNvPr>
          <p:cNvSpPr>
            <a:spLocks noGrp="1"/>
          </p:cNvSpPr>
          <p:nvPr>
            <p:ph type="title"/>
          </p:nvPr>
        </p:nvSpPr>
        <p:spPr/>
        <p:txBody>
          <a:bodyPr/>
          <a:lstStyle/>
          <a:p>
            <a:r>
              <a:rPr lang="en-US" dirty="0"/>
              <a:t>Goals</a:t>
            </a:r>
          </a:p>
        </p:txBody>
      </p:sp>
      <p:sp>
        <p:nvSpPr>
          <p:cNvPr id="5" name="Content Placeholder 4">
            <a:extLst>
              <a:ext uri="{FF2B5EF4-FFF2-40B4-BE49-F238E27FC236}">
                <a16:creationId xmlns:a16="http://schemas.microsoft.com/office/drawing/2014/main" id="{2CFB5CAE-3551-7180-188E-58EB95CDE940}"/>
              </a:ext>
            </a:extLst>
          </p:cNvPr>
          <p:cNvSpPr>
            <a:spLocks noGrp="1"/>
          </p:cNvSpPr>
          <p:nvPr>
            <p:ph idx="1"/>
          </p:nvPr>
        </p:nvSpPr>
        <p:spPr/>
        <p:txBody>
          <a:bodyPr/>
          <a:lstStyle/>
          <a:p>
            <a:r>
              <a:rPr lang="en-US" sz="2000" dirty="0"/>
              <a:t>(Sub)system functional properties reasoning about port/state input and output behavior across multiple components</a:t>
            </a:r>
          </a:p>
          <a:p>
            <a:r>
              <a:rPr lang="en-US" sz="2000" dirty="0"/>
              <a:t>Same specification language used for verification used for system testing and run-time </a:t>
            </a:r>
            <a:r>
              <a:rPr lang="en-US" sz="2000" dirty="0" err="1"/>
              <a:t>montoring</a:t>
            </a:r>
            <a:endParaRPr lang="en-US" sz="2000" dirty="0"/>
          </a:p>
          <a:p>
            <a:r>
              <a:rPr lang="en-US" sz="2000" dirty="0"/>
              <a:t>Compatible with our current static scheduling approach, but extendable in the future to support sporadic (event-based) centric systems (must be able prove that execution results in certain causality chains or trace shapes)</a:t>
            </a:r>
          </a:p>
          <a:p>
            <a:r>
              <a:rPr lang="en-US" sz="2000" dirty="0"/>
              <a:t>Works by generating verification conditions (start with Slang-based VCs, then try Rust/Verus)</a:t>
            </a:r>
          </a:p>
          <a:p>
            <a:r>
              <a:rPr lang="en-US" sz="2000" dirty="0"/>
              <a:t>Supports hierarchical refinement (subsystem to enclosed components)</a:t>
            </a:r>
          </a:p>
          <a:p>
            <a:r>
              <a:rPr lang="en-US" sz="2000" dirty="0"/>
              <a:t>Supports notions of composition (e.g., combining independent subsystems)</a:t>
            </a:r>
          </a:p>
        </p:txBody>
      </p:sp>
      <p:sp>
        <p:nvSpPr>
          <p:cNvPr id="3" name="Slide Number Placeholder 2">
            <a:extLst>
              <a:ext uri="{FF2B5EF4-FFF2-40B4-BE49-F238E27FC236}">
                <a16:creationId xmlns:a16="http://schemas.microsoft.com/office/drawing/2014/main" id="{6BAA8264-CDEC-4CDA-1608-D8ACDC34ECEA}"/>
              </a:ext>
            </a:extLst>
          </p:cNvPr>
          <p:cNvSpPr>
            <a:spLocks noGrp="1"/>
          </p:cNvSpPr>
          <p:nvPr>
            <p:ph type="sldNum" sz="quarter" idx="11"/>
          </p:nvPr>
        </p:nvSpPr>
        <p:spPr/>
        <p:txBody>
          <a:bodyPr/>
          <a:lstStyle/>
          <a:p>
            <a:pPr>
              <a:defRPr/>
            </a:pPr>
            <a:fld id="{6E0AA622-F4CE-604D-A669-CD3D12FC535C}" type="slidenum">
              <a:rPr lang="en-US" smtClean="0"/>
              <a:pPr>
                <a:defRPr/>
              </a:pPr>
              <a:t>1</a:t>
            </a:fld>
            <a:endParaRPr lang="en-US"/>
          </a:p>
        </p:txBody>
      </p:sp>
    </p:spTree>
    <p:extLst>
      <p:ext uri="{BB962C8B-B14F-4D97-AF65-F5344CB8AC3E}">
        <p14:creationId xmlns:p14="http://schemas.microsoft.com/office/powerpoint/2010/main" val="7803594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7BAB6-A34D-0982-B460-C148022E9B4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881352E-7431-309F-DDD3-7EAF9B56490A}"/>
              </a:ext>
            </a:extLst>
          </p:cNvPr>
          <p:cNvSpPr>
            <a:spLocks noGrp="1"/>
          </p:cNvSpPr>
          <p:nvPr>
            <p:ph type="title"/>
          </p:nvPr>
        </p:nvSpPr>
        <p:spPr/>
        <p:txBody>
          <a:bodyPr/>
          <a:lstStyle/>
          <a:p>
            <a:r>
              <a:rPr lang="en-US" dirty="0"/>
              <a:t>Note</a:t>
            </a:r>
          </a:p>
        </p:txBody>
      </p:sp>
      <p:sp>
        <p:nvSpPr>
          <p:cNvPr id="5" name="Content Placeholder 4">
            <a:extLst>
              <a:ext uri="{FF2B5EF4-FFF2-40B4-BE49-F238E27FC236}">
                <a16:creationId xmlns:a16="http://schemas.microsoft.com/office/drawing/2014/main" id="{F7924EE9-9714-6C20-6883-0F0E02072D68}"/>
              </a:ext>
            </a:extLst>
          </p:cNvPr>
          <p:cNvSpPr>
            <a:spLocks noGrp="1"/>
          </p:cNvSpPr>
          <p:nvPr>
            <p:ph idx="1"/>
          </p:nvPr>
        </p:nvSpPr>
        <p:spPr/>
        <p:txBody>
          <a:bodyPr/>
          <a:lstStyle/>
          <a:p>
            <a:r>
              <a:rPr lang="en-US" sz="2000" dirty="0"/>
              <a:t>Will be “more manual” than AGREE</a:t>
            </a:r>
          </a:p>
          <a:p>
            <a:pPr lvl="1"/>
            <a:r>
              <a:rPr lang="en-US" sz="1600" dirty="0"/>
              <a:t>Requires developers to specify “system assertions” – properties that should hold at different points in the execution</a:t>
            </a:r>
          </a:p>
          <a:p>
            <a:pPr lvl="1"/>
            <a:r>
              <a:rPr lang="en-US" sz="1600" dirty="0"/>
              <a:t>System assertions will be placed by developers in an abstract execution flow graph representing possible execution orders of system components</a:t>
            </a:r>
          </a:p>
          <a:p>
            <a:pPr lvl="1"/>
            <a:r>
              <a:rPr lang="en-US" sz="1600" dirty="0"/>
              <a:t>We will need to make sure that the flow graph and assertion notation is developer friendly</a:t>
            </a:r>
          </a:p>
          <a:p>
            <a:r>
              <a:rPr lang="en-US" sz="2000" dirty="0"/>
              <a:t>Current development</a:t>
            </a:r>
          </a:p>
          <a:p>
            <a:pPr lvl="1"/>
            <a:r>
              <a:rPr lang="en-US" sz="1600" dirty="0"/>
              <a:t>Isabelle formalization (simplified setting)</a:t>
            </a:r>
          </a:p>
          <a:p>
            <a:pPr lvl="1"/>
            <a:r>
              <a:rPr lang="en-US" sz="1600" dirty="0"/>
              <a:t>Prototyping of VC generation in Slang/Logika</a:t>
            </a:r>
          </a:p>
          <a:p>
            <a:pPr lvl="1"/>
            <a:r>
              <a:rPr lang="en-US" sz="1600" dirty="0"/>
              <a:t>We know enough to start developing full version that can work on toy examples, and I am confident that we can support systems like the open platform in 4-6 months</a:t>
            </a:r>
          </a:p>
        </p:txBody>
      </p:sp>
      <p:sp>
        <p:nvSpPr>
          <p:cNvPr id="3" name="Slide Number Placeholder 2">
            <a:extLst>
              <a:ext uri="{FF2B5EF4-FFF2-40B4-BE49-F238E27FC236}">
                <a16:creationId xmlns:a16="http://schemas.microsoft.com/office/drawing/2014/main" id="{79195CD9-34AC-A2C6-2F75-2545C8A5ECBB}"/>
              </a:ext>
            </a:extLst>
          </p:cNvPr>
          <p:cNvSpPr>
            <a:spLocks noGrp="1"/>
          </p:cNvSpPr>
          <p:nvPr>
            <p:ph type="sldNum" sz="quarter" idx="11"/>
          </p:nvPr>
        </p:nvSpPr>
        <p:spPr/>
        <p:txBody>
          <a:bodyPr/>
          <a:lstStyle/>
          <a:p>
            <a:pPr>
              <a:defRPr/>
            </a:pPr>
            <a:fld id="{6E0AA622-F4CE-604D-A669-CD3D12FC535C}" type="slidenum">
              <a:rPr lang="en-US" smtClean="0"/>
              <a:pPr>
                <a:defRPr/>
              </a:pPr>
              <a:t>2</a:t>
            </a:fld>
            <a:endParaRPr lang="en-US"/>
          </a:p>
        </p:txBody>
      </p:sp>
    </p:spTree>
    <p:extLst>
      <p:ext uri="{BB962C8B-B14F-4D97-AF65-F5344CB8AC3E}">
        <p14:creationId xmlns:p14="http://schemas.microsoft.com/office/powerpoint/2010/main" val="3689016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2C69D-D356-0392-9C5A-ED96B59A9E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259B67-EA47-2397-F001-CC371D824B49}"/>
              </a:ext>
            </a:extLst>
          </p:cNvPr>
          <p:cNvSpPr>
            <a:spLocks noGrp="1"/>
          </p:cNvSpPr>
          <p:nvPr>
            <p:ph type="title"/>
          </p:nvPr>
        </p:nvSpPr>
        <p:spPr/>
        <p:txBody>
          <a:bodyPr/>
          <a:lstStyle/>
          <a:p>
            <a:r>
              <a:rPr lang="en-US" sz="4000" dirty="0"/>
              <a:t>Static Schedule (Intuition)</a:t>
            </a:r>
          </a:p>
        </p:txBody>
      </p:sp>
      <p:sp>
        <p:nvSpPr>
          <p:cNvPr id="5" name="Text Box 4">
            <a:extLst>
              <a:ext uri="{FF2B5EF4-FFF2-40B4-BE49-F238E27FC236}">
                <a16:creationId xmlns:a16="http://schemas.microsoft.com/office/drawing/2014/main" id="{2D3634FA-8A27-7784-644B-65C5CA7C1FD4}"/>
              </a:ext>
            </a:extLst>
          </p:cNvPr>
          <p:cNvSpPr txBox="1">
            <a:spLocks noChangeArrowheads="1"/>
          </p:cNvSpPr>
          <p:nvPr/>
        </p:nvSpPr>
        <p:spPr bwMode="auto">
          <a:xfrm>
            <a:off x="571500" y="1224428"/>
            <a:ext cx="8198641" cy="338554"/>
          </a:xfrm>
          <a:prstGeom prst="rect">
            <a:avLst/>
          </a:prstGeom>
          <a:gradFill rotWithShape="0">
            <a:gsLst>
              <a:gs pos="0">
                <a:schemeClr val="accent2"/>
              </a:gs>
              <a:gs pos="100000">
                <a:schemeClr val="bg1"/>
              </a:gs>
            </a:gsLst>
            <a:lin ang="0" scaled="1"/>
          </a:gradFill>
          <a:ln w="9525">
            <a:noFill/>
            <a:miter lim="800000"/>
            <a:headEnd/>
            <a:tailEnd/>
          </a:ln>
          <a:effectLst/>
        </p:spPr>
        <p:txBody>
          <a:bodyPr wrap="square">
            <a:prstTxWarp prst="textNoShape">
              <a:avLst/>
            </a:prstTxWarp>
            <a:spAutoFit/>
          </a:bodyPr>
          <a:lstStyle/>
          <a:p>
            <a:pPr algn="l"/>
            <a:r>
              <a:rPr lang="en-US" sz="1600" dirty="0"/>
              <a:t>Intuitive representation of static cyclic schedule (from HAMR System Testing paper)</a:t>
            </a:r>
          </a:p>
        </p:txBody>
      </p:sp>
      <p:sp>
        <p:nvSpPr>
          <p:cNvPr id="17" name="Slide Number Placeholder 16">
            <a:extLst>
              <a:ext uri="{FF2B5EF4-FFF2-40B4-BE49-F238E27FC236}">
                <a16:creationId xmlns:a16="http://schemas.microsoft.com/office/drawing/2014/main" id="{6977522F-F5C9-A4A3-7F96-78E0D12E6CC5}"/>
              </a:ext>
            </a:extLst>
          </p:cNvPr>
          <p:cNvSpPr>
            <a:spLocks noGrp="1"/>
          </p:cNvSpPr>
          <p:nvPr>
            <p:ph type="sldNum" sz="quarter" idx="11"/>
          </p:nvPr>
        </p:nvSpPr>
        <p:spPr/>
        <p:txBody>
          <a:bodyPr/>
          <a:lstStyle/>
          <a:p>
            <a:pPr>
              <a:defRPr/>
            </a:pPr>
            <a:fld id="{6E0AA622-F4CE-604D-A669-CD3D12FC535C}" type="slidenum">
              <a:rPr lang="en-US" smtClean="0"/>
              <a:pPr>
                <a:defRPr/>
              </a:pPr>
              <a:t>3</a:t>
            </a:fld>
            <a:endParaRPr lang="en-US"/>
          </a:p>
        </p:txBody>
      </p:sp>
      <p:pic>
        <p:nvPicPr>
          <p:cNvPr id="3" name="Picture 2" descr="A diagram of a computer program&#10;&#10;Description automatically generated">
            <a:extLst>
              <a:ext uri="{FF2B5EF4-FFF2-40B4-BE49-F238E27FC236}">
                <a16:creationId xmlns:a16="http://schemas.microsoft.com/office/drawing/2014/main" id="{BC6B1CAC-59E6-AEDD-157B-1C8C5F7C57CA}"/>
              </a:ext>
            </a:extLst>
          </p:cNvPr>
          <p:cNvPicPr>
            <a:picLocks noChangeAspect="1"/>
          </p:cNvPicPr>
          <p:nvPr/>
        </p:nvPicPr>
        <p:blipFill>
          <a:blip r:embed="rId2"/>
          <a:stretch>
            <a:fillRect/>
          </a:stretch>
        </p:blipFill>
        <p:spPr>
          <a:xfrm>
            <a:off x="2204485" y="3029144"/>
            <a:ext cx="4490729" cy="2299284"/>
          </a:xfrm>
          <a:prstGeom prst="rect">
            <a:avLst/>
          </a:prstGeom>
        </p:spPr>
      </p:pic>
      <p:sp>
        <p:nvSpPr>
          <p:cNvPr id="14" name="Parallelogram 13">
            <a:extLst>
              <a:ext uri="{FF2B5EF4-FFF2-40B4-BE49-F238E27FC236}">
                <a16:creationId xmlns:a16="http://schemas.microsoft.com/office/drawing/2014/main" id="{87D76AF9-DBF7-54CC-40A8-B67D92949F25}"/>
              </a:ext>
            </a:extLst>
          </p:cNvPr>
          <p:cNvSpPr/>
          <p:nvPr/>
        </p:nvSpPr>
        <p:spPr>
          <a:xfrm>
            <a:off x="685800" y="2731416"/>
            <a:ext cx="1238269" cy="840839"/>
          </a:xfrm>
          <a:prstGeom prst="parallelogram">
            <a:avLst>
              <a:gd name="adj" fmla="val 16558"/>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639A5CB-C6D9-6612-800D-3BF12B8B3829}"/>
              </a:ext>
            </a:extLst>
          </p:cNvPr>
          <p:cNvSpPr txBox="1"/>
          <p:nvPr/>
        </p:nvSpPr>
        <p:spPr>
          <a:xfrm>
            <a:off x="807720" y="2838886"/>
            <a:ext cx="1116349" cy="584775"/>
          </a:xfrm>
          <a:prstGeom prst="rect">
            <a:avLst/>
          </a:prstGeom>
          <a:noFill/>
        </p:spPr>
        <p:txBody>
          <a:bodyPr wrap="square" rtlCol="0">
            <a:spAutoFit/>
          </a:bodyPr>
          <a:lstStyle/>
          <a:p>
            <a:r>
              <a:rPr lang="en-US" sz="1600" dirty="0"/>
              <a:t>Operator Interface</a:t>
            </a:r>
          </a:p>
        </p:txBody>
      </p:sp>
      <p:sp>
        <p:nvSpPr>
          <p:cNvPr id="16" name="Parallelogram 15">
            <a:extLst>
              <a:ext uri="{FF2B5EF4-FFF2-40B4-BE49-F238E27FC236}">
                <a16:creationId xmlns:a16="http://schemas.microsoft.com/office/drawing/2014/main" id="{78016C31-A7E6-BC99-7997-F5B13B3E7B86}"/>
              </a:ext>
            </a:extLst>
          </p:cNvPr>
          <p:cNvSpPr/>
          <p:nvPr/>
        </p:nvSpPr>
        <p:spPr>
          <a:xfrm>
            <a:off x="685800" y="4774444"/>
            <a:ext cx="1238269" cy="840839"/>
          </a:xfrm>
          <a:prstGeom prst="parallelogram">
            <a:avLst>
              <a:gd name="adj" fmla="val 16558"/>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8B65AA95-14F1-2A8D-62D0-86BBCF8E396A}"/>
              </a:ext>
            </a:extLst>
          </p:cNvPr>
          <p:cNvSpPr txBox="1"/>
          <p:nvPr/>
        </p:nvSpPr>
        <p:spPr>
          <a:xfrm>
            <a:off x="807720" y="4881914"/>
            <a:ext cx="1116349" cy="584775"/>
          </a:xfrm>
          <a:prstGeom prst="rect">
            <a:avLst/>
          </a:prstGeom>
          <a:noFill/>
        </p:spPr>
        <p:txBody>
          <a:bodyPr wrap="square" rtlCol="0">
            <a:spAutoFit/>
          </a:bodyPr>
          <a:lstStyle/>
          <a:p>
            <a:r>
              <a:rPr lang="en-US" sz="1600" dirty="0"/>
              <a:t>Temp</a:t>
            </a:r>
          </a:p>
          <a:p>
            <a:r>
              <a:rPr lang="en-US" sz="1600" dirty="0"/>
              <a:t>Sensor</a:t>
            </a:r>
          </a:p>
        </p:txBody>
      </p:sp>
      <p:sp>
        <p:nvSpPr>
          <p:cNvPr id="19" name="Parallelogram 18">
            <a:extLst>
              <a:ext uri="{FF2B5EF4-FFF2-40B4-BE49-F238E27FC236}">
                <a16:creationId xmlns:a16="http://schemas.microsoft.com/office/drawing/2014/main" id="{0783331A-4EDB-FE9C-6761-17B777668530}"/>
              </a:ext>
            </a:extLst>
          </p:cNvPr>
          <p:cNvSpPr/>
          <p:nvPr/>
        </p:nvSpPr>
        <p:spPr>
          <a:xfrm>
            <a:off x="6975630" y="3307417"/>
            <a:ext cx="1360650" cy="840839"/>
          </a:xfrm>
          <a:prstGeom prst="parallelogram">
            <a:avLst>
              <a:gd name="adj" fmla="val 16558"/>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1D7672AF-83D3-794A-14C4-ADA3ADAE6E1C}"/>
              </a:ext>
            </a:extLst>
          </p:cNvPr>
          <p:cNvSpPr txBox="1"/>
          <p:nvPr/>
        </p:nvSpPr>
        <p:spPr>
          <a:xfrm>
            <a:off x="7097550" y="3414887"/>
            <a:ext cx="1116349" cy="584775"/>
          </a:xfrm>
          <a:prstGeom prst="rect">
            <a:avLst/>
          </a:prstGeom>
          <a:noFill/>
        </p:spPr>
        <p:txBody>
          <a:bodyPr wrap="square" rtlCol="0">
            <a:spAutoFit/>
          </a:bodyPr>
          <a:lstStyle/>
          <a:p>
            <a:r>
              <a:rPr lang="en-US" sz="1600" dirty="0"/>
              <a:t>Heat </a:t>
            </a:r>
          </a:p>
          <a:p>
            <a:r>
              <a:rPr lang="en-US" sz="1600" dirty="0"/>
              <a:t>Controller</a:t>
            </a:r>
          </a:p>
        </p:txBody>
      </p:sp>
      <p:sp>
        <p:nvSpPr>
          <p:cNvPr id="21" name="Left-Right Arrow 20">
            <a:extLst>
              <a:ext uri="{FF2B5EF4-FFF2-40B4-BE49-F238E27FC236}">
                <a16:creationId xmlns:a16="http://schemas.microsoft.com/office/drawing/2014/main" id="{EB48AC7B-F252-74CA-E1FE-4E9340B4E9F2}"/>
              </a:ext>
            </a:extLst>
          </p:cNvPr>
          <p:cNvSpPr/>
          <p:nvPr/>
        </p:nvSpPr>
        <p:spPr bwMode="auto">
          <a:xfrm>
            <a:off x="1674363" y="3195431"/>
            <a:ext cx="621793" cy="438912"/>
          </a:xfrm>
          <a:prstGeom prst="leftRightArrow">
            <a:avLst/>
          </a:prstGeom>
          <a:solidFill>
            <a:schemeClr val="accent3">
              <a:lumMod val="75000"/>
            </a:schemeClr>
          </a:solidFill>
          <a:ln w="9525" cap="flat" cmpd="sng" algn="ctr">
            <a:solidFill>
              <a:schemeClr val="accent3">
                <a:lumMod val="85000"/>
              </a:schemeClr>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23" name="Up Arrow 22">
            <a:extLst>
              <a:ext uri="{FF2B5EF4-FFF2-40B4-BE49-F238E27FC236}">
                <a16:creationId xmlns:a16="http://schemas.microsoft.com/office/drawing/2014/main" id="{7F867D6C-39AD-F119-0F27-0B05ABC3F6A9}"/>
              </a:ext>
            </a:extLst>
          </p:cNvPr>
          <p:cNvSpPr/>
          <p:nvPr/>
        </p:nvSpPr>
        <p:spPr bwMode="auto">
          <a:xfrm rot="5400000">
            <a:off x="1759477" y="4758629"/>
            <a:ext cx="609600" cy="558982"/>
          </a:xfrm>
          <a:prstGeom prst="upArrow">
            <a:avLst/>
          </a:prstGeom>
          <a:solidFill>
            <a:schemeClr val="accent3">
              <a:lumMod val="75000"/>
            </a:schemeClr>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24" name="Up Arrow 23">
            <a:extLst>
              <a:ext uri="{FF2B5EF4-FFF2-40B4-BE49-F238E27FC236}">
                <a16:creationId xmlns:a16="http://schemas.microsoft.com/office/drawing/2014/main" id="{E907DA27-A042-7CCF-06B1-BD53A4CF9CD9}"/>
              </a:ext>
            </a:extLst>
          </p:cNvPr>
          <p:cNvSpPr/>
          <p:nvPr/>
        </p:nvSpPr>
        <p:spPr bwMode="auto">
          <a:xfrm rot="5400000">
            <a:off x="6512334" y="3448345"/>
            <a:ext cx="609600" cy="558982"/>
          </a:xfrm>
          <a:prstGeom prst="upArrow">
            <a:avLst/>
          </a:prstGeom>
          <a:solidFill>
            <a:schemeClr val="accent3">
              <a:lumMod val="75000"/>
            </a:schemeClr>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29" name="Oval 28">
            <a:extLst>
              <a:ext uri="{FF2B5EF4-FFF2-40B4-BE49-F238E27FC236}">
                <a16:creationId xmlns:a16="http://schemas.microsoft.com/office/drawing/2014/main" id="{83BBDC5A-B411-38FF-5AD1-93F6614CBEDA}"/>
              </a:ext>
            </a:extLst>
          </p:cNvPr>
          <p:cNvSpPr/>
          <p:nvPr/>
        </p:nvSpPr>
        <p:spPr bwMode="auto">
          <a:xfrm>
            <a:off x="8022336" y="2979781"/>
            <a:ext cx="664464" cy="573024"/>
          </a:xfrm>
          <a:prstGeom prst="ellipse">
            <a:avLst/>
          </a:prstGeom>
          <a:solidFill>
            <a:schemeClr val="accent5"/>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ahoma" charset="0"/>
              </a:rPr>
              <a:t>10</a:t>
            </a:r>
          </a:p>
        </p:txBody>
      </p:sp>
      <p:grpSp>
        <p:nvGrpSpPr>
          <p:cNvPr id="44" name="Group 43">
            <a:extLst>
              <a:ext uri="{FF2B5EF4-FFF2-40B4-BE49-F238E27FC236}">
                <a16:creationId xmlns:a16="http://schemas.microsoft.com/office/drawing/2014/main" id="{D2C19197-C7B0-D263-CDB2-F14C48255B99}"/>
              </a:ext>
            </a:extLst>
          </p:cNvPr>
          <p:cNvGrpSpPr/>
          <p:nvPr/>
        </p:nvGrpSpPr>
        <p:grpSpPr>
          <a:xfrm>
            <a:off x="685800" y="1974011"/>
            <a:ext cx="1114434" cy="2938351"/>
            <a:chOff x="685800" y="1974011"/>
            <a:chExt cx="1114434" cy="2938351"/>
          </a:xfrm>
        </p:grpSpPr>
        <p:grpSp>
          <p:nvGrpSpPr>
            <p:cNvPr id="36" name="Group 35">
              <a:extLst>
                <a:ext uri="{FF2B5EF4-FFF2-40B4-BE49-F238E27FC236}">
                  <a16:creationId xmlns:a16="http://schemas.microsoft.com/office/drawing/2014/main" id="{A28A1CAF-F2A8-7A46-B575-C7958CAD02B5}"/>
                </a:ext>
              </a:extLst>
            </p:cNvPr>
            <p:cNvGrpSpPr/>
            <p:nvPr/>
          </p:nvGrpSpPr>
          <p:grpSpPr>
            <a:xfrm>
              <a:off x="685800" y="2296310"/>
              <a:ext cx="499872" cy="2616052"/>
              <a:chOff x="685800" y="2296310"/>
              <a:chExt cx="499872" cy="2616052"/>
            </a:xfrm>
            <a:solidFill>
              <a:schemeClr val="accent5"/>
            </a:solidFill>
          </p:grpSpPr>
          <p:sp>
            <p:nvSpPr>
              <p:cNvPr id="25" name="Oval 24">
                <a:extLst>
                  <a:ext uri="{FF2B5EF4-FFF2-40B4-BE49-F238E27FC236}">
                    <a16:creationId xmlns:a16="http://schemas.microsoft.com/office/drawing/2014/main" id="{2DE28E3B-3C36-FA0B-0C69-E5D786BE6A95}"/>
                  </a:ext>
                </a:extLst>
              </p:cNvPr>
              <p:cNvSpPr/>
              <p:nvPr/>
            </p:nvSpPr>
            <p:spPr bwMode="auto">
              <a:xfrm>
                <a:off x="758952" y="2296310"/>
                <a:ext cx="426720" cy="573024"/>
              </a:xfrm>
              <a:prstGeom prst="ellipse">
                <a:avLst/>
              </a:prstGeom>
              <a:grp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ahoma" charset="0"/>
                  </a:rPr>
                  <a:t>0</a:t>
                </a:r>
              </a:p>
            </p:txBody>
          </p:sp>
          <p:sp>
            <p:nvSpPr>
              <p:cNvPr id="26" name="Oval 25">
                <a:extLst>
                  <a:ext uri="{FF2B5EF4-FFF2-40B4-BE49-F238E27FC236}">
                    <a16:creationId xmlns:a16="http://schemas.microsoft.com/office/drawing/2014/main" id="{909E6EF4-BDA6-F6CD-7B40-786D25E53CD5}"/>
                  </a:ext>
                </a:extLst>
              </p:cNvPr>
              <p:cNvSpPr/>
              <p:nvPr/>
            </p:nvSpPr>
            <p:spPr bwMode="auto">
              <a:xfrm>
                <a:off x="685800" y="4339338"/>
                <a:ext cx="426720" cy="573024"/>
              </a:xfrm>
              <a:prstGeom prst="ellipse">
                <a:avLst/>
              </a:prstGeom>
              <a:grp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ahoma" charset="0"/>
                  </a:rPr>
                  <a:t>1</a:t>
                </a:r>
              </a:p>
            </p:txBody>
          </p:sp>
        </p:grpSp>
        <p:sp>
          <p:nvSpPr>
            <p:cNvPr id="39" name="Text Box 12">
              <a:extLst>
                <a:ext uri="{FF2B5EF4-FFF2-40B4-BE49-F238E27FC236}">
                  <a16:creationId xmlns:a16="http://schemas.microsoft.com/office/drawing/2014/main" id="{12FCA231-16E0-1E2C-805C-417684060490}"/>
                </a:ext>
              </a:extLst>
            </p:cNvPr>
            <p:cNvSpPr txBox="1">
              <a:spLocks noChangeArrowheads="1"/>
            </p:cNvSpPr>
            <p:nvPr/>
          </p:nvSpPr>
          <p:spPr bwMode="auto">
            <a:xfrm>
              <a:off x="809634" y="1974011"/>
              <a:ext cx="990600" cy="461665"/>
            </a:xfrm>
            <a:prstGeom prst="rect">
              <a:avLst/>
            </a:prstGeom>
            <a:solidFill>
              <a:schemeClr val="accent2"/>
            </a:solidFill>
            <a:ln w="12700">
              <a:solidFill>
                <a:schemeClr val="tx1"/>
              </a:solidFill>
              <a:miter lim="800000"/>
              <a:headEnd/>
              <a:tailEnd/>
            </a:ln>
            <a:effectLst>
              <a:outerShdw blurRad="63500" dist="35921" dir="2700000" algn="ctr" rotWithShape="0">
                <a:schemeClr val="bg2"/>
              </a:outerShdw>
            </a:effectLst>
          </p:spPr>
          <p:txBody>
            <a:bodyPr wrap="square" anchor="ctr">
              <a:prstTxWarp prst="textNoShape">
                <a:avLst/>
              </a:prstTxWarp>
              <a:spAutoFit/>
            </a:bodyPr>
            <a:lstStyle/>
            <a:p>
              <a:pPr algn="l"/>
              <a:r>
                <a:rPr lang="en-US" sz="1200" i="1" dirty="0" err="1"/>
                <a:t>Subsytem</a:t>
              </a:r>
              <a:r>
                <a:rPr lang="en-US" sz="1200" i="1" dirty="0"/>
                <a:t> Inputs</a:t>
              </a:r>
            </a:p>
          </p:txBody>
        </p:sp>
      </p:grpSp>
      <p:grpSp>
        <p:nvGrpSpPr>
          <p:cNvPr id="50" name="Group 49">
            <a:extLst>
              <a:ext uri="{FF2B5EF4-FFF2-40B4-BE49-F238E27FC236}">
                <a16:creationId xmlns:a16="http://schemas.microsoft.com/office/drawing/2014/main" id="{83F9BA9F-B0BF-F033-5E17-C0246F678AE4}"/>
              </a:ext>
            </a:extLst>
          </p:cNvPr>
          <p:cNvGrpSpPr/>
          <p:nvPr/>
        </p:nvGrpSpPr>
        <p:grpSpPr>
          <a:xfrm>
            <a:off x="2596335" y="4176456"/>
            <a:ext cx="3173529" cy="1290233"/>
            <a:chOff x="2596335" y="4176456"/>
            <a:chExt cx="3173529" cy="1290233"/>
          </a:xfrm>
        </p:grpSpPr>
        <p:grpSp>
          <p:nvGrpSpPr>
            <p:cNvPr id="38" name="Group 37">
              <a:extLst>
                <a:ext uri="{FF2B5EF4-FFF2-40B4-BE49-F238E27FC236}">
                  <a16:creationId xmlns:a16="http://schemas.microsoft.com/office/drawing/2014/main" id="{35148261-7EF8-DE67-01C3-8A1B0AE8C205}"/>
                </a:ext>
              </a:extLst>
            </p:cNvPr>
            <p:cNvGrpSpPr/>
            <p:nvPr/>
          </p:nvGrpSpPr>
          <p:grpSpPr>
            <a:xfrm>
              <a:off x="2596335" y="4176456"/>
              <a:ext cx="3173529" cy="837280"/>
              <a:chOff x="2596335" y="4176456"/>
              <a:chExt cx="3173529" cy="837280"/>
            </a:xfrm>
            <a:solidFill>
              <a:schemeClr val="accent5"/>
            </a:solidFill>
          </p:grpSpPr>
          <p:sp>
            <p:nvSpPr>
              <p:cNvPr id="31" name="Oval 30">
                <a:extLst>
                  <a:ext uri="{FF2B5EF4-FFF2-40B4-BE49-F238E27FC236}">
                    <a16:creationId xmlns:a16="http://schemas.microsoft.com/office/drawing/2014/main" id="{5646AA8C-AE4C-411A-3EFD-3335F9F516EC}"/>
                  </a:ext>
                </a:extLst>
              </p:cNvPr>
              <p:cNvSpPr/>
              <p:nvPr/>
            </p:nvSpPr>
            <p:spPr bwMode="auto">
              <a:xfrm>
                <a:off x="2596335" y="4600076"/>
                <a:ext cx="368808" cy="413660"/>
              </a:xfrm>
              <a:prstGeom prst="ellipse">
                <a:avLst/>
              </a:prstGeom>
              <a:grp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Tahoma" charset="0"/>
                  </a:rPr>
                  <a:t>7</a:t>
                </a:r>
              </a:p>
            </p:txBody>
          </p:sp>
          <p:sp>
            <p:nvSpPr>
              <p:cNvPr id="32" name="Oval 31">
                <a:extLst>
                  <a:ext uri="{FF2B5EF4-FFF2-40B4-BE49-F238E27FC236}">
                    <a16:creationId xmlns:a16="http://schemas.microsoft.com/office/drawing/2014/main" id="{ABDE474A-55E6-58B4-DAB3-036B5D898828}"/>
                  </a:ext>
                </a:extLst>
              </p:cNvPr>
              <p:cNvSpPr/>
              <p:nvPr/>
            </p:nvSpPr>
            <p:spPr bwMode="auto">
              <a:xfrm>
                <a:off x="4017264" y="4176456"/>
                <a:ext cx="368808" cy="413660"/>
              </a:xfrm>
              <a:prstGeom prst="ellipse">
                <a:avLst/>
              </a:prstGeom>
              <a:grp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sz="1600" dirty="0">
                    <a:latin typeface="Tahoma" charset="0"/>
                  </a:rPr>
                  <a:t>8</a:t>
                </a:r>
                <a:endParaRPr kumimoji="0" lang="en-US" sz="1600" b="0" i="0" u="none" strike="noStrike" cap="none" normalizeH="0" baseline="0" dirty="0">
                  <a:ln>
                    <a:noFill/>
                  </a:ln>
                  <a:solidFill>
                    <a:schemeClr val="tx1"/>
                  </a:solidFill>
                  <a:effectLst/>
                  <a:latin typeface="Tahoma" charset="0"/>
                </a:endParaRPr>
              </a:p>
            </p:txBody>
          </p:sp>
          <p:sp>
            <p:nvSpPr>
              <p:cNvPr id="35" name="Oval 34">
                <a:extLst>
                  <a:ext uri="{FF2B5EF4-FFF2-40B4-BE49-F238E27FC236}">
                    <a16:creationId xmlns:a16="http://schemas.microsoft.com/office/drawing/2014/main" id="{EF99DDF1-6294-9A86-13E5-8E00A7216E4A}"/>
                  </a:ext>
                </a:extLst>
              </p:cNvPr>
              <p:cNvSpPr/>
              <p:nvPr/>
            </p:nvSpPr>
            <p:spPr bwMode="auto">
              <a:xfrm>
                <a:off x="5401056" y="4402008"/>
                <a:ext cx="368808" cy="413660"/>
              </a:xfrm>
              <a:prstGeom prst="ellipse">
                <a:avLst/>
              </a:prstGeom>
              <a:grp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sz="1600" dirty="0">
                    <a:latin typeface="Tahoma" charset="0"/>
                  </a:rPr>
                  <a:t>9</a:t>
                </a:r>
                <a:endParaRPr kumimoji="0" lang="en-US" sz="1600" b="0" i="0" u="none" strike="noStrike" cap="none" normalizeH="0" baseline="0" dirty="0">
                  <a:ln>
                    <a:noFill/>
                  </a:ln>
                  <a:solidFill>
                    <a:schemeClr val="tx1"/>
                  </a:solidFill>
                  <a:effectLst/>
                  <a:latin typeface="Tahoma" charset="0"/>
                </a:endParaRPr>
              </a:p>
            </p:txBody>
          </p:sp>
        </p:grpSp>
        <p:sp>
          <p:nvSpPr>
            <p:cNvPr id="27" name="Oval 26">
              <a:extLst>
                <a:ext uri="{FF2B5EF4-FFF2-40B4-BE49-F238E27FC236}">
                  <a16:creationId xmlns:a16="http://schemas.microsoft.com/office/drawing/2014/main" id="{CD17D3B8-1C94-6027-7630-BB276D0F0D6B}"/>
                </a:ext>
              </a:extLst>
            </p:cNvPr>
            <p:cNvSpPr/>
            <p:nvPr/>
          </p:nvSpPr>
          <p:spPr bwMode="auto">
            <a:xfrm>
              <a:off x="3368040" y="5053029"/>
              <a:ext cx="368808" cy="413660"/>
            </a:xfrm>
            <a:prstGeom prst="ellipse">
              <a:avLst/>
            </a:prstGeom>
            <a:solidFill>
              <a:schemeClr val="accent5"/>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sz="1600" dirty="0">
                  <a:latin typeface="Tahoma" charset="0"/>
                </a:rPr>
                <a:t>6</a:t>
              </a:r>
              <a:endParaRPr kumimoji="0" lang="en-US" sz="1600" b="0" i="0" u="none" strike="noStrike" cap="none" normalizeH="0" baseline="0" dirty="0">
                <a:ln>
                  <a:noFill/>
                </a:ln>
                <a:solidFill>
                  <a:schemeClr val="tx1"/>
                </a:solidFill>
                <a:effectLst/>
                <a:latin typeface="Tahoma" charset="0"/>
              </a:endParaRPr>
            </a:p>
          </p:txBody>
        </p:sp>
      </p:grpSp>
      <p:grpSp>
        <p:nvGrpSpPr>
          <p:cNvPr id="49" name="Group 48">
            <a:extLst>
              <a:ext uri="{FF2B5EF4-FFF2-40B4-BE49-F238E27FC236}">
                <a16:creationId xmlns:a16="http://schemas.microsoft.com/office/drawing/2014/main" id="{ACF77E9B-448B-13E9-9AC1-9449B6B16ACF}"/>
              </a:ext>
            </a:extLst>
          </p:cNvPr>
          <p:cNvGrpSpPr/>
          <p:nvPr/>
        </p:nvGrpSpPr>
        <p:grpSpPr>
          <a:xfrm>
            <a:off x="3368040" y="3634343"/>
            <a:ext cx="1605413" cy="712105"/>
            <a:chOff x="3368040" y="3634343"/>
            <a:chExt cx="1605413" cy="712105"/>
          </a:xfrm>
        </p:grpSpPr>
        <p:sp>
          <p:nvSpPr>
            <p:cNvPr id="28" name="Oval 27">
              <a:extLst>
                <a:ext uri="{FF2B5EF4-FFF2-40B4-BE49-F238E27FC236}">
                  <a16:creationId xmlns:a16="http://schemas.microsoft.com/office/drawing/2014/main" id="{1F0A4857-89B4-0F14-01E0-D9E0465F6669}"/>
                </a:ext>
              </a:extLst>
            </p:cNvPr>
            <p:cNvSpPr/>
            <p:nvPr/>
          </p:nvSpPr>
          <p:spPr bwMode="auto">
            <a:xfrm>
              <a:off x="3368040" y="3932788"/>
              <a:ext cx="368808" cy="413660"/>
            </a:xfrm>
            <a:prstGeom prst="ellipse">
              <a:avLst/>
            </a:prstGeom>
            <a:solidFill>
              <a:schemeClr val="accent5"/>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Tahoma" charset="0"/>
                </a:rPr>
                <a:t>2</a:t>
              </a:r>
            </a:p>
          </p:txBody>
        </p:sp>
        <p:sp>
          <p:nvSpPr>
            <p:cNvPr id="40" name="Text Box 12">
              <a:extLst>
                <a:ext uri="{FF2B5EF4-FFF2-40B4-BE49-F238E27FC236}">
                  <a16:creationId xmlns:a16="http://schemas.microsoft.com/office/drawing/2014/main" id="{03915E66-4A75-15D4-FD7E-21F417149B5A}"/>
                </a:ext>
              </a:extLst>
            </p:cNvPr>
            <p:cNvSpPr txBox="1">
              <a:spLocks noChangeArrowheads="1"/>
            </p:cNvSpPr>
            <p:nvPr/>
          </p:nvSpPr>
          <p:spPr bwMode="auto">
            <a:xfrm>
              <a:off x="3666604" y="3634343"/>
              <a:ext cx="1306849" cy="461665"/>
            </a:xfrm>
            <a:prstGeom prst="rect">
              <a:avLst/>
            </a:prstGeom>
            <a:solidFill>
              <a:schemeClr val="accent2"/>
            </a:solidFill>
            <a:ln w="12700">
              <a:solidFill>
                <a:schemeClr val="tx1"/>
              </a:solidFill>
              <a:miter lim="800000"/>
              <a:headEnd/>
              <a:tailEnd/>
            </a:ln>
            <a:effectLst>
              <a:outerShdw blurRad="63500" dist="35921" dir="2700000" algn="ctr" rotWithShape="0">
                <a:schemeClr val="bg2"/>
              </a:outerShdw>
            </a:effectLst>
          </p:spPr>
          <p:txBody>
            <a:bodyPr wrap="square" anchor="ctr">
              <a:prstTxWarp prst="textNoShape">
                <a:avLst/>
              </a:prstTxWarp>
              <a:spAutoFit/>
            </a:bodyPr>
            <a:lstStyle/>
            <a:p>
              <a:pPr algn="l"/>
              <a:r>
                <a:rPr lang="en-US" sz="1200" i="1" dirty="0"/>
                <a:t>Internal Failure Detection</a:t>
              </a:r>
            </a:p>
          </p:txBody>
        </p:sp>
      </p:grpSp>
      <p:grpSp>
        <p:nvGrpSpPr>
          <p:cNvPr id="47" name="Group 46">
            <a:extLst>
              <a:ext uri="{FF2B5EF4-FFF2-40B4-BE49-F238E27FC236}">
                <a16:creationId xmlns:a16="http://schemas.microsoft.com/office/drawing/2014/main" id="{30E4D5D4-A29A-9E30-BD86-7CC8F744DEFA}"/>
              </a:ext>
            </a:extLst>
          </p:cNvPr>
          <p:cNvGrpSpPr/>
          <p:nvPr/>
        </p:nvGrpSpPr>
        <p:grpSpPr>
          <a:xfrm>
            <a:off x="3876825" y="2761941"/>
            <a:ext cx="1695930" cy="676203"/>
            <a:chOff x="3876825" y="2761941"/>
            <a:chExt cx="1695930" cy="676203"/>
          </a:xfrm>
        </p:grpSpPr>
        <p:sp>
          <p:nvSpPr>
            <p:cNvPr id="30" name="Oval 29">
              <a:extLst>
                <a:ext uri="{FF2B5EF4-FFF2-40B4-BE49-F238E27FC236}">
                  <a16:creationId xmlns:a16="http://schemas.microsoft.com/office/drawing/2014/main" id="{E83DB1F0-D649-9AAD-C4AB-96E93227E0F0}"/>
                </a:ext>
              </a:extLst>
            </p:cNvPr>
            <p:cNvSpPr/>
            <p:nvPr/>
          </p:nvSpPr>
          <p:spPr bwMode="auto">
            <a:xfrm>
              <a:off x="3876825" y="3024484"/>
              <a:ext cx="368808" cy="413660"/>
            </a:xfrm>
            <a:prstGeom prst="ellipse">
              <a:avLst/>
            </a:prstGeom>
            <a:solidFill>
              <a:schemeClr val="accent5"/>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sz="1600" dirty="0">
                  <a:latin typeface="Tahoma" charset="0"/>
                </a:rPr>
                <a:t>3</a:t>
              </a:r>
              <a:endParaRPr kumimoji="0" lang="en-US" sz="1600" b="0" i="0" u="none" strike="noStrike" cap="none" normalizeH="0" baseline="0" dirty="0">
                <a:ln>
                  <a:noFill/>
                </a:ln>
                <a:solidFill>
                  <a:schemeClr val="tx1"/>
                </a:solidFill>
                <a:effectLst/>
                <a:latin typeface="Tahoma" charset="0"/>
              </a:endParaRPr>
            </a:p>
          </p:txBody>
        </p:sp>
        <p:sp>
          <p:nvSpPr>
            <p:cNvPr id="41" name="Text Box 12">
              <a:extLst>
                <a:ext uri="{FF2B5EF4-FFF2-40B4-BE49-F238E27FC236}">
                  <a16:creationId xmlns:a16="http://schemas.microsoft.com/office/drawing/2014/main" id="{8B2542A9-D094-CA97-C2F5-ED321749D098}"/>
                </a:ext>
              </a:extLst>
            </p:cNvPr>
            <p:cNvSpPr txBox="1">
              <a:spLocks noChangeArrowheads="1"/>
            </p:cNvSpPr>
            <p:nvPr/>
          </p:nvSpPr>
          <p:spPr bwMode="auto">
            <a:xfrm>
              <a:off x="4001792" y="2761941"/>
              <a:ext cx="1570963" cy="276999"/>
            </a:xfrm>
            <a:prstGeom prst="rect">
              <a:avLst/>
            </a:prstGeom>
            <a:solidFill>
              <a:schemeClr val="accent2"/>
            </a:solidFill>
            <a:ln w="12700">
              <a:solidFill>
                <a:schemeClr val="tx1"/>
              </a:solidFill>
              <a:miter lim="800000"/>
              <a:headEnd/>
              <a:tailEnd/>
            </a:ln>
            <a:effectLst>
              <a:outerShdw blurRad="63500" dist="35921" dir="2700000" algn="ctr" rotWithShape="0">
                <a:schemeClr val="bg2"/>
              </a:outerShdw>
            </a:effectLst>
          </p:spPr>
          <p:txBody>
            <a:bodyPr wrap="square" anchor="ctr">
              <a:prstTxWarp prst="textNoShape">
                <a:avLst/>
              </a:prstTxWarp>
              <a:spAutoFit/>
            </a:bodyPr>
            <a:lstStyle/>
            <a:p>
              <a:pPr algn="l"/>
              <a:r>
                <a:rPr lang="en-US" sz="1200" i="1" dirty="0"/>
                <a:t>Manage Interface</a:t>
              </a:r>
            </a:p>
          </p:txBody>
        </p:sp>
      </p:grpSp>
      <p:grpSp>
        <p:nvGrpSpPr>
          <p:cNvPr id="46" name="Group 45">
            <a:extLst>
              <a:ext uri="{FF2B5EF4-FFF2-40B4-BE49-F238E27FC236}">
                <a16:creationId xmlns:a16="http://schemas.microsoft.com/office/drawing/2014/main" id="{AC24A721-8C80-D9B5-6C9F-D8B1599EA5EC}"/>
              </a:ext>
            </a:extLst>
          </p:cNvPr>
          <p:cNvGrpSpPr/>
          <p:nvPr/>
        </p:nvGrpSpPr>
        <p:grpSpPr>
          <a:xfrm>
            <a:off x="2446301" y="3125307"/>
            <a:ext cx="1176977" cy="684693"/>
            <a:chOff x="2446301" y="3125307"/>
            <a:chExt cx="1176977" cy="684693"/>
          </a:xfrm>
        </p:grpSpPr>
        <p:sp>
          <p:nvSpPr>
            <p:cNvPr id="33" name="Oval 32">
              <a:extLst>
                <a:ext uri="{FF2B5EF4-FFF2-40B4-BE49-F238E27FC236}">
                  <a16:creationId xmlns:a16="http://schemas.microsoft.com/office/drawing/2014/main" id="{E561E15E-62D6-0B7F-0CDB-FDDBC19C912E}"/>
                </a:ext>
              </a:extLst>
            </p:cNvPr>
            <p:cNvSpPr/>
            <p:nvPr/>
          </p:nvSpPr>
          <p:spPr bwMode="auto">
            <a:xfrm>
              <a:off x="2578377" y="3396340"/>
              <a:ext cx="368808" cy="413660"/>
            </a:xfrm>
            <a:prstGeom prst="ellipse">
              <a:avLst/>
            </a:prstGeom>
            <a:solidFill>
              <a:schemeClr val="accent5"/>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sz="1600" dirty="0">
                  <a:latin typeface="Tahoma" charset="0"/>
                </a:rPr>
                <a:t>4</a:t>
              </a:r>
              <a:endParaRPr kumimoji="0" lang="en-US" sz="1600" b="0" i="0" u="none" strike="noStrike" cap="none" normalizeH="0" baseline="0" dirty="0">
                <a:ln>
                  <a:noFill/>
                </a:ln>
                <a:solidFill>
                  <a:schemeClr val="tx1"/>
                </a:solidFill>
                <a:effectLst/>
                <a:latin typeface="Tahoma" charset="0"/>
              </a:endParaRPr>
            </a:p>
          </p:txBody>
        </p:sp>
        <p:sp>
          <p:nvSpPr>
            <p:cNvPr id="42" name="Text Box 12">
              <a:extLst>
                <a:ext uri="{FF2B5EF4-FFF2-40B4-BE49-F238E27FC236}">
                  <a16:creationId xmlns:a16="http://schemas.microsoft.com/office/drawing/2014/main" id="{8B1D4720-4FA4-3121-825B-127837623D1A}"/>
                </a:ext>
              </a:extLst>
            </p:cNvPr>
            <p:cNvSpPr txBox="1">
              <a:spLocks noChangeArrowheads="1"/>
            </p:cNvSpPr>
            <p:nvPr/>
          </p:nvSpPr>
          <p:spPr bwMode="auto">
            <a:xfrm>
              <a:off x="2446301" y="3125307"/>
              <a:ext cx="1176977" cy="276999"/>
            </a:xfrm>
            <a:prstGeom prst="rect">
              <a:avLst/>
            </a:prstGeom>
            <a:solidFill>
              <a:schemeClr val="accent2"/>
            </a:solidFill>
            <a:ln w="12700">
              <a:solidFill>
                <a:schemeClr val="tx1"/>
              </a:solidFill>
              <a:miter lim="800000"/>
              <a:headEnd/>
              <a:tailEnd/>
            </a:ln>
            <a:effectLst>
              <a:outerShdw blurRad="63500" dist="35921" dir="2700000" algn="ctr" rotWithShape="0">
                <a:schemeClr val="bg2"/>
              </a:outerShdw>
            </a:effectLst>
          </p:spPr>
          <p:txBody>
            <a:bodyPr wrap="square" anchor="ctr">
              <a:prstTxWarp prst="textNoShape">
                <a:avLst/>
              </a:prstTxWarp>
              <a:spAutoFit/>
            </a:bodyPr>
            <a:lstStyle/>
            <a:p>
              <a:pPr algn="l"/>
              <a:r>
                <a:rPr lang="en-US" sz="1200" i="1" dirty="0"/>
                <a:t>Manage Mode</a:t>
              </a:r>
            </a:p>
          </p:txBody>
        </p:sp>
      </p:grpSp>
      <p:grpSp>
        <p:nvGrpSpPr>
          <p:cNvPr id="48" name="Group 47">
            <a:extLst>
              <a:ext uri="{FF2B5EF4-FFF2-40B4-BE49-F238E27FC236}">
                <a16:creationId xmlns:a16="http://schemas.microsoft.com/office/drawing/2014/main" id="{0AC94E6B-0BA0-CD8C-E2E3-83A698C8D72D}"/>
              </a:ext>
            </a:extLst>
          </p:cNvPr>
          <p:cNvGrpSpPr/>
          <p:nvPr/>
        </p:nvGrpSpPr>
        <p:grpSpPr>
          <a:xfrm>
            <a:off x="5998233" y="2820434"/>
            <a:ext cx="1012730" cy="1007854"/>
            <a:chOff x="5998233" y="2820434"/>
            <a:chExt cx="1012730" cy="1007854"/>
          </a:xfrm>
        </p:grpSpPr>
        <p:sp>
          <p:nvSpPr>
            <p:cNvPr id="34" name="Oval 33">
              <a:extLst>
                <a:ext uri="{FF2B5EF4-FFF2-40B4-BE49-F238E27FC236}">
                  <a16:creationId xmlns:a16="http://schemas.microsoft.com/office/drawing/2014/main" id="{391E0EF1-E056-EE0A-C818-971C83D49030}"/>
                </a:ext>
              </a:extLst>
            </p:cNvPr>
            <p:cNvSpPr/>
            <p:nvPr/>
          </p:nvSpPr>
          <p:spPr bwMode="auto">
            <a:xfrm>
              <a:off x="5998233" y="3414628"/>
              <a:ext cx="368808" cy="413660"/>
            </a:xfrm>
            <a:prstGeom prst="ellipse">
              <a:avLst/>
            </a:prstGeom>
            <a:solidFill>
              <a:schemeClr val="accent5"/>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sz="1600" dirty="0">
                  <a:latin typeface="Tahoma" charset="0"/>
                </a:rPr>
                <a:t>5</a:t>
              </a:r>
              <a:endParaRPr kumimoji="0" lang="en-US" sz="1600" b="0" i="0" u="none" strike="noStrike" cap="none" normalizeH="0" baseline="0" dirty="0">
                <a:ln>
                  <a:noFill/>
                </a:ln>
                <a:solidFill>
                  <a:schemeClr val="tx1"/>
                </a:solidFill>
                <a:effectLst/>
                <a:latin typeface="Tahoma" charset="0"/>
              </a:endParaRPr>
            </a:p>
          </p:txBody>
        </p:sp>
        <p:sp>
          <p:nvSpPr>
            <p:cNvPr id="43" name="Text Box 12">
              <a:extLst>
                <a:ext uri="{FF2B5EF4-FFF2-40B4-BE49-F238E27FC236}">
                  <a16:creationId xmlns:a16="http://schemas.microsoft.com/office/drawing/2014/main" id="{6C30C974-CE20-1524-E01F-88DE0802DA17}"/>
                </a:ext>
              </a:extLst>
            </p:cNvPr>
            <p:cNvSpPr txBox="1">
              <a:spLocks noChangeArrowheads="1"/>
            </p:cNvSpPr>
            <p:nvPr/>
          </p:nvSpPr>
          <p:spPr bwMode="auto">
            <a:xfrm>
              <a:off x="6117667" y="2820434"/>
              <a:ext cx="893296" cy="646331"/>
            </a:xfrm>
            <a:prstGeom prst="rect">
              <a:avLst/>
            </a:prstGeom>
            <a:solidFill>
              <a:schemeClr val="accent2"/>
            </a:solidFill>
            <a:ln w="12700">
              <a:solidFill>
                <a:schemeClr val="tx1"/>
              </a:solidFill>
              <a:miter lim="800000"/>
              <a:headEnd/>
              <a:tailEnd/>
            </a:ln>
            <a:effectLst>
              <a:outerShdw blurRad="63500" dist="35921" dir="2700000" algn="ctr" rotWithShape="0">
                <a:schemeClr val="bg2"/>
              </a:outerShdw>
            </a:effectLst>
          </p:spPr>
          <p:txBody>
            <a:bodyPr wrap="square" anchor="ctr">
              <a:prstTxWarp prst="textNoShape">
                <a:avLst/>
              </a:prstTxWarp>
              <a:spAutoFit/>
            </a:bodyPr>
            <a:lstStyle/>
            <a:p>
              <a:pPr algn="l"/>
              <a:r>
                <a:rPr lang="en-US" sz="1200" i="1" dirty="0"/>
                <a:t>Manage Heat Source</a:t>
              </a:r>
            </a:p>
          </p:txBody>
        </p:sp>
      </p:grpSp>
      <p:sp>
        <p:nvSpPr>
          <p:cNvPr id="4" name="TextBox 3">
            <a:extLst>
              <a:ext uri="{FF2B5EF4-FFF2-40B4-BE49-F238E27FC236}">
                <a16:creationId xmlns:a16="http://schemas.microsoft.com/office/drawing/2014/main" id="{03A6B7BA-527F-1A6C-DECA-ED4A4955B1B4}"/>
              </a:ext>
            </a:extLst>
          </p:cNvPr>
          <p:cNvSpPr txBox="1"/>
          <p:nvPr/>
        </p:nvSpPr>
        <p:spPr>
          <a:xfrm>
            <a:off x="2439589" y="5473005"/>
            <a:ext cx="6266331" cy="1384995"/>
          </a:xfrm>
          <a:prstGeom prst="rect">
            <a:avLst/>
          </a:prstGeom>
          <a:noFill/>
        </p:spPr>
        <p:txBody>
          <a:bodyPr wrap="square" rtlCol="0">
            <a:spAutoFit/>
          </a:bodyPr>
          <a:lstStyle/>
          <a:p>
            <a:pPr marL="342900" indent="-342900">
              <a:buFont typeface="Arial" panose="020B0604020202020204" pitchFamily="34" charset="0"/>
              <a:buChar char="•"/>
            </a:pPr>
            <a:r>
              <a:rPr lang="en-US" sz="1050" dirty="0"/>
              <a:t>Each thread within a subsystem appears one or more times in a static schedule (open question: what is the relationship between subsystem task set and schedule task set?  These notions are not spelled out in AADL)</a:t>
            </a:r>
          </a:p>
          <a:p>
            <a:pPr marL="342900" indent="-342900">
              <a:buFont typeface="Arial" panose="020B0604020202020204" pitchFamily="34" charset="0"/>
              <a:buChar char="•"/>
            </a:pPr>
            <a:r>
              <a:rPr lang="en-US" sz="1050" dirty="0"/>
              <a:t>There is some notion of relating the schedule of a subsystem with the schedule of its context (e.g., steps 0, 1, 10 above) and I don’t know what this should be yet.</a:t>
            </a:r>
          </a:p>
          <a:p>
            <a:pPr marL="342900" indent="-342900">
              <a:buFont typeface="Arial" panose="020B0604020202020204" pitchFamily="34" charset="0"/>
              <a:buChar char="•"/>
            </a:pPr>
            <a:r>
              <a:rPr lang="en-US" sz="1050" dirty="0"/>
              <a:t>To support reasoning, the subsystem will need to understand the points in time (in the static schedule) in which: input values are acquired from the context, output values are delivered to the context</a:t>
            </a:r>
          </a:p>
        </p:txBody>
      </p:sp>
    </p:spTree>
    <p:extLst>
      <p:ext uri="{BB962C8B-B14F-4D97-AF65-F5344CB8AC3E}">
        <p14:creationId xmlns:p14="http://schemas.microsoft.com/office/powerpoint/2010/main" val="2577851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C00FA-93C3-21AE-45BA-319617E55F24}"/>
              </a:ext>
            </a:extLst>
          </p:cNvPr>
          <p:cNvSpPr>
            <a:spLocks noGrp="1"/>
          </p:cNvSpPr>
          <p:nvPr>
            <p:ph type="title"/>
          </p:nvPr>
        </p:nvSpPr>
        <p:spPr/>
        <p:txBody>
          <a:bodyPr/>
          <a:lstStyle/>
          <a:p>
            <a:r>
              <a:rPr lang="en-US" dirty="0"/>
              <a:t>Static Schedule Declaration</a:t>
            </a:r>
          </a:p>
        </p:txBody>
      </p:sp>
      <p:sp>
        <p:nvSpPr>
          <p:cNvPr id="4" name="Slide Number Placeholder 3">
            <a:extLst>
              <a:ext uri="{FF2B5EF4-FFF2-40B4-BE49-F238E27FC236}">
                <a16:creationId xmlns:a16="http://schemas.microsoft.com/office/drawing/2014/main" id="{2AC8EB86-4FC7-65AE-6EFE-3A40B9200CF4}"/>
              </a:ext>
            </a:extLst>
          </p:cNvPr>
          <p:cNvSpPr>
            <a:spLocks noGrp="1"/>
          </p:cNvSpPr>
          <p:nvPr>
            <p:ph type="sldNum" sz="quarter" idx="11"/>
          </p:nvPr>
        </p:nvSpPr>
        <p:spPr/>
        <p:txBody>
          <a:bodyPr/>
          <a:lstStyle/>
          <a:p>
            <a:pPr>
              <a:defRPr/>
            </a:pPr>
            <a:fld id="{C22399C2-1ADD-1549-9753-CEA7C1EED1B8}" type="slidenum">
              <a:rPr lang="en-US" smtClean="0"/>
              <a:pPr>
                <a:defRPr/>
              </a:pPr>
              <a:t>4</a:t>
            </a:fld>
            <a:endParaRPr lang="en-US"/>
          </a:p>
        </p:txBody>
      </p:sp>
      <p:sp>
        <p:nvSpPr>
          <p:cNvPr id="5" name="Text Box 4">
            <a:extLst>
              <a:ext uri="{FF2B5EF4-FFF2-40B4-BE49-F238E27FC236}">
                <a16:creationId xmlns:a16="http://schemas.microsoft.com/office/drawing/2014/main" id="{BC706FC0-EDBE-7DFB-0A50-B9E0CB2160F6}"/>
              </a:ext>
            </a:extLst>
          </p:cNvPr>
          <p:cNvSpPr txBox="1">
            <a:spLocks noChangeArrowheads="1"/>
          </p:cNvSpPr>
          <p:nvPr/>
        </p:nvSpPr>
        <p:spPr bwMode="auto">
          <a:xfrm>
            <a:off x="609600" y="1181352"/>
            <a:ext cx="7836788" cy="646331"/>
          </a:xfrm>
          <a:prstGeom prst="rect">
            <a:avLst/>
          </a:prstGeom>
          <a:gradFill rotWithShape="0">
            <a:gsLst>
              <a:gs pos="0">
                <a:schemeClr val="accent2"/>
              </a:gs>
              <a:gs pos="100000">
                <a:schemeClr val="bg1"/>
              </a:gs>
            </a:gsLst>
            <a:lin ang="0" scaled="1"/>
          </a:gradFill>
          <a:ln w="9525">
            <a:noFill/>
            <a:miter lim="800000"/>
            <a:headEnd/>
            <a:tailEnd/>
          </a:ln>
          <a:effectLst/>
        </p:spPr>
        <p:txBody>
          <a:bodyPr wrap="square">
            <a:prstTxWarp prst="textNoShape">
              <a:avLst/>
            </a:prstTxWarp>
            <a:spAutoFit/>
          </a:bodyPr>
          <a:lstStyle/>
          <a:p>
            <a:pPr algn="l"/>
            <a:r>
              <a:rPr lang="en-US" sz="1800" dirty="0"/>
              <a:t>Using a scheduling approach that aligns with seL4 </a:t>
            </a:r>
            <a:r>
              <a:rPr lang="en-US" sz="1800" i="1" dirty="0"/>
              <a:t>domain scheduler</a:t>
            </a:r>
            <a:r>
              <a:rPr lang="en-US" sz="1800" dirty="0"/>
              <a:t> and Collins Aerospace strategies – static cyclic scheduling</a:t>
            </a:r>
          </a:p>
        </p:txBody>
      </p:sp>
      <p:pic>
        <p:nvPicPr>
          <p:cNvPr id="6" name="Picture 5">
            <a:extLst>
              <a:ext uri="{FF2B5EF4-FFF2-40B4-BE49-F238E27FC236}">
                <a16:creationId xmlns:a16="http://schemas.microsoft.com/office/drawing/2014/main" id="{210C0AEC-26DE-F7D6-A602-32EF9AFA77B5}"/>
              </a:ext>
            </a:extLst>
          </p:cNvPr>
          <p:cNvPicPr>
            <a:picLocks noChangeAspect="1"/>
          </p:cNvPicPr>
          <p:nvPr/>
        </p:nvPicPr>
        <p:blipFill>
          <a:blip r:embed="rId2"/>
          <a:stretch>
            <a:fillRect/>
          </a:stretch>
        </p:blipFill>
        <p:spPr>
          <a:xfrm>
            <a:off x="228600" y="1981200"/>
            <a:ext cx="8610600" cy="4660657"/>
          </a:xfrm>
          <a:prstGeom prst="rect">
            <a:avLst/>
          </a:prstGeom>
        </p:spPr>
      </p:pic>
      <p:sp>
        <p:nvSpPr>
          <p:cNvPr id="9" name="TextBox 8">
            <a:extLst>
              <a:ext uri="{FF2B5EF4-FFF2-40B4-BE49-F238E27FC236}">
                <a16:creationId xmlns:a16="http://schemas.microsoft.com/office/drawing/2014/main" id="{76877870-E95F-1836-BD28-861462F0C1F2}"/>
              </a:ext>
            </a:extLst>
          </p:cNvPr>
          <p:cNvSpPr txBox="1"/>
          <p:nvPr/>
        </p:nvSpPr>
        <p:spPr>
          <a:xfrm rot="16200000">
            <a:off x="-1106993" y="4158734"/>
            <a:ext cx="2743200" cy="369332"/>
          </a:xfrm>
          <a:prstGeom prst="rect">
            <a:avLst/>
          </a:prstGeom>
          <a:solidFill>
            <a:srgbClr val="92D050"/>
          </a:solidFill>
        </p:spPr>
        <p:txBody>
          <a:bodyPr wrap="square" rtlCol="0">
            <a:spAutoFit/>
          </a:bodyPr>
          <a:lstStyle/>
          <a:p>
            <a:pPr algn="ctr"/>
            <a:r>
              <a:rPr lang="en-US" sz="1800" dirty="0"/>
              <a:t>Excerpts</a:t>
            </a:r>
          </a:p>
        </p:txBody>
      </p:sp>
      <p:grpSp>
        <p:nvGrpSpPr>
          <p:cNvPr id="17" name="Group 16">
            <a:extLst>
              <a:ext uri="{FF2B5EF4-FFF2-40B4-BE49-F238E27FC236}">
                <a16:creationId xmlns:a16="http://schemas.microsoft.com/office/drawing/2014/main" id="{35A86979-2294-EA6E-4944-88F2BD99D816}"/>
              </a:ext>
            </a:extLst>
          </p:cNvPr>
          <p:cNvGrpSpPr/>
          <p:nvPr/>
        </p:nvGrpSpPr>
        <p:grpSpPr>
          <a:xfrm>
            <a:off x="99646" y="3883579"/>
            <a:ext cx="7825154" cy="2758278"/>
            <a:chOff x="99646" y="3883579"/>
            <a:chExt cx="7825154" cy="2758278"/>
          </a:xfrm>
        </p:grpSpPr>
        <p:sp>
          <p:nvSpPr>
            <p:cNvPr id="10" name="Text Box 43">
              <a:extLst>
                <a:ext uri="{FF2B5EF4-FFF2-40B4-BE49-F238E27FC236}">
                  <a16:creationId xmlns:a16="http://schemas.microsoft.com/office/drawing/2014/main" id="{CEFEFD46-A8B1-E48B-714D-9BEACC11D6B4}"/>
                </a:ext>
              </a:extLst>
            </p:cNvPr>
            <p:cNvSpPr txBox="1">
              <a:spLocks noChangeArrowheads="1"/>
            </p:cNvSpPr>
            <p:nvPr/>
          </p:nvSpPr>
          <p:spPr bwMode="auto">
            <a:xfrm>
              <a:off x="99646" y="6334080"/>
              <a:ext cx="3924300" cy="307777"/>
            </a:xfrm>
            <a:prstGeom prst="rect">
              <a:avLst/>
            </a:prstGeom>
            <a:solidFill>
              <a:schemeClr val="accent2"/>
            </a:solidFill>
            <a:ln w="12700">
              <a:solidFill>
                <a:schemeClr val="tx1"/>
              </a:solidFill>
              <a:miter lim="800000"/>
              <a:headEnd/>
              <a:tailEnd/>
            </a:ln>
            <a:effectLst>
              <a:outerShdw blurRad="63500" dist="35921" dir="2700000" algn="ctr" rotWithShape="0">
                <a:schemeClr val="bg2"/>
              </a:outerShdw>
            </a:effectLst>
          </p:spPr>
          <p:txBody>
            <a:bodyPr wrap="square" anchor="ctr">
              <a:spAutoFit/>
            </a:bodyPr>
            <a:lstStyle/>
            <a:p>
              <a:pPr algn="l">
                <a:defRPr/>
              </a:pPr>
              <a:r>
                <a:rPr lang="en-US" sz="1400" i="1" dirty="0">
                  <a:latin typeface="Tahoma" pitchFamily="-84" charset="0"/>
                </a:rPr>
                <a:t>Manage Heat Source </a:t>
              </a:r>
              <a:r>
                <a:rPr lang="en-US" sz="1400" dirty="0">
                  <a:latin typeface="Tahoma" pitchFamily="-84" charset="0"/>
                </a:rPr>
                <a:t>allocated to slot # 5</a:t>
              </a:r>
              <a:endParaRPr lang="en-US" sz="1400" i="1" dirty="0">
                <a:latin typeface="Tahoma" pitchFamily="-84" charset="0"/>
              </a:endParaRPr>
            </a:p>
          </p:txBody>
        </p:sp>
        <p:sp>
          <p:nvSpPr>
            <p:cNvPr id="11" name="Rectangle 10">
              <a:extLst>
                <a:ext uri="{FF2B5EF4-FFF2-40B4-BE49-F238E27FC236}">
                  <a16:creationId xmlns:a16="http://schemas.microsoft.com/office/drawing/2014/main" id="{08A28EF1-50E4-CBE1-242D-B3CF6297210B}"/>
                </a:ext>
              </a:extLst>
            </p:cNvPr>
            <p:cNvSpPr/>
            <p:nvPr/>
          </p:nvSpPr>
          <p:spPr bwMode="auto">
            <a:xfrm>
              <a:off x="2170667" y="3883579"/>
              <a:ext cx="436685" cy="306706"/>
            </a:xfrm>
            <a:prstGeom prst="rect">
              <a:avLst/>
            </a:prstGeom>
            <a:noFill/>
            <a:ln w="28575" cap="flat" cmpd="sng" algn="ctr">
              <a:solidFill>
                <a:srgbClr val="FF0000"/>
              </a:solidFill>
              <a:prstDash val="dash"/>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2" name="Rectangle 11">
              <a:extLst>
                <a:ext uri="{FF2B5EF4-FFF2-40B4-BE49-F238E27FC236}">
                  <a16:creationId xmlns:a16="http://schemas.microsoft.com/office/drawing/2014/main" id="{CD03F59C-09A8-18CE-C0FD-8F3C0833CEA3}"/>
                </a:ext>
              </a:extLst>
            </p:cNvPr>
            <p:cNvSpPr/>
            <p:nvPr/>
          </p:nvSpPr>
          <p:spPr bwMode="auto">
            <a:xfrm>
              <a:off x="2611315" y="5789294"/>
              <a:ext cx="5313485" cy="306706"/>
            </a:xfrm>
            <a:prstGeom prst="rect">
              <a:avLst/>
            </a:prstGeom>
            <a:noFill/>
            <a:ln w="28575" cap="flat" cmpd="sng" algn="ctr">
              <a:solidFill>
                <a:srgbClr val="FF0000"/>
              </a:solidFill>
              <a:prstDash val="dash"/>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3" name="Line 44">
              <a:extLst>
                <a:ext uri="{FF2B5EF4-FFF2-40B4-BE49-F238E27FC236}">
                  <a16:creationId xmlns:a16="http://schemas.microsoft.com/office/drawing/2014/main" id="{CCEBBC95-18BA-8729-C745-9F0927000884}"/>
                </a:ext>
              </a:extLst>
            </p:cNvPr>
            <p:cNvSpPr>
              <a:spLocks noChangeShapeType="1"/>
            </p:cNvSpPr>
            <p:nvPr/>
          </p:nvSpPr>
          <p:spPr bwMode="auto">
            <a:xfrm flipV="1">
              <a:off x="704851" y="4190285"/>
              <a:ext cx="1465816" cy="2159712"/>
            </a:xfrm>
            <a:prstGeom prst="line">
              <a:avLst/>
            </a:prstGeom>
            <a:noFill/>
            <a:ln w="28575">
              <a:solidFill>
                <a:srgbClr val="FF0000"/>
              </a:solidFill>
              <a:prstDash val="sysDash"/>
              <a:round/>
              <a:headEnd/>
              <a:tailEnd/>
            </a:ln>
            <a:extLst>
              <a:ext uri="{909E8E84-426E-40DD-AFC4-6F175D3DCCD1}">
                <a14:hiddenFill xmlns:a14="http://schemas.microsoft.com/office/drawing/2010/main">
                  <a:noFill/>
                </a14:hiddenFill>
              </a:ext>
            </a:extLst>
          </p:spPr>
          <p:txBody>
            <a:bodyPr wrap="square" anchor="ctr">
              <a:spAutoFit/>
            </a:bodyPr>
            <a:lstStyle/>
            <a:p>
              <a:endParaRPr lang="en-US" dirty="0"/>
            </a:p>
          </p:txBody>
        </p:sp>
        <p:sp>
          <p:nvSpPr>
            <p:cNvPr id="14" name="Line 44">
              <a:extLst>
                <a:ext uri="{FF2B5EF4-FFF2-40B4-BE49-F238E27FC236}">
                  <a16:creationId xmlns:a16="http://schemas.microsoft.com/office/drawing/2014/main" id="{B39D2136-1B92-E376-8058-331229D96A36}"/>
                </a:ext>
              </a:extLst>
            </p:cNvPr>
            <p:cNvSpPr>
              <a:spLocks noChangeShapeType="1"/>
            </p:cNvSpPr>
            <p:nvPr/>
          </p:nvSpPr>
          <p:spPr bwMode="auto">
            <a:xfrm flipV="1">
              <a:off x="2736306" y="6095999"/>
              <a:ext cx="159294" cy="253997"/>
            </a:xfrm>
            <a:prstGeom prst="line">
              <a:avLst/>
            </a:prstGeom>
            <a:noFill/>
            <a:ln w="28575">
              <a:solidFill>
                <a:srgbClr val="FF0000"/>
              </a:solidFill>
              <a:prstDash val="sysDash"/>
              <a:round/>
              <a:headEnd/>
              <a:tailEnd/>
            </a:ln>
            <a:extLst>
              <a:ext uri="{909E8E84-426E-40DD-AFC4-6F175D3DCCD1}">
                <a14:hiddenFill xmlns:a14="http://schemas.microsoft.com/office/drawing/2010/main">
                  <a:noFill/>
                </a14:hiddenFill>
              </a:ext>
            </a:extLst>
          </p:spPr>
          <p:txBody>
            <a:bodyPr wrap="square" anchor="ctr">
              <a:spAutoFit/>
            </a:bodyPr>
            <a:lstStyle/>
            <a:p>
              <a:endParaRPr lang="en-US" dirty="0"/>
            </a:p>
          </p:txBody>
        </p:sp>
      </p:grpSp>
      <p:grpSp>
        <p:nvGrpSpPr>
          <p:cNvPr id="16" name="Group 15">
            <a:extLst>
              <a:ext uri="{FF2B5EF4-FFF2-40B4-BE49-F238E27FC236}">
                <a16:creationId xmlns:a16="http://schemas.microsoft.com/office/drawing/2014/main" id="{3D431C5D-3BFA-211B-71EB-8CE7E5CF09FC}"/>
              </a:ext>
            </a:extLst>
          </p:cNvPr>
          <p:cNvGrpSpPr/>
          <p:nvPr/>
        </p:nvGrpSpPr>
        <p:grpSpPr>
          <a:xfrm>
            <a:off x="4639352" y="2971800"/>
            <a:ext cx="4293633" cy="1066799"/>
            <a:chOff x="4639352" y="2971800"/>
            <a:chExt cx="4293633" cy="1066799"/>
          </a:xfrm>
        </p:grpSpPr>
        <p:sp>
          <p:nvSpPr>
            <p:cNvPr id="7" name="Text Box 43">
              <a:extLst>
                <a:ext uri="{FF2B5EF4-FFF2-40B4-BE49-F238E27FC236}">
                  <a16:creationId xmlns:a16="http://schemas.microsoft.com/office/drawing/2014/main" id="{BA3C0000-0074-3B40-1FEA-41D9F0A3F3D3}"/>
                </a:ext>
              </a:extLst>
            </p:cNvPr>
            <p:cNvSpPr txBox="1">
              <a:spLocks noChangeArrowheads="1"/>
            </p:cNvSpPr>
            <p:nvPr/>
          </p:nvSpPr>
          <p:spPr bwMode="auto">
            <a:xfrm>
              <a:off x="5008685" y="3144914"/>
              <a:ext cx="3924300" cy="738664"/>
            </a:xfrm>
            <a:prstGeom prst="rect">
              <a:avLst/>
            </a:prstGeom>
            <a:solidFill>
              <a:schemeClr val="accent2"/>
            </a:solidFill>
            <a:ln w="12700">
              <a:solidFill>
                <a:schemeClr val="tx1"/>
              </a:solidFill>
              <a:miter lim="800000"/>
              <a:headEnd/>
              <a:tailEnd/>
            </a:ln>
            <a:effectLst>
              <a:outerShdw blurRad="63500" dist="35921" dir="2700000" algn="ctr" rotWithShape="0">
                <a:schemeClr val="bg2"/>
              </a:outerShdw>
            </a:effectLst>
          </p:spPr>
          <p:txBody>
            <a:bodyPr wrap="square" anchor="ctr">
              <a:spAutoFit/>
            </a:bodyPr>
            <a:lstStyle/>
            <a:p>
              <a:pPr algn="l">
                <a:defRPr/>
              </a:pPr>
              <a:r>
                <a:rPr lang="en-US" sz="1400" dirty="0">
                  <a:latin typeface="Tahoma" pitchFamily="-84" charset="0"/>
                </a:rPr>
                <a:t>Scheduling slots that include a thread identifier and the absolute execution time associated with that thread…</a:t>
              </a:r>
            </a:p>
          </p:txBody>
        </p:sp>
        <p:sp>
          <p:nvSpPr>
            <p:cNvPr id="8" name="Line 44">
              <a:extLst>
                <a:ext uri="{FF2B5EF4-FFF2-40B4-BE49-F238E27FC236}">
                  <a16:creationId xmlns:a16="http://schemas.microsoft.com/office/drawing/2014/main" id="{C9D8E219-EB5A-8AF3-ECD9-8BDDE81C78D5}"/>
                </a:ext>
              </a:extLst>
            </p:cNvPr>
            <p:cNvSpPr>
              <a:spLocks noChangeShapeType="1"/>
            </p:cNvSpPr>
            <p:nvPr/>
          </p:nvSpPr>
          <p:spPr bwMode="auto">
            <a:xfrm flipV="1">
              <a:off x="4639352" y="3730389"/>
              <a:ext cx="369333" cy="99208"/>
            </a:xfrm>
            <a:prstGeom prst="line">
              <a:avLst/>
            </a:prstGeom>
            <a:noFill/>
            <a:ln w="28575">
              <a:solidFill>
                <a:srgbClr val="FF0000"/>
              </a:solidFill>
              <a:prstDash val="sysDash"/>
              <a:round/>
              <a:headEnd/>
              <a:tailEnd/>
            </a:ln>
            <a:extLst>
              <a:ext uri="{909E8E84-426E-40DD-AFC4-6F175D3DCCD1}">
                <a14:hiddenFill xmlns:a14="http://schemas.microsoft.com/office/drawing/2010/main">
                  <a:noFill/>
                </a14:hiddenFill>
              </a:ext>
            </a:extLst>
          </p:spPr>
          <p:txBody>
            <a:bodyPr wrap="square" anchor="ctr">
              <a:spAutoFit/>
            </a:bodyPr>
            <a:lstStyle/>
            <a:p>
              <a:endParaRPr lang="en-US" dirty="0"/>
            </a:p>
          </p:txBody>
        </p:sp>
        <p:sp>
          <p:nvSpPr>
            <p:cNvPr id="15" name="Line 44">
              <a:extLst>
                <a:ext uri="{FF2B5EF4-FFF2-40B4-BE49-F238E27FC236}">
                  <a16:creationId xmlns:a16="http://schemas.microsoft.com/office/drawing/2014/main" id="{CB605481-15D6-5E40-2549-D37B095E6474}"/>
                </a:ext>
              </a:extLst>
            </p:cNvPr>
            <p:cNvSpPr>
              <a:spLocks noChangeShapeType="1"/>
            </p:cNvSpPr>
            <p:nvPr/>
          </p:nvSpPr>
          <p:spPr bwMode="auto">
            <a:xfrm flipH="1">
              <a:off x="4639352" y="2971800"/>
              <a:ext cx="0" cy="1066799"/>
            </a:xfrm>
            <a:prstGeom prst="line">
              <a:avLst/>
            </a:prstGeom>
            <a:noFill/>
            <a:ln w="28575">
              <a:solidFill>
                <a:srgbClr val="FF0000"/>
              </a:solidFill>
              <a:prstDash val="sysDash"/>
              <a:round/>
              <a:headEnd/>
              <a:tailEnd/>
            </a:ln>
            <a:extLst>
              <a:ext uri="{909E8E84-426E-40DD-AFC4-6F175D3DCCD1}">
                <a14:hiddenFill xmlns:a14="http://schemas.microsoft.com/office/drawing/2010/main">
                  <a:noFill/>
                </a14:hiddenFill>
              </a:ext>
            </a:extLst>
          </p:spPr>
          <p:txBody>
            <a:bodyPr wrap="square" anchor="ctr">
              <a:spAutoFit/>
            </a:bodyPr>
            <a:lstStyle/>
            <a:p>
              <a:endParaRPr lang="en-US" dirty="0"/>
            </a:p>
          </p:txBody>
        </p:sp>
      </p:grpSp>
      <p:sp>
        <p:nvSpPr>
          <p:cNvPr id="20" name="TextBox 19">
            <a:extLst>
              <a:ext uri="{FF2B5EF4-FFF2-40B4-BE49-F238E27FC236}">
                <a16:creationId xmlns:a16="http://schemas.microsoft.com/office/drawing/2014/main" id="{74F3909D-9158-95CB-BC10-9465DB2FE080}"/>
              </a:ext>
            </a:extLst>
          </p:cNvPr>
          <p:cNvSpPr txBox="1"/>
          <p:nvPr/>
        </p:nvSpPr>
        <p:spPr>
          <a:xfrm>
            <a:off x="445626" y="2873147"/>
            <a:ext cx="309700" cy="1569660"/>
          </a:xfrm>
          <a:prstGeom prst="rect">
            <a:avLst/>
          </a:prstGeom>
          <a:solidFill>
            <a:schemeClr val="accent5"/>
          </a:solidFill>
        </p:spPr>
        <p:txBody>
          <a:bodyPr wrap="none" rtlCol="0">
            <a:spAutoFit/>
          </a:bodyPr>
          <a:lstStyle/>
          <a:p>
            <a:r>
              <a:rPr lang="en-US" sz="1600" dirty="0"/>
              <a:t>0</a:t>
            </a:r>
          </a:p>
          <a:p>
            <a:r>
              <a:rPr lang="en-US" sz="1600" dirty="0"/>
              <a:t>..</a:t>
            </a:r>
          </a:p>
          <a:p>
            <a:r>
              <a:rPr lang="en-US" sz="1600" dirty="0"/>
              <a:t>3</a:t>
            </a:r>
          </a:p>
          <a:p>
            <a:r>
              <a:rPr lang="en-US" sz="1600" dirty="0"/>
              <a:t>4</a:t>
            </a:r>
          </a:p>
          <a:p>
            <a:r>
              <a:rPr lang="en-US" sz="1600" dirty="0"/>
              <a:t>5</a:t>
            </a:r>
          </a:p>
          <a:p>
            <a:r>
              <a:rPr lang="en-US" sz="1600" dirty="0"/>
              <a:t>..</a:t>
            </a:r>
          </a:p>
        </p:txBody>
      </p:sp>
    </p:spTree>
    <p:extLst>
      <p:ext uri="{BB962C8B-B14F-4D97-AF65-F5344CB8AC3E}">
        <p14:creationId xmlns:p14="http://schemas.microsoft.com/office/powerpoint/2010/main" val="48588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9C769-DF69-D900-31E5-5D0A67A104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BDA6D9-103D-8418-0974-BA7A23459751}"/>
              </a:ext>
            </a:extLst>
          </p:cNvPr>
          <p:cNvSpPr>
            <a:spLocks noGrp="1"/>
          </p:cNvSpPr>
          <p:nvPr>
            <p:ph type="title"/>
          </p:nvPr>
        </p:nvSpPr>
        <p:spPr/>
        <p:txBody>
          <a:bodyPr/>
          <a:lstStyle/>
          <a:p>
            <a:r>
              <a:rPr lang="en-US" sz="4000" dirty="0"/>
              <a:t>Schedule Abstractions (Intuition)</a:t>
            </a:r>
          </a:p>
        </p:txBody>
      </p:sp>
      <p:sp>
        <p:nvSpPr>
          <p:cNvPr id="5" name="Text Box 4">
            <a:extLst>
              <a:ext uri="{FF2B5EF4-FFF2-40B4-BE49-F238E27FC236}">
                <a16:creationId xmlns:a16="http://schemas.microsoft.com/office/drawing/2014/main" id="{92B58294-FA64-0080-C604-88742EB72C7F}"/>
              </a:ext>
            </a:extLst>
          </p:cNvPr>
          <p:cNvSpPr txBox="1">
            <a:spLocks noChangeArrowheads="1"/>
          </p:cNvSpPr>
          <p:nvPr/>
        </p:nvSpPr>
        <p:spPr bwMode="auto">
          <a:xfrm>
            <a:off x="571500" y="1224428"/>
            <a:ext cx="8198641" cy="830997"/>
          </a:xfrm>
          <a:prstGeom prst="rect">
            <a:avLst/>
          </a:prstGeom>
          <a:gradFill rotWithShape="0">
            <a:gsLst>
              <a:gs pos="0">
                <a:schemeClr val="accent2"/>
              </a:gs>
              <a:gs pos="100000">
                <a:schemeClr val="bg1"/>
              </a:gs>
            </a:gsLst>
            <a:lin ang="0" scaled="1"/>
          </a:gradFill>
          <a:ln w="9525">
            <a:noFill/>
            <a:miter lim="800000"/>
            <a:headEnd/>
            <a:tailEnd/>
          </a:ln>
          <a:effectLst/>
        </p:spPr>
        <p:txBody>
          <a:bodyPr wrap="square">
            <a:prstTxWarp prst="textNoShape">
              <a:avLst/>
            </a:prstTxWarp>
            <a:spAutoFit/>
          </a:bodyPr>
          <a:lstStyle/>
          <a:p>
            <a:pPr algn="l"/>
            <a:r>
              <a:rPr lang="en-US" sz="1600" dirty="0"/>
              <a:t>Well-established notions of action independence (commutativity of task actions), e.g., when there is no notion of data dependence between tasks will be important for us (connected to the notions of partial order reductions in model-checking)</a:t>
            </a:r>
          </a:p>
        </p:txBody>
      </p:sp>
      <p:sp>
        <p:nvSpPr>
          <p:cNvPr id="17" name="Slide Number Placeholder 16">
            <a:extLst>
              <a:ext uri="{FF2B5EF4-FFF2-40B4-BE49-F238E27FC236}">
                <a16:creationId xmlns:a16="http://schemas.microsoft.com/office/drawing/2014/main" id="{8F95E85A-F9E2-F176-DC0A-E88C1D87D061}"/>
              </a:ext>
            </a:extLst>
          </p:cNvPr>
          <p:cNvSpPr>
            <a:spLocks noGrp="1"/>
          </p:cNvSpPr>
          <p:nvPr>
            <p:ph type="sldNum" sz="quarter" idx="11"/>
          </p:nvPr>
        </p:nvSpPr>
        <p:spPr/>
        <p:txBody>
          <a:bodyPr/>
          <a:lstStyle/>
          <a:p>
            <a:pPr>
              <a:defRPr/>
            </a:pPr>
            <a:fld id="{6E0AA622-F4CE-604D-A669-CD3D12FC535C}" type="slidenum">
              <a:rPr lang="en-US" smtClean="0"/>
              <a:pPr>
                <a:defRPr/>
              </a:pPr>
              <a:t>5</a:t>
            </a:fld>
            <a:endParaRPr lang="en-US"/>
          </a:p>
        </p:txBody>
      </p:sp>
      <p:pic>
        <p:nvPicPr>
          <p:cNvPr id="3" name="Picture 2" descr="A diagram of a computer program&#10;&#10;Description automatically generated">
            <a:extLst>
              <a:ext uri="{FF2B5EF4-FFF2-40B4-BE49-F238E27FC236}">
                <a16:creationId xmlns:a16="http://schemas.microsoft.com/office/drawing/2014/main" id="{AF099006-E62C-8116-6376-68E98A00C6FF}"/>
              </a:ext>
            </a:extLst>
          </p:cNvPr>
          <p:cNvPicPr>
            <a:picLocks noChangeAspect="1"/>
          </p:cNvPicPr>
          <p:nvPr/>
        </p:nvPicPr>
        <p:blipFill>
          <a:blip r:embed="rId2"/>
          <a:stretch>
            <a:fillRect/>
          </a:stretch>
        </p:blipFill>
        <p:spPr>
          <a:xfrm>
            <a:off x="2204485" y="3029144"/>
            <a:ext cx="4490729" cy="2299284"/>
          </a:xfrm>
          <a:prstGeom prst="rect">
            <a:avLst/>
          </a:prstGeom>
        </p:spPr>
      </p:pic>
      <p:sp>
        <p:nvSpPr>
          <p:cNvPr id="14" name="Parallelogram 13">
            <a:extLst>
              <a:ext uri="{FF2B5EF4-FFF2-40B4-BE49-F238E27FC236}">
                <a16:creationId xmlns:a16="http://schemas.microsoft.com/office/drawing/2014/main" id="{CE7A0942-3179-B73E-D483-F9A40AD98502}"/>
              </a:ext>
            </a:extLst>
          </p:cNvPr>
          <p:cNvSpPr/>
          <p:nvPr/>
        </p:nvSpPr>
        <p:spPr>
          <a:xfrm>
            <a:off x="685800" y="2731416"/>
            <a:ext cx="1238269" cy="840839"/>
          </a:xfrm>
          <a:prstGeom prst="parallelogram">
            <a:avLst>
              <a:gd name="adj" fmla="val 16558"/>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6E950823-EA70-AD77-28CA-412583F94031}"/>
              </a:ext>
            </a:extLst>
          </p:cNvPr>
          <p:cNvSpPr txBox="1"/>
          <p:nvPr/>
        </p:nvSpPr>
        <p:spPr>
          <a:xfrm>
            <a:off x="807720" y="2838886"/>
            <a:ext cx="1116349" cy="584775"/>
          </a:xfrm>
          <a:prstGeom prst="rect">
            <a:avLst/>
          </a:prstGeom>
          <a:noFill/>
        </p:spPr>
        <p:txBody>
          <a:bodyPr wrap="square" rtlCol="0">
            <a:spAutoFit/>
          </a:bodyPr>
          <a:lstStyle/>
          <a:p>
            <a:r>
              <a:rPr lang="en-US" sz="1600" dirty="0"/>
              <a:t>Operator Interface</a:t>
            </a:r>
          </a:p>
        </p:txBody>
      </p:sp>
      <p:sp>
        <p:nvSpPr>
          <p:cNvPr id="16" name="Parallelogram 15">
            <a:extLst>
              <a:ext uri="{FF2B5EF4-FFF2-40B4-BE49-F238E27FC236}">
                <a16:creationId xmlns:a16="http://schemas.microsoft.com/office/drawing/2014/main" id="{397CE1B3-F52E-349C-B41A-25FF36A61BB7}"/>
              </a:ext>
            </a:extLst>
          </p:cNvPr>
          <p:cNvSpPr/>
          <p:nvPr/>
        </p:nvSpPr>
        <p:spPr>
          <a:xfrm>
            <a:off x="685800" y="4774444"/>
            <a:ext cx="1238269" cy="840839"/>
          </a:xfrm>
          <a:prstGeom prst="parallelogram">
            <a:avLst>
              <a:gd name="adj" fmla="val 16558"/>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EB52FC00-698F-82CA-6DB2-DEBE27893055}"/>
              </a:ext>
            </a:extLst>
          </p:cNvPr>
          <p:cNvSpPr txBox="1"/>
          <p:nvPr/>
        </p:nvSpPr>
        <p:spPr>
          <a:xfrm>
            <a:off x="807720" y="4881914"/>
            <a:ext cx="1116349" cy="584775"/>
          </a:xfrm>
          <a:prstGeom prst="rect">
            <a:avLst/>
          </a:prstGeom>
          <a:noFill/>
        </p:spPr>
        <p:txBody>
          <a:bodyPr wrap="square" rtlCol="0">
            <a:spAutoFit/>
          </a:bodyPr>
          <a:lstStyle/>
          <a:p>
            <a:r>
              <a:rPr lang="en-US" sz="1600" dirty="0"/>
              <a:t>Temp</a:t>
            </a:r>
          </a:p>
          <a:p>
            <a:r>
              <a:rPr lang="en-US" sz="1600" dirty="0"/>
              <a:t>Sensor</a:t>
            </a:r>
          </a:p>
        </p:txBody>
      </p:sp>
      <p:sp>
        <p:nvSpPr>
          <p:cNvPr id="19" name="Parallelogram 18">
            <a:extLst>
              <a:ext uri="{FF2B5EF4-FFF2-40B4-BE49-F238E27FC236}">
                <a16:creationId xmlns:a16="http://schemas.microsoft.com/office/drawing/2014/main" id="{0CEB024C-458F-787A-2F9E-996669B761E7}"/>
              </a:ext>
            </a:extLst>
          </p:cNvPr>
          <p:cNvSpPr/>
          <p:nvPr/>
        </p:nvSpPr>
        <p:spPr>
          <a:xfrm>
            <a:off x="6975630" y="3307417"/>
            <a:ext cx="1360650" cy="840839"/>
          </a:xfrm>
          <a:prstGeom prst="parallelogram">
            <a:avLst>
              <a:gd name="adj" fmla="val 16558"/>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2FBDE2CF-EB9E-9F9A-7E2A-69C2FB498A81}"/>
              </a:ext>
            </a:extLst>
          </p:cNvPr>
          <p:cNvSpPr txBox="1"/>
          <p:nvPr/>
        </p:nvSpPr>
        <p:spPr>
          <a:xfrm>
            <a:off x="7097550" y="3414887"/>
            <a:ext cx="1116349" cy="584775"/>
          </a:xfrm>
          <a:prstGeom prst="rect">
            <a:avLst/>
          </a:prstGeom>
          <a:noFill/>
        </p:spPr>
        <p:txBody>
          <a:bodyPr wrap="square" rtlCol="0">
            <a:spAutoFit/>
          </a:bodyPr>
          <a:lstStyle/>
          <a:p>
            <a:r>
              <a:rPr lang="en-US" sz="1600" dirty="0"/>
              <a:t>Heat </a:t>
            </a:r>
          </a:p>
          <a:p>
            <a:r>
              <a:rPr lang="en-US" sz="1600" dirty="0"/>
              <a:t>Controller</a:t>
            </a:r>
          </a:p>
        </p:txBody>
      </p:sp>
      <p:sp>
        <p:nvSpPr>
          <p:cNvPr id="21" name="Left-Right Arrow 20">
            <a:extLst>
              <a:ext uri="{FF2B5EF4-FFF2-40B4-BE49-F238E27FC236}">
                <a16:creationId xmlns:a16="http://schemas.microsoft.com/office/drawing/2014/main" id="{0F554F60-61DD-D3D8-4B92-0B96A2C4A9EB}"/>
              </a:ext>
            </a:extLst>
          </p:cNvPr>
          <p:cNvSpPr/>
          <p:nvPr/>
        </p:nvSpPr>
        <p:spPr bwMode="auto">
          <a:xfrm>
            <a:off x="1674363" y="3195431"/>
            <a:ext cx="621793" cy="438912"/>
          </a:xfrm>
          <a:prstGeom prst="leftRightArrow">
            <a:avLst/>
          </a:prstGeom>
          <a:solidFill>
            <a:schemeClr val="accent3">
              <a:lumMod val="75000"/>
            </a:schemeClr>
          </a:solidFill>
          <a:ln w="9525" cap="flat" cmpd="sng" algn="ctr">
            <a:solidFill>
              <a:schemeClr val="accent3">
                <a:lumMod val="85000"/>
              </a:schemeClr>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23" name="Up Arrow 22">
            <a:extLst>
              <a:ext uri="{FF2B5EF4-FFF2-40B4-BE49-F238E27FC236}">
                <a16:creationId xmlns:a16="http://schemas.microsoft.com/office/drawing/2014/main" id="{BD3F5DCC-9ED7-F506-B4CE-E0556A1620B1}"/>
              </a:ext>
            </a:extLst>
          </p:cNvPr>
          <p:cNvSpPr/>
          <p:nvPr/>
        </p:nvSpPr>
        <p:spPr bwMode="auto">
          <a:xfrm rot="5400000">
            <a:off x="1759477" y="4758629"/>
            <a:ext cx="609600" cy="558982"/>
          </a:xfrm>
          <a:prstGeom prst="upArrow">
            <a:avLst/>
          </a:prstGeom>
          <a:solidFill>
            <a:schemeClr val="accent3">
              <a:lumMod val="75000"/>
            </a:schemeClr>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24" name="Up Arrow 23">
            <a:extLst>
              <a:ext uri="{FF2B5EF4-FFF2-40B4-BE49-F238E27FC236}">
                <a16:creationId xmlns:a16="http://schemas.microsoft.com/office/drawing/2014/main" id="{C2615935-2DE8-9E35-4AA9-8D6A0CE4D2DA}"/>
              </a:ext>
            </a:extLst>
          </p:cNvPr>
          <p:cNvSpPr/>
          <p:nvPr/>
        </p:nvSpPr>
        <p:spPr bwMode="auto">
          <a:xfrm rot="5400000">
            <a:off x="6512334" y="3448345"/>
            <a:ext cx="609600" cy="558982"/>
          </a:xfrm>
          <a:prstGeom prst="upArrow">
            <a:avLst/>
          </a:prstGeom>
          <a:solidFill>
            <a:schemeClr val="accent3">
              <a:lumMod val="75000"/>
            </a:schemeClr>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29" name="Oval 28">
            <a:extLst>
              <a:ext uri="{FF2B5EF4-FFF2-40B4-BE49-F238E27FC236}">
                <a16:creationId xmlns:a16="http://schemas.microsoft.com/office/drawing/2014/main" id="{22E727AF-7105-2BFC-A6D9-33EEACFF17FF}"/>
              </a:ext>
            </a:extLst>
          </p:cNvPr>
          <p:cNvSpPr/>
          <p:nvPr/>
        </p:nvSpPr>
        <p:spPr bwMode="auto">
          <a:xfrm>
            <a:off x="8022336" y="2979781"/>
            <a:ext cx="664464" cy="573024"/>
          </a:xfrm>
          <a:prstGeom prst="ellipse">
            <a:avLst/>
          </a:prstGeom>
          <a:solidFill>
            <a:schemeClr val="accent5"/>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ahoma" charset="0"/>
              </a:rPr>
              <a:t>10</a:t>
            </a:r>
          </a:p>
        </p:txBody>
      </p:sp>
      <p:grpSp>
        <p:nvGrpSpPr>
          <p:cNvPr id="36" name="Group 35">
            <a:extLst>
              <a:ext uri="{FF2B5EF4-FFF2-40B4-BE49-F238E27FC236}">
                <a16:creationId xmlns:a16="http://schemas.microsoft.com/office/drawing/2014/main" id="{6AEE46AF-EB1D-18EE-4DF8-07BCCF98EAE5}"/>
              </a:ext>
            </a:extLst>
          </p:cNvPr>
          <p:cNvGrpSpPr/>
          <p:nvPr/>
        </p:nvGrpSpPr>
        <p:grpSpPr>
          <a:xfrm>
            <a:off x="685800" y="2296310"/>
            <a:ext cx="499872" cy="2616052"/>
            <a:chOff x="685800" y="2296310"/>
            <a:chExt cx="499872" cy="2616052"/>
          </a:xfrm>
          <a:solidFill>
            <a:schemeClr val="accent5"/>
          </a:solidFill>
        </p:grpSpPr>
        <p:sp>
          <p:nvSpPr>
            <p:cNvPr id="25" name="Oval 24">
              <a:extLst>
                <a:ext uri="{FF2B5EF4-FFF2-40B4-BE49-F238E27FC236}">
                  <a16:creationId xmlns:a16="http://schemas.microsoft.com/office/drawing/2014/main" id="{E8E0376D-244F-1FB9-7539-3069F68E581C}"/>
                </a:ext>
              </a:extLst>
            </p:cNvPr>
            <p:cNvSpPr/>
            <p:nvPr/>
          </p:nvSpPr>
          <p:spPr bwMode="auto">
            <a:xfrm>
              <a:off x="758952" y="2296310"/>
              <a:ext cx="426720" cy="573024"/>
            </a:xfrm>
            <a:prstGeom prst="ellipse">
              <a:avLst/>
            </a:prstGeom>
            <a:grp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ahoma" charset="0"/>
                </a:rPr>
                <a:t>0</a:t>
              </a:r>
            </a:p>
          </p:txBody>
        </p:sp>
        <p:sp>
          <p:nvSpPr>
            <p:cNvPr id="26" name="Oval 25">
              <a:extLst>
                <a:ext uri="{FF2B5EF4-FFF2-40B4-BE49-F238E27FC236}">
                  <a16:creationId xmlns:a16="http://schemas.microsoft.com/office/drawing/2014/main" id="{320152EF-DE7F-D56C-9A74-D7AFC5608E13}"/>
                </a:ext>
              </a:extLst>
            </p:cNvPr>
            <p:cNvSpPr/>
            <p:nvPr/>
          </p:nvSpPr>
          <p:spPr bwMode="auto">
            <a:xfrm>
              <a:off x="685800" y="4339338"/>
              <a:ext cx="426720" cy="573024"/>
            </a:xfrm>
            <a:prstGeom prst="ellipse">
              <a:avLst/>
            </a:prstGeom>
            <a:grp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ahoma" charset="0"/>
                </a:rPr>
                <a:t>1</a:t>
              </a:r>
            </a:p>
          </p:txBody>
        </p:sp>
      </p:grpSp>
      <p:grpSp>
        <p:nvGrpSpPr>
          <p:cNvPr id="50" name="Group 49">
            <a:extLst>
              <a:ext uri="{FF2B5EF4-FFF2-40B4-BE49-F238E27FC236}">
                <a16:creationId xmlns:a16="http://schemas.microsoft.com/office/drawing/2014/main" id="{BEEF4E57-D0A0-0AB1-5475-E3DA87C7E7BE}"/>
              </a:ext>
            </a:extLst>
          </p:cNvPr>
          <p:cNvGrpSpPr/>
          <p:nvPr/>
        </p:nvGrpSpPr>
        <p:grpSpPr>
          <a:xfrm>
            <a:off x="2596335" y="4176456"/>
            <a:ext cx="3173529" cy="1290233"/>
            <a:chOff x="2596335" y="4176456"/>
            <a:chExt cx="3173529" cy="1290233"/>
          </a:xfrm>
        </p:grpSpPr>
        <p:grpSp>
          <p:nvGrpSpPr>
            <p:cNvPr id="38" name="Group 37">
              <a:extLst>
                <a:ext uri="{FF2B5EF4-FFF2-40B4-BE49-F238E27FC236}">
                  <a16:creationId xmlns:a16="http://schemas.microsoft.com/office/drawing/2014/main" id="{05B7B361-0D50-E044-9D8D-7E36072DE1F1}"/>
                </a:ext>
              </a:extLst>
            </p:cNvPr>
            <p:cNvGrpSpPr/>
            <p:nvPr/>
          </p:nvGrpSpPr>
          <p:grpSpPr>
            <a:xfrm>
              <a:off x="2596335" y="4176456"/>
              <a:ext cx="3173529" cy="837280"/>
              <a:chOff x="2596335" y="4176456"/>
              <a:chExt cx="3173529" cy="837280"/>
            </a:xfrm>
            <a:solidFill>
              <a:schemeClr val="accent5"/>
            </a:solidFill>
          </p:grpSpPr>
          <p:sp>
            <p:nvSpPr>
              <p:cNvPr id="31" name="Oval 30">
                <a:extLst>
                  <a:ext uri="{FF2B5EF4-FFF2-40B4-BE49-F238E27FC236}">
                    <a16:creationId xmlns:a16="http://schemas.microsoft.com/office/drawing/2014/main" id="{847032F3-0150-AEF9-84E6-D4E627917E6E}"/>
                  </a:ext>
                </a:extLst>
              </p:cNvPr>
              <p:cNvSpPr/>
              <p:nvPr/>
            </p:nvSpPr>
            <p:spPr bwMode="auto">
              <a:xfrm>
                <a:off x="2596335" y="4600076"/>
                <a:ext cx="368808" cy="413660"/>
              </a:xfrm>
              <a:prstGeom prst="ellipse">
                <a:avLst/>
              </a:prstGeom>
              <a:grp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sz="1600" dirty="0">
                    <a:latin typeface="Tahoma" charset="0"/>
                  </a:rPr>
                  <a:t>8</a:t>
                </a:r>
                <a:endParaRPr kumimoji="0" lang="en-US" sz="1600" b="0" i="0" u="none" strike="noStrike" cap="none" normalizeH="0" baseline="0" dirty="0">
                  <a:ln>
                    <a:noFill/>
                  </a:ln>
                  <a:solidFill>
                    <a:schemeClr val="tx1"/>
                  </a:solidFill>
                  <a:effectLst/>
                  <a:latin typeface="Tahoma" charset="0"/>
                </a:endParaRPr>
              </a:p>
            </p:txBody>
          </p:sp>
          <p:sp>
            <p:nvSpPr>
              <p:cNvPr id="32" name="Oval 31">
                <a:extLst>
                  <a:ext uri="{FF2B5EF4-FFF2-40B4-BE49-F238E27FC236}">
                    <a16:creationId xmlns:a16="http://schemas.microsoft.com/office/drawing/2014/main" id="{45E9EE10-31C5-FAA1-0A76-700782644786}"/>
                  </a:ext>
                </a:extLst>
              </p:cNvPr>
              <p:cNvSpPr/>
              <p:nvPr/>
            </p:nvSpPr>
            <p:spPr bwMode="auto">
              <a:xfrm>
                <a:off x="4017264" y="4176456"/>
                <a:ext cx="368808" cy="413660"/>
              </a:xfrm>
              <a:prstGeom prst="ellipse">
                <a:avLst/>
              </a:prstGeom>
              <a:grp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Tahoma" charset="0"/>
                  </a:rPr>
                  <a:t>7</a:t>
                </a:r>
              </a:p>
            </p:txBody>
          </p:sp>
          <p:sp>
            <p:nvSpPr>
              <p:cNvPr id="35" name="Oval 34">
                <a:extLst>
                  <a:ext uri="{FF2B5EF4-FFF2-40B4-BE49-F238E27FC236}">
                    <a16:creationId xmlns:a16="http://schemas.microsoft.com/office/drawing/2014/main" id="{1C49CDDC-5CBB-3E79-27B0-A02A7D4A4591}"/>
                  </a:ext>
                </a:extLst>
              </p:cNvPr>
              <p:cNvSpPr/>
              <p:nvPr/>
            </p:nvSpPr>
            <p:spPr bwMode="auto">
              <a:xfrm>
                <a:off x="5401056" y="4402008"/>
                <a:ext cx="368808" cy="413660"/>
              </a:xfrm>
              <a:prstGeom prst="ellipse">
                <a:avLst/>
              </a:prstGeom>
              <a:grp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sz="1600" dirty="0">
                    <a:latin typeface="Tahoma" charset="0"/>
                  </a:rPr>
                  <a:t>9</a:t>
                </a:r>
                <a:endParaRPr kumimoji="0" lang="en-US" sz="1600" b="0" i="0" u="none" strike="noStrike" cap="none" normalizeH="0" baseline="0" dirty="0">
                  <a:ln>
                    <a:noFill/>
                  </a:ln>
                  <a:solidFill>
                    <a:schemeClr val="tx1"/>
                  </a:solidFill>
                  <a:effectLst/>
                  <a:latin typeface="Tahoma" charset="0"/>
                </a:endParaRPr>
              </a:p>
            </p:txBody>
          </p:sp>
        </p:grpSp>
        <p:sp>
          <p:nvSpPr>
            <p:cNvPr id="27" name="Oval 26">
              <a:extLst>
                <a:ext uri="{FF2B5EF4-FFF2-40B4-BE49-F238E27FC236}">
                  <a16:creationId xmlns:a16="http://schemas.microsoft.com/office/drawing/2014/main" id="{960E570D-ADDF-374E-4D59-8285A3C29E88}"/>
                </a:ext>
              </a:extLst>
            </p:cNvPr>
            <p:cNvSpPr/>
            <p:nvPr/>
          </p:nvSpPr>
          <p:spPr bwMode="auto">
            <a:xfrm>
              <a:off x="3368040" y="5053029"/>
              <a:ext cx="368808" cy="413660"/>
            </a:xfrm>
            <a:prstGeom prst="ellipse">
              <a:avLst/>
            </a:prstGeom>
            <a:solidFill>
              <a:schemeClr val="accent5"/>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sz="1600" dirty="0">
                  <a:latin typeface="Tahoma" charset="0"/>
                </a:rPr>
                <a:t>6</a:t>
              </a:r>
              <a:endParaRPr kumimoji="0" lang="en-US" sz="1600" b="0" i="0" u="none" strike="noStrike" cap="none" normalizeH="0" baseline="0" dirty="0">
                <a:ln>
                  <a:noFill/>
                </a:ln>
                <a:solidFill>
                  <a:schemeClr val="tx1"/>
                </a:solidFill>
                <a:effectLst/>
                <a:latin typeface="Tahoma" charset="0"/>
              </a:endParaRPr>
            </a:p>
          </p:txBody>
        </p:sp>
      </p:grpSp>
      <p:sp>
        <p:nvSpPr>
          <p:cNvPr id="28" name="Oval 27">
            <a:extLst>
              <a:ext uri="{FF2B5EF4-FFF2-40B4-BE49-F238E27FC236}">
                <a16:creationId xmlns:a16="http://schemas.microsoft.com/office/drawing/2014/main" id="{2CF6DCA7-74CD-5A9D-85AE-B35BB891489B}"/>
              </a:ext>
            </a:extLst>
          </p:cNvPr>
          <p:cNvSpPr/>
          <p:nvPr/>
        </p:nvSpPr>
        <p:spPr bwMode="auto">
          <a:xfrm>
            <a:off x="3368040" y="3932788"/>
            <a:ext cx="368808" cy="413660"/>
          </a:xfrm>
          <a:prstGeom prst="ellipse">
            <a:avLst/>
          </a:prstGeom>
          <a:solidFill>
            <a:schemeClr val="accent5"/>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Tahoma" charset="0"/>
              </a:rPr>
              <a:t>2</a:t>
            </a:r>
          </a:p>
        </p:txBody>
      </p:sp>
      <p:sp>
        <p:nvSpPr>
          <p:cNvPr id="30" name="Oval 29">
            <a:extLst>
              <a:ext uri="{FF2B5EF4-FFF2-40B4-BE49-F238E27FC236}">
                <a16:creationId xmlns:a16="http://schemas.microsoft.com/office/drawing/2014/main" id="{CA7508D9-27C0-0DE1-EBBC-F84C244E0BB8}"/>
              </a:ext>
            </a:extLst>
          </p:cNvPr>
          <p:cNvSpPr/>
          <p:nvPr/>
        </p:nvSpPr>
        <p:spPr bwMode="auto">
          <a:xfrm>
            <a:off x="3876825" y="3024484"/>
            <a:ext cx="368808" cy="413660"/>
          </a:xfrm>
          <a:prstGeom prst="ellipse">
            <a:avLst/>
          </a:prstGeom>
          <a:solidFill>
            <a:schemeClr val="accent5"/>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sz="1600" dirty="0">
                <a:latin typeface="Tahoma" charset="0"/>
              </a:rPr>
              <a:t>3</a:t>
            </a:r>
            <a:endParaRPr kumimoji="0" lang="en-US" sz="1600" b="0" i="0" u="none" strike="noStrike" cap="none" normalizeH="0" baseline="0" dirty="0">
              <a:ln>
                <a:noFill/>
              </a:ln>
              <a:solidFill>
                <a:schemeClr val="tx1"/>
              </a:solidFill>
              <a:effectLst/>
              <a:latin typeface="Tahoma" charset="0"/>
            </a:endParaRPr>
          </a:p>
        </p:txBody>
      </p:sp>
      <p:sp>
        <p:nvSpPr>
          <p:cNvPr id="33" name="Oval 32">
            <a:extLst>
              <a:ext uri="{FF2B5EF4-FFF2-40B4-BE49-F238E27FC236}">
                <a16:creationId xmlns:a16="http://schemas.microsoft.com/office/drawing/2014/main" id="{9F9D0528-28F8-5FC4-0E1E-986130A51F78}"/>
              </a:ext>
            </a:extLst>
          </p:cNvPr>
          <p:cNvSpPr/>
          <p:nvPr/>
        </p:nvSpPr>
        <p:spPr bwMode="auto">
          <a:xfrm>
            <a:off x="2578377" y="3396340"/>
            <a:ext cx="368808" cy="413660"/>
          </a:xfrm>
          <a:prstGeom prst="ellipse">
            <a:avLst/>
          </a:prstGeom>
          <a:solidFill>
            <a:schemeClr val="accent5"/>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sz="1600" dirty="0">
                <a:latin typeface="Tahoma" charset="0"/>
              </a:rPr>
              <a:t>4</a:t>
            </a:r>
            <a:endParaRPr kumimoji="0" lang="en-US" sz="1600" b="0" i="0" u="none" strike="noStrike" cap="none" normalizeH="0" baseline="0" dirty="0">
              <a:ln>
                <a:noFill/>
              </a:ln>
              <a:solidFill>
                <a:schemeClr val="tx1"/>
              </a:solidFill>
              <a:effectLst/>
              <a:latin typeface="Tahoma" charset="0"/>
            </a:endParaRPr>
          </a:p>
        </p:txBody>
      </p:sp>
      <p:sp>
        <p:nvSpPr>
          <p:cNvPr id="34" name="Oval 33">
            <a:extLst>
              <a:ext uri="{FF2B5EF4-FFF2-40B4-BE49-F238E27FC236}">
                <a16:creationId xmlns:a16="http://schemas.microsoft.com/office/drawing/2014/main" id="{D50B2946-27FA-BB95-70C6-AA244CFAA866}"/>
              </a:ext>
            </a:extLst>
          </p:cNvPr>
          <p:cNvSpPr/>
          <p:nvPr/>
        </p:nvSpPr>
        <p:spPr bwMode="auto">
          <a:xfrm>
            <a:off x="5998233" y="3414628"/>
            <a:ext cx="368808" cy="413660"/>
          </a:xfrm>
          <a:prstGeom prst="ellipse">
            <a:avLst/>
          </a:prstGeom>
          <a:solidFill>
            <a:schemeClr val="accent5"/>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sz="1600" dirty="0">
                <a:latin typeface="Tahoma" charset="0"/>
              </a:rPr>
              <a:t>5</a:t>
            </a:r>
            <a:endParaRPr kumimoji="0" lang="en-US" sz="1600" b="0" i="0" u="none" strike="noStrike" cap="none" normalizeH="0" baseline="0" dirty="0">
              <a:ln>
                <a:noFill/>
              </a:ln>
              <a:solidFill>
                <a:schemeClr val="tx1"/>
              </a:solidFill>
              <a:effectLst/>
              <a:latin typeface="Tahoma" charset="0"/>
            </a:endParaRPr>
          </a:p>
        </p:txBody>
      </p:sp>
      <p:sp>
        <p:nvSpPr>
          <p:cNvPr id="4" name="TextBox 3">
            <a:extLst>
              <a:ext uri="{FF2B5EF4-FFF2-40B4-BE49-F238E27FC236}">
                <a16:creationId xmlns:a16="http://schemas.microsoft.com/office/drawing/2014/main" id="{9FC987E4-EB01-55A6-AB39-90F46F5BABBA}"/>
              </a:ext>
            </a:extLst>
          </p:cNvPr>
          <p:cNvSpPr txBox="1"/>
          <p:nvPr/>
        </p:nvSpPr>
        <p:spPr>
          <a:xfrm>
            <a:off x="2439589" y="5473005"/>
            <a:ext cx="6266331" cy="1200329"/>
          </a:xfrm>
          <a:prstGeom prst="rect">
            <a:avLst/>
          </a:prstGeom>
          <a:noFill/>
        </p:spPr>
        <p:txBody>
          <a:bodyPr wrap="square" rtlCol="0">
            <a:spAutoFit/>
          </a:bodyPr>
          <a:lstStyle/>
          <a:p>
            <a:pPr marL="342900" indent="-342900">
              <a:buFont typeface="Arial" panose="020B0604020202020204" pitchFamily="34" charset="0"/>
              <a:buChar char="•"/>
            </a:pPr>
            <a:r>
              <a:rPr lang="en-US" sz="900" dirty="0"/>
              <a:t>For example, from the structure and data dependence determined by connections above, we can see that the Regulate components are independent of the Monitor (safety) components.</a:t>
            </a:r>
          </a:p>
          <a:p>
            <a:pPr marL="342900" indent="-342900">
              <a:buFont typeface="Arial" panose="020B0604020202020204" pitchFamily="34" charset="0"/>
              <a:buChar char="•"/>
            </a:pPr>
            <a:r>
              <a:rPr lang="en-US" sz="900" dirty="0"/>
              <a:t>Theoretically, this indicates that Regulate components can be commuted with Monitor components without changing the semantics of the abstract functions computed by the subsystem</a:t>
            </a:r>
          </a:p>
          <a:p>
            <a:pPr marL="342900" indent="-342900">
              <a:buFont typeface="Arial" panose="020B0604020202020204" pitchFamily="34" charset="0"/>
              <a:buChar char="•"/>
            </a:pPr>
            <a:r>
              <a:rPr lang="en-US" sz="900" b="1" dirty="0"/>
              <a:t>Takeaway</a:t>
            </a:r>
            <a:r>
              <a:rPr lang="en-US" sz="900" dirty="0"/>
              <a:t>:  This indicates that we may want to work with an abstraction of a static schedule (e.g., a partial ordering) that only indicates dependences between task execution.  Intuitively, we will key on determining which predecessor task post-conditions are relevant for determining pre-conditions for a task.  Such predecessor tasks may not be the </a:t>
            </a:r>
            <a:r>
              <a:rPr lang="en-US" sz="900" i="1" dirty="0"/>
              <a:t>immediate predecessors </a:t>
            </a:r>
            <a:r>
              <a:rPr lang="en-US" sz="900" dirty="0"/>
              <a:t>of the successor task in the static schedule.</a:t>
            </a:r>
          </a:p>
        </p:txBody>
      </p:sp>
      <p:sp>
        <p:nvSpPr>
          <p:cNvPr id="6" name="Rectangle 5">
            <a:extLst>
              <a:ext uri="{FF2B5EF4-FFF2-40B4-BE49-F238E27FC236}">
                <a16:creationId xmlns:a16="http://schemas.microsoft.com/office/drawing/2014/main" id="{59CB632C-0378-D8DC-275D-2A0D1D455352}"/>
              </a:ext>
            </a:extLst>
          </p:cNvPr>
          <p:cNvSpPr/>
          <p:nvPr/>
        </p:nvSpPr>
        <p:spPr bwMode="auto">
          <a:xfrm>
            <a:off x="2418408" y="2979780"/>
            <a:ext cx="3996854" cy="1168475"/>
          </a:xfrm>
          <a:prstGeom prst="rect">
            <a:avLst/>
          </a:prstGeom>
          <a:noFill/>
          <a:ln w="38100" cap="flat" cmpd="sng" algn="ctr">
            <a:solidFill>
              <a:srgbClr val="FF0000"/>
            </a:solidFill>
            <a:prstDash val="dash"/>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7" name="Rectangle 6">
            <a:extLst>
              <a:ext uri="{FF2B5EF4-FFF2-40B4-BE49-F238E27FC236}">
                <a16:creationId xmlns:a16="http://schemas.microsoft.com/office/drawing/2014/main" id="{479B1866-1627-E38A-E670-66502AD1CCBA}"/>
              </a:ext>
            </a:extLst>
          </p:cNvPr>
          <p:cNvSpPr/>
          <p:nvPr/>
        </p:nvSpPr>
        <p:spPr bwMode="auto">
          <a:xfrm>
            <a:off x="2411129" y="4213772"/>
            <a:ext cx="3996854" cy="1168475"/>
          </a:xfrm>
          <a:prstGeom prst="rect">
            <a:avLst/>
          </a:prstGeom>
          <a:noFill/>
          <a:ln w="38100" cap="flat" cmpd="sng" algn="ctr">
            <a:solidFill>
              <a:srgbClr val="FF0000"/>
            </a:solidFill>
            <a:prstDash val="dash"/>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8" name="Text Box 12">
            <a:extLst>
              <a:ext uri="{FF2B5EF4-FFF2-40B4-BE49-F238E27FC236}">
                <a16:creationId xmlns:a16="http://schemas.microsoft.com/office/drawing/2014/main" id="{3BFA4B06-C0C2-8D10-C661-9EBF18AA93AB}"/>
              </a:ext>
            </a:extLst>
          </p:cNvPr>
          <p:cNvSpPr txBox="1">
            <a:spLocks noChangeArrowheads="1"/>
          </p:cNvSpPr>
          <p:nvPr/>
        </p:nvSpPr>
        <p:spPr bwMode="auto">
          <a:xfrm>
            <a:off x="5642719" y="2807059"/>
            <a:ext cx="990600" cy="276999"/>
          </a:xfrm>
          <a:prstGeom prst="rect">
            <a:avLst/>
          </a:prstGeom>
          <a:solidFill>
            <a:schemeClr val="accent2"/>
          </a:solidFill>
          <a:ln w="12700">
            <a:solidFill>
              <a:schemeClr val="tx1"/>
            </a:solidFill>
            <a:miter lim="800000"/>
            <a:headEnd/>
            <a:tailEnd/>
          </a:ln>
          <a:effectLst>
            <a:outerShdw blurRad="63500" dist="35921" dir="2700000" algn="ctr" rotWithShape="0">
              <a:schemeClr val="bg2"/>
            </a:outerShdw>
          </a:effectLst>
        </p:spPr>
        <p:txBody>
          <a:bodyPr wrap="square" anchor="ctr">
            <a:prstTxWarp prst="textNoShape">
              <a:avLst/>
            </a:prstTxWarp>
            <a:spAutoFit/>
          </a:bodyPr>
          <a:lstStyle/>
          <a:p>
            <a:pPr algn="l"/>
            <a:r>
              <a:rPr lang="en-US" sz="1200" i="1" dirty="0"/>
              <a:t>Regulate</a:t>
            </a:r>
          </a:p>
        </p:txBody>
      </p:sp>
      <p:sp>
        <p:nvSpPr>
          <p:cNvPr id="9" name="Text Box 12">
            <a:extLst>
              <a:ext uri="{FF2B5EF4-FFF2-40B4-BE49-F238E27FC236}">
                <a16:creationId xmlns:a16="http://schemas.microsoft.com/office/drawing/2014/main" id="{498DC693-349C-8F85-A444-0F8F1CB11A0F}"/>
              </a:ext>
            </a:extLst>
          </p:cNvPr>
          <p:cNvSpPr txBox="1">
            <a:spLocks noChangeArrowheads="1"/>
          </p:cNvSpPr>
          <p:nvPr/>
        </p:nvSpPr>
        <p:spPr bwMode="auto">
          <a:xfrm>
            <a:off x="5704614" y="5194863"/>
            <a:ext cx="990600" cy="276999"/>
          </a:xfrm>
          <a:prstGeom prst="rect">
            <a:avLst/>
          </a:prstGeom>
          <a:solidFill>
            <a:schemeClr val="accent2"/>
          </a:solidFill>
          <a:ln w="12700">
            <a:solidFill>
              <a:schemeClr val="tx1"/>
            </a:solidFill>
            <a:miter lim="800000"/>
            <a:headEnd/>
            <a:tailEnd/>
          </a:ln>
          <a:effectLst>
            <a:outerShdw blurRad="63500" dist="35921" dir="2700000" algn="ctr" rotWithShape="0">
              <a:schemeClr val="bg2"/>
            </a:outerShdw>
          </a:effectLst>
        </p:spPr>
        <p:txBody>
          <a:bodyPr wrap="square" anchor="ctr">
            <a:prstTxWarp prst="textNoShape">
              <a:avLst/>
            </a:prstTxWarp>
            <a:spAutoFit/>
          </a:bodyPr>
          <a:lstStyle/>
          <a:p>
            <a:pPr algn="l"/>
            <a:r>
              <a:rPr lang="en-US" sz="1200" i="1" dirty="0"/>
              <a:t>Monitor</a:t>
            </a:r>
          </a:p>
        </p:txBody>
      </p:sp>
    </p:spTree>
    <p:extLst>
      <p:ext uri="{BB962C8B-B14F-4D97-AF65-F5344CB8AC3E}">
        <p14:creationId xmlns:p14="http://schemas.microsoft.com/office/powerpoint/2010/main" val="656948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6943E-301A-EF15-8E6C-3B639B1F0926}"/>
              </a:ext>
            </a:extLst>
          </p:cNvPr>
          <p:cNvSpPr>
            <a:spLocks noGrp="1"/>
          </p:cNvSpPr>
          <p:nvPr>
            <p:ph type="title"/>
          </p:nvPr>
        </p:nvSpPr>
        <p:spPr/>
        <p:txBody>
          <a:bodyPr/>
          <a:lstStyle/>
          <a:p>
            <a:r>
              <a:rPr lang="en-US" dirty="0"/>
              <a:t>Control Points (States?)</a:t>
            </a:r>
          </a:p>
        </p:txBody>
      </p:sp>
      <p:sp>
        <p:nvSpPr>
          <p:cNvPr id="4" name="Content Placeholder 3">
            <a:extLst>
              <a:ext uri="{FF2B5EF4-FFF2-40B4-BE49-F238E27FC236}">
                <a16:creationId xmlns:a16="http://schemas.microsoft.com/office/drawing/2014/main" id="{240271F2-D9A0-32DB-C951-5A7D6BAD64B9}"/>
              </a:ext>
            </a:extLst>
          </p:cNvPr>
          <p:cNvSpPr>
            <a:spLocks noGrp="1"/>
          </p:cNvSpPr>
          <p:nvPr>
            <p:ph idx="1"/>
          </p:nvPr>
        </p:nvSpPr>
        <p:spPr/>
        <p:txBody>
          <a:bodyPr/>
          <a:lstStyle/>
          <a:p>
            <a:r>
              <a:rPr lang="en-US" sz="1800" dirty="0"/>
              <a:t>A set of </a:t>
            </a:r>
            <a:r>
              <a:rPr lang="en-US" sz="1800" i="1" dirty="0"/>
              <a:t>control points</a:t>
            </a:r>
            <a:r>
              <a:rPr lang="en-US" sz="1800" dirty="0"/>
              <a:t> and </a:t>
            </a:r>
            <a:r>
              <a:rPr lang="en-US" sz="1800" i="1" dirty="0"/>
              <a:t>control constraints </a:t>
            </a:r>
            <a:r>
              <a:rPr lang="en-US" sz="1800" dirty="0"/>
              <a:t>together form a </a:t>
            </a:r>
            <a:r>
              <a:rPr lang="en-US" sz="1800" i="1" dirty="0"/>
              <a:t>control graph (structure?) </a:t>
            </a:r>
            <a:r>
              <a:rPr lang="en-US" sz="1800" dirty="0"/>
              <a:t>that abstractly indicates designed ordering on atomic and aggregate components that is relied on to achieve functional behavior</a:t>
            </a:r>
          </a:p>
          <a:p>
            <a:r>
              <a:rPr lang="en-US" sz="1800" dirty="0"/>
              <a:t>A HAMR schedule must conform to the control graph; the control graph serves as an abstraction of a schedule.</a:t>
            </a:r>
          </a:p>
          <a:p>
            <a:pPr lvl="1"/>
            <a:r>
              <a:rPr lang="en-US" sz="1600" dirty="0"/>
              <a:t>Example: control graphs control constraints are a partial order and a static schedule is a total order that conforms to the partial order</a:t>
            </a:r>
          </a:p>
          <a:p>
            <a:r>
              <a:rPr lang="en-US" sz="1800" dirty="0"/>
              <a:t>Compositional verification is carried out </a:t>
            </a:r>
            <a:r>
              <a:rPr lang="en-US" sz="1800" dirty="0" err="1"/>
              <a:t>wrt</a:t>
            </a:r>
            <a:r>
              <a:rPr lang="en-US" sz="1800" dirty="0"/>
              <a:t> the control graph.  This enables verification </a:t>
            </a:r>
            <a:r>
              <a:rPr lang="en-US" sz="1800" dirty="0" err="1"/>
              <a:t>wrt</a:t>
            </a:r>
            <a:r>
              <a:rPr lang="en-US" sz="1800" dirty="0"/>
              <a:t> an ordering abstraction, allowing the verification to be sound for all schedules that conform to the control graph</a:t>
            </a:r>
          </a:p>
          <a:p>
            <a:r>
              <a:rPr lang="en-US" sz="1800" dirty="0"/>
              <a:t>The absence of </a:t>
            </a:r>
            <a:r>
              <a:rPr lang="en-US" sz="1800" dirty="0" err="1"/>
              <a:t>constaints</a:t>
            </a:r>
            <a:r>
              <a:rPr lang="en-US" sz="1800" dirty="0"/>
              <a:t> (including transitive constraints) between components in the control graph indicates </a:t>
            </a:r>
            <a:r>
              <a:rPr lang="en-US" sz="1800" i="1" dirty="0"/>
              <a:t>independence</a:t>
            </a:r>
            <a:r>
              <a:rPr lang="en-US" sz="1800" dirty="0"/>
              <a:t> – the ability of executions of the components to be reordered without impacting the property-observed functionality of the system</a:t>
            </a:r>
          </a:p>
          <a:p>
            <a:endParaRPr lang="en-US" sz="1800" dirty="0"/>
          </a:p>
        </p:txBody>
      </p:sp>
      <p:sp>
        <p:nvSpPr>
          <p:cNvPr id="3" name="Slide Number Placeholder 2">
            <a:extLst>
              <a:ext uri="{FF2B5EF4-FFF2-40B4-BE49-F238E27FC236}">
                <a16:creationId xmlns:a16="http://schemas.microsoft.com/office/drawing/2014/main" id="{E8AFC7CE-B594-076E-4F7A-78F93A35BDDF}"/>
              </a:ext>
            </a:extLst>
          </p:cNvPr>
          <p:cNvSpPr>
            <a:spLocks noGrp="1"/>
          </p:cNvSpPr>
          <p:nvPr>
            <p:ph type="sldNum" sz="quarter" idx="11"/>
          </p:nvPr>
        </p:nvSpPr>
        <p:spPr/>
        <p:txBody>
          <a:bodyPr/>
          <a:lstStyle/>
          <a:p>
            <a:pPr>
              <a:defRPr/>
            </a:pPr>
            <a:fld id="{6E0AA622-F4CE-604D-A669-CD3D12FC535C}" type="slidenum">
              <a:rPr lang="en-US" smtClean="0"/>
              <a:pPr>
                <a:defRPr/>
              </a:pPr>
              <a:t>6</a:t>
            </a:fld>
            <a:endParaRPr lang="en-US"/>
          </a:p>
        </p:txBody>
      </p:sp>
      <p:sp>
        <p:nvSpPr>
          <p:cNvPr id="5" name="TextBox 4">
            <a:extLst>
              <a:ext uri="{FF2B5EF4-FFF2-40B4-BE49-F238E27FC236}">
                <a16:creationId xmlns:a16="http://schemas.microsoft.com/office/drawing/2014/main" id="{D1DECDDF-F91B-399F-BEF4-1317E4BD9DFB}"/>
              </a:ext>
            </a:extLst>
          </p:cNvPr>
          <p:cNvSpPr txBox="1"/>
          <p:nvPr/>
        </p:nvSpPr>
        <p:spPr>
          <a:xfrm>
            <a:off x="609600" y="6320135"/>
            <a:ext cx="7772400" cy="461665"/>
          </a:xfrm>
          <a:prstGeom prst="rect">
            <a:avLst/>
          </a:prstGeom>
          <a:noFill/>
        </p:spPr>
        <p:txBody>
          <a:bodyPr wrap="square" rtlCol="0">
            <a:spAutoFit/>
          </a:bodyPr>
          <a:lstStyle/>
          <a:p>
            <a:r>
              <a:rPr lang="en-US" sz="1200" b="1" dirty="0"/>
              <a:t>Note</a:t>
            </a:r>
            <a:r>
              <a:rPr lang="en-US" sz="1200" dirty="0"/>
              <a:t>: some aspects of this were prototyped in the “may follow” and “may proceed” relations and associated verification framework in HAMR Micro 2 models</a:t>
            </a:r>
          </a:p>
        </p:txBody>
      </p:sp>
    </p:spTree>
    <p:extLst>
      <p:ext uri="{BB962C8B-B14F-4D97-AF65-F5344CB8AC3E}">
        <p14:creationId xmlns:p14="http://schemas.microsoft.com/office/powerpoint/2010/main" val="6223499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0B7E7-6B12-621C-4939-EB722B61E842}"/>
              </a:ext>
            </a:extLst>
          </p:cNvPr>
          <p:cNvSpPr>
            <a:spLocks noGrp="1"/>
          </p:cNvSpPr>
          <p:nvPr>
            <p:ph type="title"/>
          </p:nvPr>
        </p:nvSpPr>
        <p:spPr/>
        <p:txBody>
          <a:bodyPr/>
          <a:lstStyle/>
          <a:p>
            <a:r>
              <a:rPr lang="en-US" dirty="0"/>
              <a:t>Control Graph - Intuition</a:t>
            </a:r>
          </a:p>
        </p:txBody>
      </p:sp>
      <p:sp>
        <p:nvSpPr>
          <p:cNvPr id="4" name="Slide Number Placeholder 3">
            <a:extLst>
              <a:ext uri="{FF2B5EF4-FFF2-40B4-BE49-F238E27FC236}">
                <a16:creationId xmlns:a16="http://schemas.microsoft.com/office/drawing/2014/main" id="{E24EC007-CDEA-72E5-87F0-CCDEA60542B0}"/>
              </a:ext>
            </a:extLst>
          </p:cNvPr>
          <p:cNvSpPr>
            <a:spLocks noGrp="1"/>
          </p:cNvSpPr>
          <p:nvPr>
            <p:ph type="sldNum" sz="quarter" idx="11"/>
          </p:nvPr>
        </p:nvSpPr>
        <p:spPr/>
        <p:txBody>
          <a:bodyPr/>
          <a:lstStyle/>
          <a:p>
            <a:pPr>
              <a:defRPr/>
            </a:pPr>
            <a:fld id="{C22399C2-1ADD-1549-9753-CEA7C1EED1B8}" type="slidenum">
              <a:rPr lang="en-US" smtClean="0"/>
              <a:pPr>
                <a:defRPr/>
              </a:pPr>
              <a:t>7</a:t>
            </a:fld>
            <a:endParaRPr lang="en-US"/>
          </a:p>
        </p:txBody>
      </p:sp>
      <p:pic>
        <p:nvPicPr>
          <p:cNvPr id="5" name="Picture 4">
            <a:extLst>
              <a:ext uri="{FF2B5EF4-FFF2-40B4-BE49-F238E27FC236}">
                <a16:creationId xmlns:a16="http://schemas.microsoft.com/office/drawing/2014/main" id="{5D30A867-CEB4-593C-E59C-973A35043D4B}"/>
              </a:ext>
            </a:extLst>
          </p:cNvPr>
          <p:cNvPicPr>
            <a:picLocks noChangeAspect="1"/>
          </p:cNvPicPr>
          <p:nvPr/>
        </p:nvPicPr>
        <p:blipFill>
          <a:blip r:embed="rId2"/>
          <a:stretch>
            <a:fillRect/>
          </a:stretch>
        </p:blipFill>
        <p:spPr>
          <a:xfrm>
            <a:off x="2209800" y="1524000"/>
            <a:ext cx="4419600" cy="2057942"/>
          </a:xfrm>
          <a:prstGeom prst="rect">
            <a:avLst/>
          </a:prstGeom>
        </p:spPr>
      </p:pic>
      <p:sp>
        <p:nvSpPr>
          <p:cNvPr id="6" name="TextBox 5">
            <a:extLst>
              <a:ext uri="{FF2B5EF4-FFF2-40B4-BE49-F238E27FC236}">
                <a16:creationId xmlns:a16="http://schemas.microsoft.com/office/drawing/2014/main" id="{230CCE55-EF35-E5C9-CB07-DC53ADF40EEE}"/>
              </a:ext>
            </a:extLst>
          </p:cNvPr>
          <p:cNvSpPr txBox="1"/>
          <p:nvPr/>
        </p:nvSpPr>
        <p:spPr>
          <a:xfrm>
            <a:off x="1752600" y="4419600"/>
            <a:ext cx="1883849" cy="1200329"/>
          </a:xfrm>
          <a:prstGeom prst="rect">
            <a:avLst/>
          </a:prstGeom>
          <a:noFill/>
        </p:spPr>
        <p:txBody>
          <a:bodyPr wrap="none" rtlCol="0">
            <a:spAutoFit/>
          </a:bodyPr>
          <a:lstStyle/>
          <a:p>
            <a:r>
              <a:rPr lang="en-US" dirty="0"/>
              <a:t>DRF &lt; MRM</a:t>
            </a:r>
          </a:p>
          <a:p>
            <a:r>
              <a:rPr lang="en-US" dirty="0"/>
              <a:t>MRI &lt; MRM</a:t>
            </a:r>
          </a:p>
          <a:p>
            <a:r>
              <a:rPr lang="en-US" dirty="0"/>
              <a:t>MRM &lt; MHS</a:t>
            </a:r>
          </a:p>
        </p:txBody>
      </p:sp>
      <p:sp>
        <p:nvSpPr>
          <p:cNvPr id="7" name="TextBox 6">
            <a:extLst>
              <a:ext uri="{FF2B5EF4-FFF2-40B4-BE49-F238E27FC236}">
                <a16:creationId xmlns:a16="http://schemas.microsoft.com/office/drawing/2014/main" id="{DEA1A84F-EC40-B608-9D41-B989C0682728}"/>
              </a:ext>
            </a:extLst>
          </p:cNvPr>
          <p:cNvSpPr txBox="1"/>
          <p:nvPr/>
        </p:nvSpPr>
        <p:spPr>
          <a:xfrm>
            <a:off x="4876800" y="4419600"/>
            <a:ext cx="1947969" cy="1200329"/>
          </a:xfrm>
          <a:prstGeom prst="rect">
            <a:avLst/>
          </a:prstGeom>
          <a:noFill/>
        </p:spPr>
        <p:txBody>
          <a:bodyPr wrap="none" rtlCol="0">
            <a:spAutoFit/>
          </a:bodyPr>
          <a:lstStyle/>
          <a:p>
            <a:r>
              <a:rPr lang="en-US" dirty="0"/>
              <a:t>DMF &lt; MMM</a:t>
            </a:r>
          </a:p>
          <a:p>
            <a:r>
              <a:rPr lang="en-US" dirty="0"/>
              <a:t>MMI &lt; MMM</a:t>
            </a:r>
          </a:p>
          <a:p>
            <a:r>
              <a:rPr lang="en-US" dirty="0"/>
              <a:t>MMM &lt; MA</a:t>
            </a:r>
          </a:p>
        </p:txBody>
      </p:sp>
      <p:sp>
        <p:nvSpPr>
          <p:cNvPr id="8" name="TextBox 7">
            <a:extLst>
              <a:ext uri="{FF2B5EF4-FFF2-40B4-BE49-F238E27FC236}">
                <a16:creationId xmlns:a16="http://schemas.microsoft.com/office/drawing/2014/main" id="{4AD8C8BF-62A3-FC4B-D720-B98C66A5C833}"/>
              </a:ext>
            </a:extLst>
          </p:cNvPr>
          <p:cNvSpPr txBox="1"/>
          <p:nvPr/>
        </p:nvSpPr>
        <p:spPr>
          <a:xfrm>
            <a:off x="1295400" y="4081046"/>
            <a:ext cx="2626104" cy="338554"/>
          </a:xfrm>
          <a:prstGeom prst="rect">
            <a:avLst/>
          </a:prstGeom>
          <a:noFill/>
        </p:spPr>
        <p:txBody>
          <a:bodyPr wrap="none" rtlCol="0">
            <a:spAutoFit/>
          </a:bodyPr>
          <a:lstStyle/>
          <a:p>
            <a:r>
              <a:rPr lang="en-US" sz="1600" i="1" u="sng" dirty="0"/>
              <a:t>Regulate Subsystem Group</a:t>
            </a:r>
          </a:p>
        </p:txBody>
      </p:sp>
      <p:sp>
        <p:nvSpPr>
          <p:cNvPr id="9" name="TextBox 8">
            <a:extLst>
              <a:ext uri="{FF2B5EF4-FFF2-40B4-BE49-F238E27FC236}">
                <a16:creationId xmlns:a16="http://schemas.microsoft.com/office/drawing/2014/main" id="{33D8172F-B915-CE64-9A55-0C37986AEE6E}"/>
              </a:ext>
            </a:extLst>
          </p:cNvPr>
          <p:cNvSpPr txBox="1"/>
          <p:nvPr/>
        </p:nvSpPr>
        <p:spPr>
          <a:xfrm>
            <a:off x="4794455" y="4081046"/>
            <a:ext cx="1911485" cy="338554"/>
          </a:xfrm>
          <a:prstGeom prst="rect">
            <a:avLst/>
          </a:prstGeom>
          <a:noFill/>
        </p:spPr>
        <p:txBody>
          <a:bodyPr wrap="none" rtlCol="0">
            <a:spAutoFit/>
          </a:bodyPr>
          <a:lstStyle/>
          <a:p>
            <a:r>
              <a:rPr lang="en-US" sz="1600" i="1" u="sng" dirty="0"/>
              <a:t>Monitor Subsystem</a:t>
            </a:r>
          </a:p>
        </p:txBody>
      </p:sp>
      <p:sp>
        <p:nvSpPr>
          <p:cNvPr id="10" name="Text Box 43">
            <a:extLst>
              <a:ext uri="{FF2B5EF4-FFF2-40B4-BE49-F238E27FC236}">
                <a16:creationId xmlns:a16="http://schemas.microsoft.com/office/drawing/2014/main" id="{27E66EC2-9AE0-9829-E404-E26AB24F370F}"/>
              </a:ext>
            </a:extLst>
          </p:cNvPr>
          <p:cNvSpPr txBox="1">
            <a:spLocks noChangeArrowheads="1"/>
          </p:cNvSpPr>
          <p:nvPr/>
        </p:nvSpPr>
        <p:spPr bwMode="auto">
          <a:xfrm>
            <a:off x="404069" y="5856323"/>
            <a:ext cx="2438400" cy="738664"/>
          </a:xfrm>
          <a:prstGeom prst="rect">
            <a:avLst/>
          </a:prstGeom>
          <a:solidFill>
            <a:schemeClr val="accent2"/>
          </a:solidFill>
          <a:ln w="12700">
            <a:solidFill>
              <a:schemeClr val="tx1"/>
            </a:solidFill>
            <a:miter lim="800000"/>
            <a:headEnd/>
            <a:tailEnd/>
          </a:ln>
          <a:effectLst>
            <a:outerShdw blurRad="63500" dist="35921" dir="2700000" algn="ctr" rotWithShape="0">
              <a:schemeClr val="bg2"/>
            </a:outerShdw>
          </a:effectLst>
        </p:spPr>
        <p:txBody>
          <a:bodyPr wrap="square" anchor="ctr">
            <a:spAutoFit/>
          </a:bodyPr>
          <a:lstStyle/>
          <a:p>
            <a:pPr algn="l">
              <a:defRPr/>
            </a:pPr>
            <a:r>
              <a:rPr lang="en-US" sz="1400" i="1" dirty="0">
                <a:latin typeface="Tahoma" pitchFamily="-84" charset="0"/>
              </a:rPr>
              <a:t>DRF must precede MRM, </a:t>
            </a:r>
          </a:p>
          <a:p>
            <a:pPr algn="l">
              <a:defRPr/>
            </a:pPr>
            <a:r>
              <a:rPr lang="en-US" sz="1400" i="1" dirty="0">
                <a:latin typeface="Tahoma" pitchFamily="-84" charset="0"/>
              </a:rPr>
              <a:t>MRI must precede MRM, MRM must precede MHS</a:t>
            </a:r>
          </a:p>
        </p:txBody>
      </p:sp>
      <p:sp>
        <p:nvSpPr>
          <p:cNvPr id="12" name="TextBox 11">
            <a:extLst>
              <a:ext uri="{FF2B5EF4-FFF2-40B4-BE49-F238E27FC236}">
                <a16:creationId xmlns:a16="http://schemas.microsoft.com/office/drawing/2014/main" id="{30F19AF5-661C-A6E0-54A6-191830104F1B}"/>
              </a:ext>
            </a:extLst>
          </p:cNvPr>
          <p:cNvSpPr txBox="1"/>
          <p:nvPr/>
        </p:nvSpPr>
        <p:spPr>
          <a:xfrm>
            <a:off x="4522934" y="1221545"/>
            <a:ext cx="4299060" cy="600164"/>
          </a:xfrm>
          <a:prstGeom prst="rect">
            <a:avLst/>
          </a:prstGeom>
          <a:noFill/>
        </p:spPr>
        <p:txBody>
          <a:bodyPr wrap="square" rtlCol="0">
            <a:spAutoFit/>
          </a:bodyPr>
          <a:lstStyle/>
          <a:p>
            <a:r>
              <a:rPr lang="en-US" sz="1100" i="1" dirty="0"/>
              <a:t>A control graph is always predicated on the notion of major frame – there is always a notion of </a:t>
            </a:r>
            <a:r>
              <a:rPr lang="en-US" sz="1100" i="1" dirty="0" err="1"/>
              <a:t>cyclicness</a:t>
            </a:r>
            <a:r>
              <a:rPr lang="en-US" sz="1100" i="1" dirty="0"/>
              <a:t>, and stating constraints across cycle boundaries requires extra notation.</a:t>
            </a:r>
          </a:p>
        </p:txBody>
      </p:sp>
      <p:sp>
        <p:nvSpPr>
          <p:cNvPr id="13" name="TextBox 12">
            <a:extLst>
              <a:ext uri="{FF2B5EF4-FFF2-40B4-BE49-F238E27FC236}">
                <a16:creationId xmlns:a16="http://schemas.microsoft.com/office/drawing/2014/main" id="{727A0568-47E6-F232-70E8-9603B8838AF7}"/>
              </a:ext>
            </a:extLst>
          </p:cNvPr>
          <p:cNvSpPr txBox="1"/>
          <p:nvPr/>
        </p:nvSpPr>
        <p:spPr>
          <a:xfrm>
            <a:off x="6849350" y="1843832"/>
            <a:ext cx="2133600" cy="2631490"/>
          </a:xfrm>
          <a:prstGeom prst="rect">
            <a:avLst/>
          </a:prstGeom>
          <a:noFill/>
        </p:spPr>
        <p:txBody>
          <a:bodyPr wrap="square" rtlCol="0">
            <a:spAutoFit/>
          </a:bodyPr>
          <a:lstStyle/>
          <a:p>
            <a:r>
              <a:rPr lang="en-US" sz="1100" dirty="0"/>
              <a:t>Components can be organized into (possibly nested) </a:t>
            </a:r>
            <a:r>
              <a:rPr lang="en-US" sz="1100" i="1" dirty="0"/>
              <a:t>schedule groups</a:t>
            </a:r>
            <a:r>
              <a:rPr lang="en-US" sz="1100" dirty="0"/>
              <a:t> to support modular specification of constraints.   Each component is assumed to execute exactly once in the schedule group.  If there are “inner cycles” (repetition of one or more components), these must be declared in a separate subgroup (analogous to a nested loop).  This notion can be potentially supported via the AADL notion of thread group.</a:t>
            </a:r>
          </a:p>
        </p:txBody>
      </p:sp>
      <p:sp>
        <p:nvSpPr>
          <p:cNvPr id="14" name="TextBox 13">
            <a:extLst>
              <a:ext uri="{FF2B5EF4-FFF2-40B4-BE49-F238E27FC236}">
                <a16:creationId xmlns:a16="http://schemas.microsoft.com/office/drawing/2014/main" id="{E025BA4D-44F7-1DEE-278C-238839E2ADA0}"/>
              </a:ext>
            </a:extLst>
          </p:cNvPr>
          <p:cNvSpPr txBox="1"/>
          <p:nvPr/>
        </p:nvSpPr>
        <p:spPr>
          <a:xfrm>
            <a:off x="3505200" y="5619929"/>
            <a:ext cx="4299060" cy="1107996"/>
          </a:xfrm>
          <a:prstGeom prst="rect">
            <a:avLst/>
          </a:prstGeom>
          <a:noFill/>
        </p:spPr>
        <p:txBody>
          <a:bodyPr wrap="square" rtlCol="0">
            <a:spAutoFit/>
          </a:bodyPr>
          <a:lstStyle/>
          <a:p>
            <a:r>
              <a:rPr lang="en-US" sz="1100" i="1" dirty="0"/>
              <a:t>Absence of constraints between components in these subgroups (and/or the fact that the components are in different subgroups) indicates “independence” between the components in the respective groups, i.e., a concrete schedule may the subgroups in any order or may interleave components from the subgroup in any order.</a:t>
            </a:r>
          </a:p>
        </p:txBody>
      </p:sp>
    </p:spTree>
    <p:extLst>
      <p:ext uri="{BB962C8B-B14F-4D97-AF65-F5344CB8AC3E}">
        <p14:creationId xmlns:p14="http://schemas.microsoft.com/office/powerpoint/2010/main" val="30366076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7FC8E-DE43-A568-D39A-5BDC9BFAC3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316907-D7C2-C766-093F-B9514E8B39B8}"/>
              </a:ext>
            </a:extLst>
          </p:cNvPr>
          <p:cNvSpPr>
            <a:spLocks noGrp="1"/>
          </p:cNvSpPr>
          <p:nvPr>
            <p:ph type="title"/>
          </p:nvPr>
        </p:nvSpPr>
        <p:spPr/>
        <p:txBody>
          <a:bodyPr/>
          <a:lstStyle/>
          <a:p>
            <a:r>
              <a:rPr lang="en-US" dirty="0"/>
              <a:t>Abstract Control Points</a:t>
            </a:r>
          </a:p>
        </p:txBody>
      </p:sp>
      <p:sp>
        <p:nvSpPr>
          <p:cNvPr id="4" name="Slide Number Placeholder 3">
            <a:extLst>
              <a:ext uri="{FF2B5EF4-FFF2-40B4-BE49-F238E27FC236}">
                <a16:creationId xmlns:a16="http://schemas.microsoft.com/office/drawing/2014/main" id="{D2F8526E-993A-B9A1-A5D3-B58A21174FE0}"/>
              </a:ext>
            </a:extLst>
          </p:cNvPr>
          <p:cNvSpPr>
            <a:spLocks noGrp="1"/>
          </p:cNvSpPr>
          <p:nvPr>
            <p:ph type="sldNum" sz="quarter" idx="11"/>
          </p:nvPr>
        </p:nvSpPr>
        <p:spPr/>
        <p:txBody>
          <a:bodyPr/>
          <a:lstStyle/>
          <a:p>
            <a:pPr>
              <a:defRPr/>
            </a:pPr>
            <a:fld id="{C22399C2-1ADD-1549-9753-CEA7C1EED1B8}" type="slidenum">
              <a:rPr lang="en-US" smtClean="0"/>
              <a:pPr>
                <a:defRPr/>
              </a:pPr>
              <a:t>8</a:t>
            </a:fld>
            <a:endParaRPr lang="en-US"/>
          </a:p>
        </p:txBody>
      </p:sp>
      <p:pic>
        <p:nvPicPr>
          <p:cNvPr id="5" name="Picture 4">
            <a:extLst>
              <a:ext uri="{FF2B5EF4-FFF2-40B4-BE49-F238E27FC236}">
                <a16:creationId xmlns:a16="http://schemas.microsoft.com/office/drawing/2014/main" id="{B80AF022-FA91-FD3E-2769-217D2B86ACB8}"/>
              </a:ext>
            </a:extLst>
          </p:cNvPr>
          <p:cNvPicPr>
            <a:picLocks noChangeAspect="1"/>
          </p:cNvPicPr>
          <p:nvPr/>
        </p:nvPicPr>
        <p:blipFill>
          <a:blip r:embed="rId2"/>
          <a:stretch>
            <a:fillRect/>
          </a:stretch>
        </p:blipFill>
        <p:spPr>
          <a:xfrm>
            <a:off x="2209800" y="1524000"/>
            <a:ext cx="4419600" cy="2057942"/>
          </a:xfrm>
          <a:prstGeom prst="rect">
            <a:avLst/>
          </a:prstGeom>
        </p:spPr>
      </p:pic>
      <p:sp>
        <p:nvSpPr>
          <p:cNvPr id="3" name="TextBox 2">
            <a:extLst>
              <a:ext uri="{FF2B5EF4-FFF2-40B4-BE49-F238E27FC236}">
                <a16:creationId xmlns:a16="http://schemas.microsoft.com/office/drawing/2014/main" id="{9E22E7DE-FEAC-E293-1023-7BB50638F7C2}"/>
              </a:ext>
            </a:extLst>
          </p:cNvPr>
          <p:cNvSpPr txBox="1"/>
          <p:nvPr/>
        </p:nvSpPr>
        <p:spPr>
          <a:xfrm>
            <a:off x="692938" y="3705880"/>
            <a:ext cx="7111321" cy="600164"/>
          </a:xfrm>
          <a:prstGeom prst="rect">
            <a:avLst/>
          </a:prstGeom>
          <a:noFill/>
        </p:spPr>
        <p:txBody>
          <a:bodyPr wrap="square" rtlCol="0">
            <a:spAutoFit/>
          </a:bodyPr>
          <a:lstStyle/>
          <a:p>
            <a:r>
              <a:rPr lang="en-US" sz="1100" dirty="0"/>
              <a:t>To support composition of control groups and to manage verification of composition, control graphs may include </a:t>
            </a:r>
            <a:r>
              <a:rPr lang="en-US" sz="1100" i="1" dirty="0"/>
              <a:t>abstract control points</a:t>
            </a:r>
            <a:r>
              <a:rPr lang="en-US" sz="1100" dirty="0"/>
              <a:t> that are not thread ids, but are symbols introduced by the designer to represent symbolic points in time that may used in the constraint specification. </a:t>
            </a:r>
          </a:p>
        </p:txBody>
      </p:sp>
      <p:sp>
        <p:nvSpPr>
          <p:cNvPr id="11" name="TextBox 10">
            <a:extLst>
              <a:ext uri="{FF2B5EF4-FFF2-40B4-BE49-F238E27FC236}">
                <a16:creationId xmlns:a16="http://schemas.microsoft.com/office/drawing/2014/main" id="{97E54BCE-81BB-4EFE-E807-5C975924DB78}"/>
              </a:ext>
            </a:extLst>
          </p:cNvPr>
          <p:cNvSpPr txBox="1"/>
          <p:nvPr/>
        </p:nvSpPr>
        <p:spPr>
          <a:xfrm>
            <a:off x="678190" y="4362822"/>
            <a:ext cx="7111321" cy="600164"/>
          </a:xfrm>
          <a:prstGeom prst="rect">
            <a:avLst/>
          </a:prstGeom>
          <a:noFill/>
        </p:spPr>
        <p:txBody>
          <a:bodyPr wrap="square" rtlCol="0">
            <a:spAutoFit/>
          </a:bodyPr>
          <a:lstStyle/>
          <a:p>
            <a:r>
              <a:rPr lang="en-US" sz="1100" dirty="0"/>
              <a:t>Some abstract control points are automatically generated from the architecture structure and control group declarations.   For example, every architecture composite component C (process, system, thread group) introduces </a:t>
            </a:r>
            <a:r>
              <a:rPr lang="en-US" sz="1100" dirty="0" err="1"/>
              <a:t>C_begin</a:t>
            </a:r>
            <a:r>
              <a:rPr lang="en-US" sz="1100" dirty="0"/>
              <a:t> and </a:t>
            </a:r>
            <a:r>
              <a:rPr lang="en-US" sz="1100" dirty="0" err="1"/>
              <a:t>C_end</a:t>
            </a:r>
            <a:r>
              <a:rPr lang="en-US" sz="1100" dirty="0"/>
              <a:t> abstract control points. </a:t>
            </a:r>
          </a:p>
        </p:txBody>
      </p:sp>
      <p:sp>
        <p:nvSpPr>
          <p:cNvPr id="16" name="Oval 15">
            <a:extLst>
              <a:ext uri="{FF2B5EF4-FFF2-40B4-BE49-F238E27FC236}">
                <a16:creationId xmlns:a16="http://schemas.microsoft.com/office/drawing/2014/main" id="{E51A8399-BFD4-1E0E-4D7F-B133915C6F16}"/>
              </a:ext>
            </a:extLst>
          </p:cNvPr>
          <p:cNvSpPr/>
          <p:nvPr/>
        </p:nvSpPr>
        <p:spPr bwMode="auto">
          <a:xfrm>
            <a:off x="3200400" y="2476771"/>
            <a:ext cx="152400" cy="152400"/>
          </a:xfrm>
          <a:prstGeom prst="ellipse">
            <a:avLst/>
          </a:prstGeom>
          <a:solidFill>
            <a:srgbClr val="00B050"/>
          </a:solidFill>
          <a:ln w="9525" cap="flat" cmpd="sng" algn="ctr">
            <a:solidFill>
              <a:srgbClr val="00B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7" name="Oval 16">
            <a:extLst>
              <a:ext uri="{FF2B5EF4-FFF2-40B4-BE49-F238E27FC236}">
                <a16:creationId xmlns:a16="http://schemas.microsoft.com/office/drawing/2014/main" id="{2A961A78-084F-26B1-AE06-DB55F4983E7F}"/>
              </a:ext>
            </a:extLst>
          </p:cNvPr>
          <p:cNvSpPr/>
          <p:nvPr/>
        </p:nvSpPr>
        <p:spPr bwMode="auto">
          <a:xfrm>
            <a:off x="5257800" y="2469276"/>
            <a:ext cx="152400" cy="152400"/>
          </a:xfrm>
          <a:prstGeom prst="ellipse">
            <a:avLst/>
          </a:prstGeom>
          <a:solidFill>
            <a:srgbClr val="00B050"/>
          </a:solidFill>
          <a:ln w="9525" cap="flat" cmpd="sng" algn="ctr">
            <a:solidFill>
              <a:srgbClr val="00B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8" name="Oval 17">
            <a:extLst>
              <a:ext uri="{FF2B5EF4-FFF2-40B4-BE49-F238E27FC236}">
                <a16:creationId xmlns:a16="http://schemas.microsoft.com/office/drawing/2014/main" id="{E02BF2EF-A2DE-593E-713A-42C2E16D3C11}"/>
              </a:ext>
            </a:extLst>
          </p:cNvPr>
          <p:cNvSpPr/>
          <p:nvPr/>
        </p:nvSpPr>
        <p:spPr bwMode="auto">
          <a:xfrm>
            <a:off x="3200400" y="2881640"/>
            <a:ext cx="152400" cy="152400"/>
          </a:xfrm>
          <a:prstGeom prst="ellipse">
            <a:avLst/>
          </a:prstGeom>
          <a:solidFill>
            <a:srgbClr val="00B050"/>
          </a:solidFill>
          <a:ln w="9525" cap="flat" cmpd="sng" algn="ctr">
            <a:solidFill>
              <a:srgbClr val="00B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9" name="Oval 18">
            <a:extLst>
              <a:ext uri="{FF2B5EF4-FFF2-40B4-BE49-F238E27FC236}">
                <a16:creationId xmlns:a16="http://schemas.microsoft.com/office/drawing/2014/main" id="{ABE2C380-39F8-5EBC-1499-DA2DDC846DD4}"/>
              </a:ext>
            </a:extLst>
          </p:cNvPr>
          <p:cNvSpPr/>
          <p:nvPr/>
        </p:nvSpPr>
        <p:spPr bwMode="auto">
          <a:xfrm>
            <a:off x="2971800" y="2676711"/>
            <a:ext cx="152400" cy="152400"/>
          </a:xfrm>
          <a:prstGeom prst="ellipse">
            <a:avLst/>
          </a:prstGeom>
          <a:solidFill>
            <a:srgbClr val="00B050"/>
          </a:solidFill>
          <a:ln w="9525" cap="flat" cmpd="sng" algn="ctr">
            <a:solidFill>
              <a:srgbClr val="00B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20" name="Oval 19">
            <a:extLst>
              <a:ext uri="{FF2B5EF4-FFF2-40B4-BE49-F238E27FC236}">
                <a16:creationId xmlns:a16="http://schemas.microsoft.com/office/drawing/2014/main" id="{6D80DBEC-93DE-38D3-5A56-29B1AD71A187}"/>
              </a:ext>
            </a:extLst>
          </p:cNvPr>
          <p:cNvSpPr/>
          <p:nvPr/>
        </p:nvSpPr>
        <p:spPr bwMode="auto">
          <a:xfrm>
            <a:off x="5260258" y="2949409"/>
            <a:ext cx="152400" cy="152400"/>
          </a:xfrm>
          <a:prstGeom prst="ellipse">
            <a:avLst/>
          </a:prstGeom>
          <a:solidFill>
            <a:srgbClr val="00B050"/>
          </a:solidFill>
          <a:ln w="9525" cap="flat" cmpd="sng" algn="ctr">
            <a:solidFill>
              <a:srgbClr val="00B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21" name="Oval 20">
            <a:extLst>
              <a:ext uri="{FF2B5EF4-FFF2-40B4-BE49-F238E27FC236}">
                <a16:creationId xmlns:a16="http://schemas.microsoft.com/office/drawing/2014/main" id="{61078AEC-A87B-2CD9-A0C9-4C35C4F90E48}"/>
              </a:ext>
            </a:extLst>
          </p:cNvPr>
          <p:cNvSpPr/>
          <p:nvPr/>
        </p:nvSpPr>
        <p:spPr bwMode="auto">
          <a:xfrm>
            <a:off x="5410200" y="2673071"/>
            <a:ext cx="152400" cy="152400"/>
          </a:xfrm>
          <a:prstGeom prst="ellipse">
            <a:avLst/>
          </a:prstGeom>
          <a:solidFill>
            <a:srgbClr val="00B050"/>
          </a:solidFill>
          <a:ln w="9525" cap="flat" cmpd="sng" algn="ctr">
            <a:solidFill>
              <a:srgbClr val="00B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22" name="TextBox 21">
            <a:extLst>
              <a:ext uri="{FF2B5EF4-FFF2-40B4-BE49-F238E27FC236}">
                <a16:creationId xmlns:a16="http://schemas.microsoft.com/office/drawing/2014/main" id="{E83EAA77-CECD-99F4-2144-F7A22ACC71B8}"/>
              </a:ext>
            </a:extLst>
          </p:cNvPr>
          <p:cNvSpPr txBox="1"/>
          <p:nvPr/>
        </p:nvSpPr>
        <p:spPr>
          <a:xfrm>
            <a:off x="2356899" y="2411461"/>
            <a:ext cx="843501" cy="261610"/>
          </a:xfrm>
          <a:prstGeom prst="rect">
            <a:avLst/>
          </a:prstGeom>
          <a:noFill/>
        </p:spPr>
        <p:txBody>
          <a:bodyPr wrap="none" rtlCol="0">
            <a:spAutoFit/>
          </a:bodyPr>
          <a:lstStyle/>
          <a:p>
            <a:r>
              <a:rPr lang="en-US" sz="1100" dirty="0" err="1"/>
              <a:t>Reg_begin</a:t>
            </a:r>
            <a:endParaRPr lang="en-US" sz="1100" dirty="0"/>
          </a:p>
        </p:txBody>
      </p:sp>
      <p:sp>
        <p:nvSpPr>
          <p:cNvPr id="23" name="TextBox 22">
            <a:extLst>
              <a:ext uri="{FF2B5EF4-FFF2-40B4-BE49-F238E27FC236}">
                <a16:creationId xmlns:a16="http://schemas.microsoft.com/office/drawing/2014/main" id="{E458BF13-E10D-7367-75F8-AFAFC28C66C2}"/>
              </a:ext>
            </a:extLst>
          </p:cNvPr>
          <p:cNvSpPr txBox="1"/>
          <p:nvPr/>
        </p:nvSpPr>
        <p:spPr>
          <a:xfrm>
            <a:off x="5334000" y="2376852"/>
            <a:ext cx="732893" cy="261610"/>
          </a:xfrm>
          <a:prstGeom prst="rect">
            <a:avLst/>
          </a:prstGeom>
          <a:noFill/>
        </p:spPr>
        <p:txBody>
          <a:bodyPr wrap="none" rtlCol="0">
            <a:spAutoFit/>
          </a:bodyPr>
          <a:lstStyle/>
          <a:p>
            <a:r>
              <a:rPr lang="en-US" sz="1100" dirty="0" err="1"/>
              <a:t>Reg_end</a:t>
            </a:r>
            <a:endParaRPr lang="en-US" sz="1100" dirty="0"/>
          </a:p>
        </p:txBody>
      </p:sp>
      <p:sp>
        <p:nvSpPr>
          <p:cNvPr id="24" name="TextBox 23">
            <a:extLst>
              <a:ext uri="{FF2B5EF4-FFF2-40B4-BE49-F238E27FC236}">
                <a16:creationId xmlns:a16="http://schemas.microsoft.com/office/drawing/2014/main" id="{0C0D8A5E-43A5-60DB-7218-AA8C3FEAB61E}"/>
              </a:ext>
            </a:extLst>
          </p:cNvPr>
          <p:cNvSpPr txBox="1"/>
          <p:nvPr/>
        </p:nvSpPr>
        <p:spPr>
          <a:xfrm>
            <a:off x="2361199" y="2800622"/>
            <a:ext cx="867545" cy="261610"/>
          </a:xfrm>
          <a:prstGeom prst="rect">
            <a:avLst/>
          </a:prstGeom>
          <a:noFill/>
        </p:spPr>
        <p:txBody>
          <a:bodyPr wrap="none" rtlCol="0">
            <a:spAutoFit/>
          </a:bodyPr>
          <a:lstStyle/>
          <a:p>
            <a:r>
              <a:rPr lang="en-US" sz="1100" dirty="0" err="1"/>
              <a:t>Mon_begin</a:t>
            </a:r>
            <a:endParaRPr lang="en-US" sz="1100" dirty="0"/>
          </a:p>
        </p:txBody>
      </p:sp>
      <p:sp>
        <p:nvSpPr>
          <p:cNvPr id="25" name="TextBox 24">
            <a:extLst>
              <a:ext uri="{FF2B5EF4-FFF2-40B4-BE49-F238E27FC236}">
                <a16:creationId xmlns:a16="http://schemas.microsoft.com/office/drawing/2014/main" id="{FB20B17E-6741-3B8B-11B3-39C13C00B495}"/>
              </a:ext>
            </a:extLst>
          </p:cNvPr>
          <p:cNvSpPr txBox="1"/>
          <p:nvPr/>
        </p:nvSpPr>
        <p:spPr>
          <a:xfrm>
            <a:off x="5384314" y="2874808"/>
            <a:ext cx="756938" cy="261610"/>
          </a:xfrm>
          <a:prstGeom prst="rect">
            <a:avLst/>
          </a:prstGeom>
          <a:noFill/>
        </p:spPr>
        <p:txBody>
          <a:bodyPr wrap="none" rtlCol="0">
            <a:spAutoFit/>
          </a:bodyPr>
          <a:lstStyle/>
          <a:p>
            <a:r>
              <a:rPr lang="en-US" sz="1100" dirty="0" err="1"/>
              <a:t>Mon_end</a:t>
            </a:r>
            <a:endParaRPr lang="en-US" sz="1100" dirty="0"/>
          </a:p>
        </p:txBody>
      </p:sp>
      <p:sp>
        <p:nvSpPr>
          <p:cNvPr id="26" name="TextBox 25">
            <a:extLst>
              <a:ext uri="{FF2B5EF4-FFF2-40B4-BE49-F238E27FC236}">
                <a16:creationId xmlns:a16="http://schemas.microsoft.com/office/drawing/2014/main" id="{8961AE79-33B1-47EC-E93C-4C2715816B9A}"/>
              </a:ext>
            </a:extLst>
          </p:cNvPr>
          <p:cNvSpPr txBox="1"/>
          <p:nvPr/>
        </p:nvSpPr>
        <p:spPr>
          <a:xfrm>
            <a:off x="1651010" y="2600220"/>
            <a:ext cx="1313180" cy="261610"/>
          </a:xfrm>
          <a:prstGeom prst="rect">
            <a:avLst/>
          </a:prstGeom>
          <a:noFill/>
        </p:spPr>
        <p:txBody>
          <a:bodyPr wrap="none" rtlCol="0">
            <a:spAutoFit/>
          </a:bodyPr>
          <a:lstStyle/>
          <a:p>
            <a:r>
              <a:rPr lang="en-US" sz="1100" dirty="0" err="1"/>
              <a:t>Thermostat_begin</a:t>
            </a:r>
            <a:endParaRPr lang="en-US" sz="1100" dirty="0"/>
          </a:p>
        </p:txBody>
      </p:sp>
      <p:sp>
        <p:nvSpPr>
          <p:cNvPr id="27" name="TextBox 26">
            <a:extLst>
              <a:ext uri="{FF2B5EF4-FFF2-40B4-BE49-F238E27FC236}">
                <a16:creationId xmlns:a16="http://schemas.microsoft.com/office/drawing/2014/main" id="{240479FA-3599-B1BF-32D1-0071554019A5}"/>
              </a:ext>
            </a:extLst>
          </p:cNvPr>
          <p:cNvSpPr txBox="1"/>
          <p:nvPr/>
        </p:nvSpPr>
        <p:spPr>
          <a:xfrm>
            <a:off x="5560294" y="2703004"/>
            <a:ext cx="1202573" cy="261610"/>
          </a:xfrm>
          <a:prstGeom prst="rect">
            <a:avLst/>
          </a:prstGeom>
          <a:noFill/>
        </p:spPr>
        <p:txBody>
          <a:bodyPr wrap="none" rtlCol="0">
            <a:spAutoFit/>
          </a:bodyPr>
          <a:lstStyle/>
          <a:p>
            <a:r>
              <a:rPr lang="en-US" sz="1100" dirty="0" err="1"/>
              <a:t>Thermostat_end</a:t>
            </a:r>
            <a:endParaRPr lang="en-US" sz="1100" dirty="0"/>
          </a:p>
        </p:txBody>
      </p:sp>
      <p:sp>
        <p:nvSpPr>
          <p:cNvPr id="28" name="TextBox 27">
            <a:extLst>
              <a:ext uri="{FF2B5EF4-FFF2-40B4-BE49-F238E27FC236}">
                <a16:creationId xmlns:a16="http://schemas.microsoft.com/office/drawing/2014/main" id="{2054F74A-5AC3-0B2B-9D08-4BE125176E67}"/>
              </a:ext>
            </a:extLst>
          </p:cNvPr>
          <p:cNvSpPr txBox="1"/>
          <p:nvPr/>
        </p:nvSpPr>
        <p:spPr>
          <a:xfrm>
            <a:off x="762000" y="5039162"/>
            <a:ext cx="3466013" cy="1200329"/>
          </a:xfrm>
          <a:prstGeom prst="rect">
            <a:avLst/>
          </a:prstGeom>
          <a:noFill/>
        </p:spPr>
        <p:txBody>
          <a:bodyPr wrap="none" rtlCol="0">
            <a:spAutoFit/>
          </a:bodyPr>
          <a:lstStyle/>
          <a:p>
            <a:r>
              <a:rPr lang="en-US" sz="1800" dirty="0" err="1"/>
              <a:t>Thermostat_begin</a:t>
            </a:r>
            <a:r>
              <a:rPr lang="en-US" sz="1800" dirty="0"/>
              <a:t> &lt; </a:t>
            </a:r>
            <a:r>
              <a:rPr lang="en-US" sz="1800" dirty="0" err="1"/>
              <a:t>Reg_begin</a:t>
            </a:r>
            <a:endParaRPr lang="en-US" sz="1800" dirty="0"/>
          </a:p>
          <a:p>
            <a:r>
              <a:rPr lang="en-US" sz="1800" dirty="0" err="1"/>
              <a:t>Thermostat_begin</a:t>
            </a:r>
            <a:r>
              <a:rPr lang="en-US" sz="1800" dirty="0"/>
              <a:t> &lt; </a:t>
            </a:r>
            <a:r>
              <a:rPr lang="en-US" sz="1800" dirty="0" err="1"/>
              <a:t>Mon_begin</a:t>
            </a:r>
            <a:endParaRPr lang="en-US" sz="1800" dirty="0"/>
          </a:p>
          <a:p>
            <a:r>
              <a:rPr lang="en-US" sz="1800" dirty="0" err="1"/>
              <a:t>Reg_end</a:t>
            </a:r>
            <a:r>
              <a:rPr lang="en-US" sz="1800" dirty="0"/>
              <a:t> &lt; </a:t>
            </a:r>
            <a:r>
              <a:rPr lang="en-US" sz="1800" dirty="0" err="1"/>
              <a:t>Thermostat_end</a:t>
            </a:r>
            <a:endParaRPr lang="en-US" sz="1800" dirty="0"/>
          </a:p>
          <a:p>
            <a:r>
              <a:rPr lang="en-US" sz="1800" dirty="0" err="1"/>
              <a:t>Mon_end</a:t>
            </a:r>
            <a:r>
              <a:rPr lang="en-US" sz="1800" dirty="0"/>
              <a:t> &lt; </a:t>
            </a:r>
            <a:r>
              <a:rPr lang="en-US" sz="1800" dirty="0" err="1"/>
              <a:t>Thermostat_end</a:t>
            </a:r>
            <a:endParaRPr lang="en-US" sz="1800" dirty="0"/>
          </a:p>
        </p:txBody>
      </p:sp>
      <p:sp>
        <p:nvSpPr>
          <p:cNvPr id="29" name="TextBox 28">
            <a:extLst>
              <a:ext uri="{FF2B5EF4-FFF2-40B4-BE49-F238E27FC236}">
                <a16:creationId xmlns:a16="http://schemas.microsoft.com/office/drawing/2014/main" id="{515AC69F-BD20-56E8-6B58-380061736CA9}"/>
              </a:ext>
            </a:extLst>
          </p:cNvPr>
          <p:cNvSpPr txBox="1"/>
          <p:nvPr/>
        </p:nvSpPr>
        <p:spPr>
          <a:xfrm>
            <a:off x="457200" y="6400800"/>
            <a:ext cx="7111321" cy="261610"/>
          </a:xfrm>
          <a:prstGeom prst="rect">
            <a:avLst/>
          </a:prstGeom>
          <a:noFill/>
        </p:spPr>
        <p:txBody>
          <a:bodyPr wrap="square" rtlCol="0">
            <a:spAutoFit/>
          </a:bodyPr>
          <a:lstStyle/>
          <a:p>
            <a:r>
              <a:rPr lang="en-US" sz="1100" dirty="0"/>
              <a:t>Implicit constraints are introduced, e.g., </a:t>
            </a:r>
            <a:r>
              <a:rPr lang="en-US" sz="1100" dirty="0" err="1"/>
              <a:t>C_begin</a:t>
            </a:r>
            <a:r>
              <a:rPr lang="en-US" sz="1100" dirty="0"/>
              <a:t> must precede every component within C ??? </a:t>
            </a:r>
          </a:p>
        </p:txBody>
      </p:sp>
      <p:sp>
        <p:nvSpPr>
          <p:cNvPr id="30" name="TextBox 29">
            <a:extLst>
              <a:ext uri="{FF2B5EF4-FFF2-40B4-BE49-F238E27FC236}">
                <a16:creationId xmlns:a16="http://schemas.microsoft.com/office/drawing/2014/main" id="{092E64F1-3228-98EA-9F20-E937A84BD11E}"/>
              </a:ext>
            </a:extLst>
          </p:cNvPr>
          <p:cNvSpPr txBox="1"/>
          <p:nvPr/>
        </p:nvSpPr>
        <p:spPr>
          <a:xfrm>
            <a:off x="5245510" y="5072057"/>
            <a:ext cx="2747732" cy="769441"/>
          </a:xfrm>
          <a:prstGeom prst="rect">
            <a:avLst/>
          </a:prstGeom>
          <a:noFill/>
        </p:spPr>
        <p:txBody>
          <a:bodyPr wrap="square" rtlCol="0">
            <a:spAutoFit/>
          </a:bodyPr>
          <a:lstStyle/>
          <a:p>
            <a:r>
              <a:rPr lang="en-US" sz="1100" b="1" dirty="0"/>
              <a:t>Note</a:t>
            </a:r>
            <a:r>
              <a:rPr lang="en-US" sz="1100" dirty="0"/>
              <a:t>: if we wanted to state that the Regulate subsystem must come before the monitor subsystem, we could specify that by saying </a:t>
            </a:r>
            <a:r>
              <a:rPr lang="en-US" sz="1100" dirty="0" err="1"/>
              <a:t>Reg_end</a:t>
            </a:r>
            <a:r>
              <a:rPr lang="en-US" sz="1100" dirty="0"/>
              <a:t> &lt; </a:t>
            </a:r>
            <a:r>
              <a:rPr lang="en-US" sz="1100" dirty="0" err="1"/>
              <a:t>Mon_begin</a:t>
            </a:r>
            <a:endParaRPr lang="en-US" sz="1100" dirty="0"/>
          </a:p>
        </p:txBody>
      </p:sp>
    </p:spTree>
    <p:extLst>
      <p:ext uri="{BB962C8B-B14F-4D97-AF65-F5344CB8AC3E}">
        <p14:creationId xmlns:p14="http://schemas.microsoft.com/office/powerpoint/2010/main" val="24384852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F315F-AC4A-74D9-A9CC-0048512FCC2E}"/>
              </a:ext>
            </a:extLst>
          </p:cNvPr>
          <p:cNvSpPr>
            <a:spLocks noGrp="1"/>
          </p:cNvSpPr>
          <p:nvPr>
            <p:ph type="title"/>
          </p:nvPr>
        </p:nvSpPr>
        <p:spPr/>
        <p:txBody>
          <a:bodyPr/>
          <a:lstStyle/>
          <a:p>
            <a:r>
              <a:rPr lang="en-US" sz="4000" dirty="0"/>
              <a:t>Properties for Abstract Functions</a:t>
            </a:r>
          </a:p>
        </p:txBody>
      </p:sp>
      <p:sp>
        <p:nvSpPr>
          <p:cNvPr id="22" name="Content Placeholder 21">
            <a:extLst>
              <a:ext uri="{FF2B5EF4-FFF2-40B4-BE49-F238E27FC236}">
                <a16:creationId xmlns:a16="http://schemas.microsoft.com/office/drawing/2014/main" id="{66E958FB-A9FB-29FB-49A9-B6017A7E61BF}"/>
              </a:ext>
            </a:extLst>
          </p:cNvPr>
          <p:cNvSpPr>
            <a:spLocks noGrp="1"/>
          </p:cNvSpPr>
          <p:nvPr>
            <p:ph idx="1"/>
          </p:nvPr>
        </p:nvSpPr>
        <p:spPr>
          <a:xfrm>
            <a:off x="685800" y="3815864"/>
            <a:ext cx="8153400" cy="1954381"/>
          </a:xfrm>
        </p:spPr>
        <p:txBody>
          <a:bodyPr/>
          <a:lstStyle/>
          <a:p>
            <a:r>
              <a:rPr lang="en-US" sz="1200" dirty="0"/>
              <a:t>AADL flows can be used to indicate which inputs are used to compute outputs associated with each functions (this can be extended to also include which local state is used to support which outputs)</a:t>
            </a:r>
          </a:p>
          <a:p>
            <a:r>
              <a:rPr lang="en-US" sz="1200" dirty="0"/>
              <a:t>When the system is refined to actual threads, we can map the abstract functions onto the interfaces and state of the threads (using AADL end-to-end flows)</a:t>
            </a:r>
          </a:p>
          <a:p>
            <a:r>
              <a:rPr lang="en-US" sz="1200" dirty="0"/>
              <a:t>The above would provide the ability to decompose and organize the functionality of a subsystem in terms of functions, which probably corresponds to how requirements would be stated in any case.</a:t>
            </a:r>
          </a:p>
          <a:p>
            <a:r>
              <a:rPr lang="en-US" sz="1200" i="1" dirty="0"/>
              <a:t>Can we organize the lower-level system assertions (used for reasoning about component composition) and component contracts themselves in terms of these functions?</a:t>
            </a:r>
          </a:p>
          <a:p>
            <a:r>
              <a:rPr lang="en-US" sz="1200" i="1" dirty="0"/>
              <a:t>Can we develop rules that allow the verification results of abstract functions to be composed?</a:t>
            </a:r>
          </a:p>
        </p:txBody>
      </p:sp>
      <p:sp>
        <p:nvSpPr>
          <p:cNvPr id="3" name="Slide Number Placeholder 2">
            <a:extLst>
              <a:ext uri="{FF2B5EF4-FFF2-40B4-BE49-F238E27FC236}">
                <a16:creationId xmlns:a16="http://schemas.microsoft.com/office/drawing/2014/main" id="{34BA93C3-9910-2A13-243A-3ADFB7981F35}"/>
              </a:ext>
            </a:extLst>
          </p:cNvPr>
          <p:cNvSpPr>
            <a:spLocks noGrp="1"/>
          </p:cNvSpPr>
          <p:nvPr>
            <p:ph type="sldNum" sz="quarter" idx="11"/>
          </p:nvPr>
        </p:nvSpPr>
        <p:spPr/>
        <p:txBody>
          <a:bodyPr/>
          <a:lstStyle/>
          <a:p>
            <a:pPr>
              <a:defRPr/>
            </a:pPr>
            <a:fld id="{6E0AA622-F4CE-604D-A669-CD3D12FC535C}" type="slidenum">
              <a:rPr lang="en-US" smtClean="0"/>
              <a:pPr>
                <a:defRPr/>
              </a:pPr>
              <a:t>9</a:t>
            </a:fld>
            <a:endParaRPr lang="en-US"/>
          </a:p>
        </p:txBody>
      </p:sp>
      <p:pic>
        <p:nvPicPr>
          <p:cNvPr id="4" name="Picture 3">
            <a:extLst>
              <a:ext uri="{FF2B5EF4-FFF2-40B4-BE49-F238E27FC236}">
                <a16:creationId xmlns:a16="http://schemas.microsoft.com/office/drawing/2014/main" id="{9F51C099-7824-22E3-6791-5612B93CE1C2}"/>
              </a:ext>
            </a:extLst>
          </p:cNvPr>
          <p:cNvPicPr>
            <a:picLocks noChangeAspect="1"/>
          </p:cNvPicPr>
          <p:nvPr/>
        </p:nvPicPr>
        <p:blipFill>
          <a:blip r:embed="rId2"/>
          <a:stretch>
            <a:fillRect/>
          </a:stretch>
        </p:blipFill>
        <p:spPr>
          <a:xfrm>
            <a:off x="2375922" y="1295400"/>
            <a:ext cx="4392156" cy="2285999"/>
          </a:xfrm>
          <a:prstGeom prst="rect">
            <a:avLst/>
          </a:prstGeom>
        </p:spPr>
      </p:pic>
      <p:sp>
        <p:nvSpPr>
          <p:cNvPr id="5" name="Oval 4">
            <a:extLst>
              <a:ext uri="{FF2B5EF4-FFF2-40B4-BE49-F238E27FC236}">
                <a16:creationId xmlns:a16="http://schemas.microsoft.com/office/drawing/2014/main" id="{01ABBABF-03FA-E74A-6ABD-7BAB706BDFC3}"/>
              </a:ext>
            </a:extLst>
          </p:cNvPr>
          <p:cNvSpPr/>
          <p:nvPr/>
        </p:nvSpPr>
        <p:spPr>
          <a:xfrm>
            <a:off x="2305798" y="1447800"/>
            <a:ext cx="208802" cy="233812"/>
          </a:xfrm>
          <a:prstGeom prst="ellipse">
            <a:avLst/>
          </a:prstGeom>
          <a:noFill/>
          <a:ln w="381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2CFF335-62D1-32D8-51DA-EAE201260D38}"/>
              </a:ext>
            </a:extLst>
          </p:cNvPr>
          <p:cNvSpPr/>
          <p:nvPr/>
        </p:nvSpPr>
        <p:spPr>
          <a:xfrm>
            <a:off x="2286000" y="1600200"/>
            <a:ext cx="208802" cy="233812"/>
          </a:xfrm>
          <a:prstGeom prst="ellipse">
            <a:avLst/>
          </a:prstGeom>
          <a:noFill/>
          <a:ln w="381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B485056A-388F-BBDC-31F3-847F81BBF4BA}"/>
              </a:ext>
            </a:extLst>
          </p:cNvPr>
          <p:cNvSpPr/>
          <p:nvPr/>
        </p:nvSpPr>
        <p:spPr>
          <a:xfrm>
            <a:off x="2286000" y="1747388"/>
            <a:ext cx="208802" cy="233812"/>
          </a:xfrm>
          <a:prstGeom prst="ellipse">
            <a:avLst/>
          </a:prstGeom>
          <a:noFill/>
          <a:ln w="381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C9CECA84-4A15-B6A1-E5ED-1AA54279BFE6}"/>
              </a:ext>
            </a:extLst>
          </p:cNvPr>
          <p:cNvSpPr/>
          <p:nvPr/>
        </p:nvSpPr>
        <p:spPr>
          <a:xfrm>
            <a:off x="2305798" y="2514600"/>
            <a:ext cx="208802" cy="233812"/>
          </a:xfrm>
          <a:prstGeom prst="ellipse">
            <a:avLst/>
          </a:prstGeom>
          <a:noFill/>
          <a:ln w="381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0D17046-542A-1DFA-B60C-DA6714E5A5B5}"/>
              </a:ext>
            </a:extLst>
          </p:cNvPr>
          <p:cNvSpPr/>
          <p:nvPr/>
        </p:nvSpPr>
        <p:spPr>
          <a:xfrm>
            <a:off x="2305798" y="2667000"/>
            <a:ext cx="208802" cy="233812"/>
          </a:xfrm>
          <a:prstGeom prst="ellipse">
            <a:avLst/>
          </a:prstGeom>
          <a:noFill/>
          <a:ln w="381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5E7E0BD-5C9E-E98D-B49A-BD1F9897D15B}"/>
              </a:ext>
            </a:extLst>
          </p:cNvPr>
          <p:cNvSpPr/>
          <p:nvPr/>
        </p:nvSpPr>
        <p:spPr>
          <a:xfrm>
            <a:off x="6572998" y="1447800"/>
            <a:ext cx="208802" cy="233812"/>
          </a:xfrm>
          <a:prstGeom prst="ellipse">
            <a:avLst/>
          </a:prstGeom>
          <a:noFill/>
          <a:ln w="38100">
            <a:solidFill>
              <a:srgbClr val="92D05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011A1B96-4489-6275-2CC0-D438FB92D1F5}"/>
              </a:ext>
            </a:extLst>
          </p:cNvPr>
          <p:cNvSpPr/>
          <p:nvPr/>
        </p:nvSpPr>
        <p:spPr>
          <a:xfrm>
            <a:off x="6553200" y="1600200"/>
            <a:ext cx="208802" cy="233812"/>
          </a:xfrm>
          <a:prstGeom prst="ellipse">
            <a:avLst/>
          </a:prstGeom>
          <a:noFill/>
          <a:ln w="38100">
            <a:solidFill>
              <a:srgbClr val="92D05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72362BB7-64B5-99A7-A526-9C79DBE229EE}"/>
              </a:ext>
            </a:extLst>
          </p:cNvPr>
          <p:cNvSpPr/>
          <p:nvPr/>
        </p:nvSpPr>
        <p:spPr>
          <a:xfrm>
            <a:off x="6553200" y="2128388"/>
            <a:ext cx="208802" cy="233812"/>
          </a:xfrm>
          <a:prstGeom prst="ellipse">
            <a:avLst/>
          </a:prstGeom>
          <a:noFill/>
          <a:ln w="38100">
            <a:solidFill>
              <a:srgbClr val="92D05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EC90772A-1042-F3CA-2AEF-C8919630B8DD}"/>
              </a:ext>
            </a:extLst>
          </p:cNvPr>
          <p:cNvSpPr/>
          <p:nvPr/>
        </p:nvSpPr>
        <p:spPr>
          <a:xfrm>
            <a:off x="6553200" y="2667000"/>
            <a:ext cx="208802" cy="233812"/>
          </a:xfrm>
          <a:prstGeom prst="ellipse">
            <a:avLst/>
          </a:prstGeom>
          <a:noFill/>
          <a:ln w="38100">
            <a:solidFill>
              <a:srgbClr val="92D05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D416181B-A9F6-5CBD-74B2-A577452F1977}"/>
              </a:ext>
            </a:extLst>
          </p:cNvPr>
          <p:cNvSpPr/>
          <p:nvPr/>
        </p:nvSpPr>
        <p:spPr>
          <a:xfrm>
            <a:off x="6553200" y="3195188"/>
            <a:ext cx="208802" cy="233812"/>
          </a:xfrm>
          <a:prstGeom prst="ellipse">
            <a:avLst/>
          </a:prstGeom>
          <a:noFill/>
          <a:ln w="38100">
            <a:solidFill>
              <a:srgbClr val="92D05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 Box 43">
            <a:extLst>
              <a:ext uri="{FF2B5EF4-FFF2-40B4-BE49-F238E27FC236}">
                <a16:creationId xmlns:a16="http://schemas.microsoft.com/office/drawing/2014/main" id="{B87ED29D-60D7-4D26-0FC9-1BC136596537}"/>
              </a:ext>
            </a:extLst>
          </p:cNvPr>
          <p:cNvSpPr txBox="1">
            <a:spLocks noChangeArrowheads="1"/>
          </p:cNvSpPr>
          <p:nvPr/>
        </p:nvSpPr>
        <p:spPr bwMode="auto">
          <a:xfrm>
            <a:off x="95708" y="1573820"/>
            <a:ext cx="1949069" cy="1954381"/>
          </a:xfrm>
          <a:prstGeom prst="rect">
            <a:avLst/>
          </a:prstGeom>
          <a:solidFill>
            <a:schemeClr val="accent2"/>
          </a:solidFill>
          <a:ln w="12700">
            <a:solidFill>
              <a:schemeClr val="tx1"/>
            </a:solidFill>
            <a:miter lim="800000"/>
            <a:headEnd/>
            <a:tailEnd/>
          </a:ln>
          <a:effectLst>
            <a:outerShdw blurRad="63500" dist="35921" dir="2700000" algn="ctr" rotWithShape="0">
              <a:schemeClr val="bg2"/>
            </a:outerShdw>
          </a:effectLst>
        </p:spPr>
        <p:txBody>
          <a:bodyPr wrap="square" anchor="ctr">
            <a:spAutoFit/>
          </a:bodyPr>
          <a:lstStyle/>
          <a:p>
            <a:pPr algn="l">
              <a:defRPr/>
            </a:pPr>
            <a:r>
              <a:rPr lang="en-US" sz="1100" i="1" dirty="0">
                <a:latin typeface="Tahoma" pitchFamily="-84" charset="0"/>
              </a:rPr>
              <a:t>Often, a subsystem will realize multiple functions that can be reasoned about independently (even though the components that compute the functions are not independent).  For example, the Regulate subsystem computes three independent functions, as indicated on the right.</a:t>
            </a:r>
          </a:p>
        </p:txBody>
      </p:sp>
      <p:sp>
        <p:nvSpPr>
          <p:cNvPr id="16" name="Line 44">
            <a:extLst>
              <a:ext uri="{FF2B5EF4-FFF2-40B4-BE49-F238E27FC236}">
                <a16:creationId xmlns:a16="http://schemas.microsoft.com/office/drawing/2014/main" id="{5E98469A-915E-E93A-8819-053196FAEFDD}"/>
              </a:ext>
            </a:extLst>
          </p:cNvPr>
          <p:cNvSpPr>
            <a:spLocks noChangeShapeType="1"/>
          </p:cNvSpPr>
          <p:nvPr/>
        </p:nvSpPr>
        <p:spPr bwMode="auto">
          <a:xfrm>
            <a:off x="6732188" y="1797000"/>
            <a:ext cx="186358" cy="160125"/>
          </a:xfrm>
          <a:prstGeom prst="line">
            <a:avLst/>
          </a:prstGeom>
          <a:noFill/>
          <a:ln w="28575">
            <a:solidFill>
              <a:srgbClr val="FF0000"/>
            </a:solidFill>
            <a:prstDash val="sysDash"/>
            <a:round/>
            <a:headEnd/>
            <a:tailEnd/>
          </a:ln>
          <a:extLst>
            <a:ext uri="{909E8E84-426E-40DD-AFC4-6F175D3DCCD1}">
              <a14:hiddenFill xmlns:a14="http://schemas.microsoft.com/office/drawing/2010/main">
                <a:noFill/>
              </a14:hiddenFill>
            </a:ext>
          </a:extLst>
        </p:spPr>
        <p:txBody>
          <a:bodyPr wrap="square" anchor="ctr">
            <a:spAutoFit/>
          </a:bodyPr>
          <a:lstStyle/>
          <a:p>
            <a:endParaRPr lang="en-US" dirty="0"/>
          </a:p>
        </p:txBody>
      </p:sp>
      <p:sp>
        <p:nvSpPr>
          <p:cNvPr id="17" name="Text Box 43">
            <a:extLst>
              <a:ext uri="{FF2B5EF4-FFF2-40B4-BE49-F238E27FC236}">
                <a16:creationId xmlns:a16="http://schemas.microsoft.com/office/drawing/2014/main" id="{73EF3576-0513-9AEA-93C8-D2817837B99F}"/>
              </a:ext>
            </a:extLst>
          </p:cNvPr>
          <p:cNvSpPr txBox="1">
            <a:spLocks noChangeArrowheads="1"/>
          </p:cNvSpPr>
          <p:nvPr/>
        </p:nvSpPr>
        <p:spPr bwMode="auto">
          <a:xfrm>
            <a:off x="7016888" y="1404613"/>
            <a:ext cx="1949069" cy="276999"/>
          </a:xfrm>
          <a:prstGeom prst="rect">
            <a:avLst/>
          </a:prstGeom>
          <a:solidFill>
            <a:schemeClr val="accent2"/>
          </a:solidFill>
          <a:ln w="12700">
            <a:solidFill>
              <a:schemeClr val="tx1"/>
            </a:solidFill>
            <a:miter lim="800000"/>
            <a:headEnd/>
            <a:tailEnd/>
          </a:ln>
          <a:effectLst>
            <a:outerShdw blurRad="63500" dist="35921" dir="2700000" algn="ctr" rotWithShape="0">
              <a:schemeClr val="bg2"/>
            </a:outerShdw>
          </a:effectLst>
        </p:spPr>
        <p:txBody>
          <a:bodyPr wrap="square" anchor="ctr">
            <a:spAutoFit/>
          </a:bodyPr>
          <a:lstStyle/>
          <a:p>
            <a:pPr algn="l">
              <a:defRPr/>
            </a:pPr>
            <a:r>
              <a:rPr lang="en-US" sz="1200" b="1" i="1" dirty="0">
                <a:latin typeface="Tahoma" pitchFamily="-84" charset="0"/>
              </a:rPr>
              <a:t>Display Temp </a:t>
            </a:r>
            <a:r>
              <a:rPr lang="en-US" sz="1200" i="1" dirty="0">
                <a:latin typeface="Tahoma" pitchFamily="-84" charset="0"/>
              </a:rPr>
              <a:t>function</a:t>
            </a:r>
          </a:p>
        </p:txBody>
      </p:sp>
      <p:sp>
        <p:nvSpPr>
          <p:cNvPr id="18" name="Text Box 43">
            <a:extLst>
              <a:ext uri="{FF2B5EF4-FFF2-40B4-BE49-F238E27FC236}">
                <a16:creationId xmlns:a16="http://schemas.microsoft.com/office/drawing/2014/main" id="{6ADEF3E2-CA52-E913-12C8-9BE1E0ABBD6D}"/>
              </a:ext>
            </a:extLst>
          </p:cNvPr>
          <p:cNvSpPr txBox="1">
            <a:spLocks noChangeArrowheads="1"/>
          </p:cNvSpPr>
          <p:nvPr/>
        </p:nvSpPr>
        <p:spPr bwMode="auto">
          <a:xfrm>
            <a:off x="6924622" y="1804725"/>
            <a:ext cx="2133600" cy="276999"/>
          </a:xfrm>
          <a:prstGeom prst="rect">
            <a:avLst/>
          </a:prstGeom>
          <a:solidFill>
            <a:schemeClr val="accent2"/>
          </a:solidFill>
          <a:ln w="12700">
            <a:solidFill>
              <a:schemeClr val="tx1"/>
            </a:solidFill>
            <a:miter lim="800000"/>
            <a:headEnd/>
            <a:tailEnd/>
          </a:ln>
          <a:effectLst>
            <a:outerShdw blurRad="63500" dist="35921" dir="2700000" algn="ctr" rotWithShape="0">
              <a:schemeClr val="bg2"/>
            </a:outerShdw>
          </a:effectLst>
        </p:spPr>
        <p:txBody>
          <a:bodyPr wrap="square" anchor="ctr">
            <a:spAutoFit/>
          </a:bodyPr>
          <a:lstStyle/>
          <a:p>
            <a:pPr algn="l">
              <a:defRPr/>
            </a:pPr>
            <a:r>
              <a:rPr lang="en-US" sz="1200" b="1" i="1" dirty="0">
                <a:latin typeface="Tahoma" pitchFamily="-84" charset="0"/>
              </a:rPr>
              <a:t>Regulator Status </a:t>
            </a:r>
            <a:r>
              <a:rPr lang="en-US" sz="1200" i="1" dirty="0">
                <a:latin typeface="Tahoma" pitchFamily="-84" charset="0"/>
              </a:rPr>
              <a:t>function</a:t>
            </a:r>
          </a:p>
        </p:txBody>
      </p:sp>
      <p:sp>
        <p:nvSpPr>
          <p:cNvPr id="19" name="Text Box 43">
            <a:extLst>
              <a:ext uri="{FF2B5EF4-FFF2-40B4-BE49-F238E27FC236}">
                <a16:creationId xmlns:a16="http://schemas.microsoft.com/office/drawing/2014/main" id="{321141DC-8262-B44D-9755-F70B59981582}"/>
              </a:ext>
            </a:extLst>
          </p:cNvPr>
          <p:cNvSpPr txBox="1">
            <a:spLocks noChangeArrowheads="1"/>
          </p:cNvSpPr>
          <p:nvPr/>
        </p:nvSpPr>
        <p:spPr bwMode="auto">
          <a:xfrm>
            <a:off x="7015378" y="2237601"/>
            <a:ext cx="1752600" cy="276999"/>
          </a:xfrm>
          <a:prstGeom prst="rect">
            <a:avLst/>
          </a:prstGeom>
          <a:solidFill>
            <a:schemeClr val="accent2"/>
          </a:solidFill>
          <a:ln w="12700">
            <a:solidFill>
              <a:schemeClr val="tx1"/>
            </a:solidFill>
            <a:miter lim="800000"/>
            <a:headEnd/>
            <a:tailEnd/>
          </a:ln>
          <a:effectLst>
            <a:outerShdw blurRad="63500" dist="35921" dir="2700000" algn="ctr" rotWithShape="0">
              <a:schemeClr val="bg2"/>
            </a:outerShdw>
          </a:effectLst>
        </p:spPr>
        <p:txBody>
          <a:bodyPr wrap="square" anchor="ctr">
            <a:spAutoFit/>
          </a:bodyPr>
          <a:lstStyle/>
          <a:p>
            <a:pPr algn="l">
              <a:defRPr/>
            </a:pPr>
            <a:r>
              <a:rPr lang="en-US" sz="1200" b="1" i="1" dirty="0">
                <a:latin typeface="Tahoma" pitchFamily="-84" charset="0"/>
              </a:rPr>
              <a:t>Heat Control </a:t>
            </a:r>
            <a:r>
              <a:rPr lang="en-US" sz="1200" i="1" dirty="0">
                <a:latin typeface="Tahoma" pitchFamily="-84" charset="0"/>
              </a:rPr>
              <a:t>function</a:t>
            </a:r>
          </a:p>
        </p:txBody>
      </p:sp>
      <p:sp>
        <p:nvSpPr>
          <p:cNvPr id="20" name="Line 44">
            <a:extLst>
              <a:ext uri="{FF2B5EF4-FFF2-40B4-BE49-F238E27FC236}">
                <a16:creationId xmlns:a16="http://schemas.microsoft.com/office/drawing/2014/main" id="{DD7C547F-1AD9-477B-C9EC-2171B330A6A0}"/>
              </a:ext>
            </a:extLst>
          </p:cNvPr>
          <p:cNvSpPr>
            <a:spLocks noChangeShapeType="1"/>
          </p:cNvSpPr>
          <p:nvPr/>
        </p:nvSpPr>
        <p:spPr bwMode="auto">
          <a:xfrm>
            <a:off x="6757178" y="2244788"/>
            <a:ext cx="252123" cy="141736"/>
          </a:xfrm>
          <a:prstGeom prst="line">
            <a:avLst/>
          </a:prstGeom>
          <a:noFill/>
          <a:ln w="28575">
            <a:solidFill>
              <a:srgbClr val="FF0000"/>
            </a:solidFill>
            <a:prstDash val="sysDash"/>
            <a:round/>
            <a:headEnd/>
            <a:tailEnd/>
          </a:ln>
          <a:extLst>
            <a:ext uri="{909E8E84-426E-40DD-AFC4-6F175D3DCCD1}">
              <a14:hiddenFill xmlns:a14="http://schemas.microsoft.com/office/drawing/2010/main">
                <a:noFill/>
              </a14:hiddenFill>
            </a:ext>
          </a:extLst>
        </p:spPr>
        <p:txBody>
          <a:bodyPr wrap="square" anchor="ctr">
            <a:spAutoFit/>
          </a:bodyPr>
          <a:lstStyle/>
          <a:p>
            <a:endParaRPr lang="en-US" dirty="0"/>
          </a:p>
        </p:txBody>
      </p:sp>
      <p:sp>
        <p:nvSpPr>
          <p:cNvPr id="21" name="Line 44">
            <a:extLst>
              <a:ext uri="{FF2B5EF4-FFF2-40B4-BE49-F238E27FC236}">
                <a16:creationId xmlns:a16="http://schemas.microsoft.com/office/drawing/2014/main" id="{1E0D9EA1-928D-8844-EE5D-4CA64A7EDC05}"/>
              </a:ext>
            </a:extLst>
          </p:cNvPr>
          <p:cNvSpPr>
            <a:spLocks noChangeShapeType="1"/>
          </p:cNvSpPr>
          <p:nvPr/>
        </p:nvSpPr>
        <p:spPr bwMode="auto">
          <a:xfrm>
            <a:off x="6776976" y="1543112"/>
            <a:ext cx="239911" cy="57088"/>
          </a:xfrm>
          <a:prstGeom prst="line">
            <a:avLst/>
          </a:prstGeom>
          <a:noFill/>
          <a:ln w="28575">
            <a:solidFill>
              <a:srgbClr val="FF0000"/>
            </a:solidFill>
            <a:prstDash val="sysDash"/>
            <a:round/>
            <a:headEnd/>
            <a:tailEnd/>
          </a:ln>
          <a:extLst>
            <a:ext uri="{909E8E84-426E-40DD-AFC4-6F175D3DCCD1}">
              <a14:hiddenFill xmlns:a14="http://schemas.microsoft.com/office/drawing/2010/main">
                <a:noFill/>
              </a14:hiddenFill>
            </a:ext>
          </a:extLst>
        </p:spPr>
        <p:txBody>
          <a:bodyPr wrap="square" anchor="ctr">
            <a:spAutoFit/>
          </a:bodyPr>
          <a:lstStyle/>
          <a:p>
            <a:endParaRPr lang="en-US" dirty="0"/>
          </a:p>
        </p:txBody>
      </p:sp>
    </p:spTree>
    <p:extLst>
      <p:ext uri="{BB962C8B-B14F-4D97-AF65-F5344CB8AC3E}">
        <p14:creationId xmlns:p14="http://schemas.microsoft.com/office/powerpoint/2010/main" val="6110280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69349-E735-B4E6-CE9E-01F0472129C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6390C82-B2F1-E6F1-08BB-83139C9A9743}"/>
              </a:ext>
            </a:extLst>
          </p:cNvPr>
          <p:cNvSpPr>
            <a:spLocks noGrp="1"/>
          </p:cNvSpPr>
          <p:nvPr>
            <p:ph type="title"/>
          </p:nvPr>
        </p:nvSpPr>
        <p:spPr/>
        <p:txBody>
          <a:bodyPr/>
          <a:lstStyle/>
          <a:p>
            <a:r>
              <a:rPr lang="en-US" sz="2800" dirty="0"/>
              <a:t>Example: Abstract Component Spec</a:t>
            </a:r>
          </a:p>
        </p:txBody>
      </p:sp>
      <p:sp>
        <p:nvSpPr>
          <p:cNvPr id="4" name="Slide Number Placeholder 3">
            <a:extLst>
              <a:ext uri="{FF2B5EF4-FFF2-40B4-BE49-F238E27FC236}">
                <a16:creationId xmlns:a16="http://schemas.microsoft.com/office/drawing/2014/main" id="{CA42E19E-CB30-196E-8C80-B3A300AB0AAE}"/>
              </a:ext>
            </a:extLst>
          </p:cNvPr>
          <p:cNvSpPr>
            <a:spLocks noGrp="1"/>
          </p:cNvSpPr>
          <p:nvPr>
            <p:ph type="sldNum" sz="quarter" idx="11"/>
          </p:nvPr>
        </p:nvSpPr>
        <p:spPr/>
        <p:txBody>
          <a:bodyPr/>
          <a:lstStyle/>
          <a:p>
            <a:pPr>
              <a:defRPr/>
            </a:pPr>
            <a:fld id="{C22399C2-1ADD-1549-9753-CEA7C1EED1B8}" type="slidenum">
              <a:rPr lang="en-US" smtClean="0"/>
              <a:pPr>
                <a:defRPr/>
              </a:pPr>
              <a:t>10</a:t>
            </a:fld>
            <a:endParaRPr lang="en-US"/>
          </a:p>
        </p:txBody>
      </p:sp>
      <p:sp>
        <p:nvSpPr>
          <p:cNvPr id="6" name="Rectangle 5">
            <a:extLst>
              <a:ext uri="{FF2B5EF4-FFF2-40B4-BE49-F238E27FC236}">
                <a16:creationId xmlns:a16="http://schemas.microsoft.com/office/drawing/2014/main" id="{3C50341A-6EA2-0C09-0270-4DA5476B3273}"/>
              </a:ext>
            </a:extLst>
          </p:cNvPr>
          <p:cNvSpPr/>
          <p:nvPr/>
        </p:nvSpPr>
        <p:spPr bwMode="auto">
          <a:xfrm>
            <a:off x="2300937" y="2133600"/>
            <a:ext cx="4191000" cy="1524000"/>
          </a:xfrm>
          <a:prstGeom prst="rect">
            <a:avLst/>
          </a:prstGeom>
          <a:noFill/>
          <a:ln w="2857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7" name="Oval 6">
            <a:extLst>
              <a:ext uri="{FF2B5EF4-FFF2-40B4-BE49-F238E27FC236}">
                <a16:creationId xmlns:a16="http://schemas.microsoft.com/office/drawing/2014/main" id="{3E3CEB43-0CE8-8B53-ACB5-FD34494FD9EE}"/>
              </a:ext>
            </a:extLst>
          </p:cNvPr>
          <p:cNvSpPr/>
          <p:nvPr/>
        </p:nvSpPr>
        <p:spPr bwMode="auto">
          <a:xfrm>
            <a:off x="6415737" y="2423160"/>
            <a:ext cx="152400" cy="1524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0" name="Oval 9">
            <a:extLst>
              <a:ext uri="{FF2B5EF4-FFF2-40B4-BE49-F238E27FC236}">
                <a16:creationId xmlns:a16="http://schemas.microsoft.com/office/drawing/2014/main" id="{AEDCC3E6-397F-B4CE-D189-0765CA14B96A}"/>
              </a:ext>
            </a:extLst>
          </p:cNvPr>
          <p:cNvSpPr/>
          <p:nvPr/>
        </p:nvSpPr>
        <p:spPr bwMode="auto">
          <a:xfrm>
            <a:off x="2212545" y="3392230"/>
            <a:ext cx="152400" cy="1524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1" name="Oval 10">
            <a:extLst>
              <a:ext uri="{FF2B5EF4-FFF2-40B4-BE49-F238E27FC236}">
                <a16:creationId xmlns:a16="http://schemas.microsoft.com/office/drawing/2014/main" id="{49205BB3-E98F-94D0-C28A-5F31798EECD9}"/>
              </a:ext>
            </a:extLst>
          </p:cNvPr>
          <p:cNvSpPr/>
          <p:nvPr/>
        </p:nvSpPr>
        <p:spPr bwMode="auto">
          <a:xfrm>
            <a:off x="3520137" y="2589762"/>
            <a:ext cx="152400" cy="1524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2" name="Text Box 43">
            <a:extLst>
              <a:ext uri="{FF2B5EF4-FFF2-40B4-BE49-F238E27FC236}">
                <a16:creationId xmlns:a16="http://schemas.microsoft.com/office/drawing/2014/main" id="{A7D929EC-DE33-DA49-693F-8034DA87D956}"/>
              </a:ext>
            </a:extLst>
          </p:cNvPr>
          <p:cNvSpPr txBox="1">
            <a:spLocks noChangeArrowheads="1"/>
          </p:cNvSpPr>
          <p:nvPr/>
        </p:nvSpPr>
        <p:spPr bwMode="auto">
          <a:xfrm>
            <a:off x="609600" y="1162103"/>
            <a:ext cx="7543800" cy="461665"/>
          </a:xfrm>
          <a:prstGeom prst="rect">
            <a:avLst/>
          </a:prstGeom>
          <a:solidFill>
            <a:schemeClr val="accent2"/>
          </a:solidFill>
          <a:ln w="12700">
            <a:solidFill>
              <a:schemeClr val="tx1"/>
            </a:solidFill>
            <a:miter lim="800000"/>
            <a:headEnd/>
            <a:tailEnd/>
          </a:ln>
          <a:effectLst>
            <a:outerShdw blurRad="63500" dist="35921" dir="2700000" algn="ctr" rotWithShape="0">
              <a:schemeClr val="bg2"/>
            </a:outerShdw>
          </a:effectLst>
        </p:spPr>
        <p:txBody>
          <a:bodyPr wrap="square" anchor="ctr">
            <a:spAutoFit/>
          </a:bodyPr>
          <a:lstStyle/>
          <a:p>
            <a:pPr algn="l">
              <a:defRPr/>
            </a:pPr>
            <a:r>
              <a:rPr lang="en-US" sz="1200" dirty="0">
                <a:latin typeface="Tahoma" pitchFamily="-84" charset="0"/>
              </a:rPr>
              <a:t>Abstract Sub-system Component Spec (consisting of all features mentioned in requirements allocated to this component)</a:t>
            </a:r>
          </a:p>
        </p:txBody>
      </p:sp>
      <p:sp>
        <p:nvSpPr>
          <p:cNvPr id="13" name="TextBox 12">
            <a:extLst>
              <a:ext uri="{FF2B5EF4-FFF2-40B4-BE49-F238E27FC236}">
                <a16:creationId xmlns:a16="http://schemas.microsoft.com/office/drawing/2014/main" id="{A7B36E3E-90CA-7D36-8608-2C403CA9FFD7}"/>
              </a:ext>
            </a:extLst>
          </p:cNvPr>
          <p:cNvSpPr txBox="1"/>
          <p:nvPr/>
        </p:nvSpPr>
        <p:spPr>
          <a:xfrm>
            <a:off x="2200353" y="1689368"/>
            <a:ext cx="1370119" cy="461665"/>
          </a:xfrm>
          <a:prstGeom prst="rect">
            <a:avLst/>
          </a:prstGeom>
          <a:noFill/>
        </p:spPr>
        <p:txBody>
          <a:bodyPr wrap="none" rtlCol="0">
            <a:spAutoFit/>
          </a:bodyPr>
          <a:lstStyle/>
          <a:p>
            <a:r>
              <a:rPr lang="en-US" dirty="0"/>
              <a:t>Regulate</a:t>
            </a:r>
          </a:p>
        </p:txBody>
      </p:sp>
      <p:sp>
        <p:nvSpPr>
          <p:cNvPr id="14" name="TextBox 13">
            <a:extLst>
              <a:ext uri="{FF2B5EF4-FFF2-40B4-BE49-F238E27FC236}">
                <a16:creationId xmlns:a16="http://schemas.microsoft.com/office/drawing/2014/main" id="{E26185E7-5317-06B9-66BA-84A1F22C7C4F}"/>
              </a:ext>
            </a:extLst>
          </p:cNvPr>
          <p:cNvSpPr txBox="1"/>
          <p:nvPr/>
        </p:nvSpPr>
        <p:spPr>
          <a:xfrm>
            <a:off x="3672537" y="2514600"/>
            <a:ext cx="1262718" cy="276999"/>
          </a:xfrm>
          <a:prstGeom prst="rect">
            <a:avLst/>
          </a:prstGeom>
          <a:noFill/>
        </p:spPr>
        <p:txBody>
          <a:bodyPr wrap="none" rtlCol="0">
            <a:spAutoFit/>
          </a:bodyPr>
          <a:lstStyle/>
          <a:p>
            <a:r>
              <a:rPr lang="en-US" sz="1200" dirty="0" err="1"/>
              <a:t>regulator_mode</a:t>
            </a:r>
            <a:endParaRPr lang="en-US" sz="1200" dirty="0"/>
          </a:p>
        </p:txBody>
      </p:sp>
      <p:sp>
        <p:nvSpPr>
          <p:cNvPr id="15" name="TextBox 14">
            <a:extLst>
              <a:ext uri="{FF2B5EF4-FFF2-40B4-BE49-F238E27FC236}">
                <a16:creationId xmlns:a16="http://schemas.microsoft.com/office/drawing/2014/main" id="{48ECF877-26B1-DBC7-31AF-A106C0BEB1A2}"/>
              </a:ext>
            </a:extLst>
          </p:cNvPr>
          <p:cNvSpPr txBox="1"/>
          <p:nvPr/>
        </p:nvSpPr>
        <p:spPr>
          <a:xfrm>
            <a:off x="574092" y="3304401"/>
            <a:ext cx="1650645" cy="276999"/>
          </a:xfrm>
          <a:prstGeom prst="rect">
            <a:avLst/>
          </a:prstGeom>
          <a:noFill/>
        </p:spPr>
        <p:txBody>
          <a:bodyPr wrap="none" rtlCol="0">
            <a:spAutoFit/>
          </a:bodyPr>
          <a:lstStyle/>
          <a:p>
            <a:r>
              <a:rPr lang="en-US" sz="1200" dirty="0" err="1"/>
              <a:t>current_tempWstatus</a:t>
            </a:r>
            <a:endParaRPr lang="en-US" sz="1200" dirty="0"/>
          </a:p>
        </p:txBody>
      </p:sp>
      <p:sp>
        <p:nvSpPr>
          <p:cNvPr id="16" name="TextBox 15">
            <a:extLst>
              <a:ext uri="{FF2B5EF4-FFF2-40B4-BE49-F238E27FC236}">
                <a16:creationId xmlns:a16="http://schemas.microsoft.com/office/drawing/2014/main" id="{EFC9AEA9-5A41-B0F2-6CB8-B4EA6BA56442}"/>
              </a:ext>
            </a:extLst>
          </p:cNvPr>
          <p:cNvSpPr txBox="1"/>
          <p:nvPr/>
        </p:nvSpPr>
        <p:spPr>
          <a:xfrm>
            <a:off x="6587796" y="2351716"/>
            <a:ext cx="1081322" cy="276999"/>
          </a:xfrm>
          <a:prstGeom prst="rect">
            <a:avLst/>
          </a:prstGeom>
          <a:noFill/>
        </p:spPr>
        <p:txBody>
          <a:bodyPr wrap="none" rtlCol="0">
            <a:spAutoFit/>
          </a:bodyPr>
          <a:lstStyle/>
          <a:p>
            <a:r>
              <a:rPr lang="en-US" sz="1200" dirty="0" err="1"/>
              <a:t>display_temp</a:t>
            </a:r>
            <a:endParaRPr lang="en-US" sz="1200" dirty="0"/>
          </a:p>
        </p:txBody>
      </p:sp>
      <p:sp>
        <p:nvSpPr>
          <p:cNvPr id="2" name="Oval 1">
            <a:extLst>
              <a:ext uri="{FF2B5EF4-FFF2-40B4-BE49-F238E27FC236}">
                <a16:creationId xmlns:a16="http://schemas.microsoft.com/office/drawing/2014/main" id="{4B1A3E1A-8EC3-C5A5-5FDE-FDABF07A56B2}"/>
              </a:ext>
            </a:extLst>
          </p:cNvPr>
          <p:cNvSpPr/>
          <p:nvPr/>
        </p:nvSpPr>
        <p:spPr bwMode="auto">
          <a:xfrm>
            <a:off x="3520137" y="2856278"/>
            <a:ext cx="152400" cy="1524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3" name="TextBox 2">
            <a:extLst>
              <a:ext uri="{FF2B5EF4-FFF2-40B4-BE49-F238E27FC236}">
                <a16:creationId xmlns:a16="http://schemas.microsoft.com/office/drawing/2014/main" id="{157AB123-CF35-D9E9-1112-63A5787C7541}"/>
              </a:ext>
            </a:extLst>
          </p:cNvPr>
          <p:cNvSpPr txBox="1"/>
          <p:nvPr/>
        </p:nvSpPr>
        <p:spPr>
          <a:xfrm>
            <a:off x="3672537" y="2766546"/>
            <a:ext cx="1689950" cy="276999"/>
          </a:xfrm>
          <a:prstGeom prst="rect">
            <a:avLst/>
          </a:prstGeom>
          <a:noFill/>
        </p:spPr>
        <p:txBody>
          <a:bodyPr wrap="none" rtlCol="0">
            <a:spAutoFit/>
          </a:bodyPr>
          <a:lstStyle/>
          <a:p>
            <a:r>
              <a:rPr lang="en-US" sz="1200" dirty="0" err="1"/>
              <a:t>previous_heat_control</a:t>
            </a:r>
            <a:endParaRPr lang="en-US" sz="1200" dirty="0"/>
          </a:p>
        </p:txBody>
      </p:sp>
      <p:sp>
        <p:nvSpPr>
          <p:cNvPr id="8" name="TextBox 7">
            <a:extLst>
              <a:ext uri="{FF2B5EF4-FFF2-40B4-BE49-F238E27FC236}">
                <a16:creationId xmlns:a16="http://schemas.microsoft.com/office/drawing/2014/main" id="{C22BCC83-8DAB-8F46-EA64-728BD29D52A2}"/>
              </a:ext>
            </a:extLst>
          </p:cNvPr>
          <p:cNvSpPr txBox="1"/>
          <p:nvPr/>
        </p:nvSpPr>
        <p:spPr>
          <a:xfrm>
            <a:off x="561900" y="2155228"/>
            <a:ext cx="1641796" cy="230832"/>
          </a:xfrm>
          <a:prstGeom prst="rect">
            <a:avLst/>
          </a:prstGeom>
          <a:noFill/>
        </p:spPr>
        <p:txBody>
          <a:bodyPr wrap="none" rtlCol="0">
            <a:spAutoFit/>
          </a:bodyPr>
          <a:lstStyle/>
          <a:p>
            <a:r>
              <a:rPr lang="en-US" sz="900" dirty="0" err="1"/>
              <a:t>upper_desired_tempWstatus</a:t>
            </a:r>
            <a:endParaRPr lang="en-US" sz="900" dirty="0"/>
          </a:p>
        </p:txBody>
      </p:sp>
      <p:sp>
        <p:nvSpPr>
          <p:cNvPr id="9" name="TextBox 8">
            <a:extLst>
              <a:ext uri="{FF2B5EF4-FFF2-40B4-BE49-F238E27FC236}">
                <a16:creationId xmlns:a16="http://schemas.microsoft.com/office/drawing/2014/main" id="{ED45E103-C567-3AED-A468-2B85FAE73C62}"/>
              </a:ext>
            </a:extLst>
          </p:cNvPr>
          <p:cNvSpPr txBox="1"/>
          <p:nvPr/>
        </p:nvSpPr>
        <p:spPr>
          <a:xfrm>
            <a:off x="570749" y="2359968"/>
            <a:ext cx="1622560" cy="230832"/>
          </a:xfrm>
          <a:prstGeom prst="rect">
            <a:avLst/>
          </a:prstGeom>
          <a:noFill/>
        </p:spPr>
        <p:txBody>
          <a:bodyPr wrap="none" rtlCol="0">
            <a:spAutoFit/>
          </a:bodyPr>
          <a:lstStyle/>
          <a:p>
            <a:r>
              <a:rPr lang="en-US" sz="900" dirty="0" err="1"/>
              <a:t>lower_desired_tempWstatus</a:t>
            </a:r>
            <a:endParaRPr lang="en-US" sz="900" dirty="0"/>
          </a:p>
        </p:txBody>
      </p:sp>
      <p:sp>
        <p:nvSpPr>
          <p:cNvPr id="17" name="Oval 16">
            <a:extLst>
              <a:ext uri="{FF2B5EF4-FFF2-40B4-BE49-F238E27FC236}">
                <a16:creationId xmlns:a16="http://schemas.microsoft.com/office/drawing/2014/main" id="{7F7CD188-4E08-3CCA-FFD9-CD4D02D35E49}"/>
              </a:ext>
            </a:extLst>
          </p:cNvPr>
          <p:cNvSpPr/>
          <p:nvPr/>
        </p:nvSpPr>
        <p:spPr bwMode="auto">
          <a:xfrm>
            <a:off x="2221984" y="2200657"/>
            <a:ext cx="152400" cy="1524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8" name="Oval 17">
            <a:extLst>
              <a:ext uri="{FF2B5EF4-FFF2-40B4-BE49-F238E27FC236}">
                <a16:creationId xmlns:a16="http://schemas.microsoft.com/office/drawing/2014/main" id="{24898490-88D9-9871-BD89-C8BA12129F95}"/>
              </a:ext>
            </a:extLst>
          </p:cNvPr>
          <p:cNvSpPr/>
          <p:nvPr/>
        </p:nvSpPr>
        <p:spPr bwMode="auto">
          <a:xfrm>
            <a:off x="2225032" y="2417065"/>
            <a:ext cx="152400" cy="1524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9" name="Oval 18">
            <a:extLst>
              <a:ext uri="{FF2B5EF4-FFF2-40B4-BE49-F238E27FC236}">
                <a16:creationId xmlns:a16="http://schemas.microsoft.com/office/drawing/2014/main" id="{0D5B8F4D-1C52-22F7-8640-7C4F061AA338}"/>
              </a:ext>
            </a:extLst>
          </p:cNvPr>
          <p:cNvSpPr/>
          <p:nvPr/>
        </p:nvSpPr>
        <p:spPr bwMode="auto">
          <a:xfrm>
            <a:off x="6427506" y="3297936"/>
            <a:ext cx="152400" cy="1524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20" name="TextBox 19">
            <a:extLst>
              <a:ext uri="{FF2B5EF4-FFF2-40B4-BE49-F238E27FC236}">
                <a16:creationId xmlns:a16="http://schemas.microsoft.com/office/drawing/2014/main" id="{0946D09B-EB0B-96D2-7AD7-ADA54C1DDDB5}"/>
              </a:ext>
            </a:extLst>
          </p:cNvPr>
          <p:cNvSpPr txBox="1"/>
          <p:nvPr/>
        </p:nvSpPr>
        <p:spPr>
          <a:xfrm>
            <a:off x="6599565" y="3226492"/>
            <a:ext cx="1033488" cy="276999"/>
          </a:xfrm>
          <a:prstGeom prst="rect">
            <a:avLst/>
          </a:prstGeom>
          <a:noFill/>
        </p:spPr>
        <p:txBody>
          <a:bodyPr wrap="none" rtlCol="0">
            <a:spAutoFit/>
          </a:bodyPr>
          <a:lstStyle/>
          <a:p>
            <a:r>
              <a:rPr lang="en-US" sz="1200" dirty="0" err="1"/>
              <a:t>heat_control</a:t>
            </a:r>
            <a:endParaRPr lang="en-US" sz="1200" dirty="0"/>
          </a:p>
        </p:txBody>
      </p:sp>
      <p:sp>
        <p:nvSpPr>
          <p:cNvPr id="21" name="TextBox 20">
            <a:extLst>
              <a:ext uri="{FF2B5EF4-FFF2-40B4-BE49-F238E27FC236}">
                <a16:creationId xmlns:a16="http://schemas.microsoft.com/office/drawing/2014/main" id="{0F5E19DA-5392-5125-8422-259E7C22D52C}"/>
              </a:ext>
            </a:extLst>
          </p:cNvPr>
          <p:cNvSpPr txBox="1"/>
          <p:nvPr/>
        </p:nvSpPr>
        <p:spPr>
          <a:xfrm>
            <a:off x="6599565" y="2793308"/>
            <a:ext cx="1325235" cy="276999"/>
          </a:xfrm>
          <a:prstGeom prst="rect">
            <a:avLst/>
          </a:prstGeom>
          <a:noFill/>
        </p:spPr>
        <p:txBody>
          <a:bodyPr wrap="none" rtlCol="0">
            <a:spAutoFit/>
          </a:bodyPr>
          <a:lstStyle/>
          <a:p>
            <a:r>
              <a:rPr lang="en-US" sz="1200" dirty="0" err="1"/>
              <a:t>regulator_status</a:t>
            </a:r>
            <a:endParaRPr lang="en-US" sz="1200" dirty="0"/>
          </a:p>
        </p:txBody>
      </p:sp>
      <p:sp>
        <p:nvSpPr>
          <p:cNvPr id="22" name="Oval 21">
            <a:extLst>
              <a:ext uri="{FF2B5EF4-FFF2-40B4-BE49-F238E27FC236}">
                <a16:creationId xmlns:a16="http://schemas.microsoft.com/office/drawing/2014/main" id="{79DC16E4-0849-EB70-E730-12942E07814C}"/>
              </a:ext>
            </a:extLst>
          </p:cNvPr>
          <p:cNvSpPr/>
          <p:nvPr/>
        </p:nvSpPr>
        <p:spPr bwMode="auto">
          <a:xfrm>
            <a:off x="6425829" y="2875603"/>
            <a:ext cx="152400" cy="1524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23" name="Oval 22">
            <a:extLst>
              <a:ext uri="{FF2B5EF4-FFF2-40B4-BE49-F238E27FC236}">
                <a16:creationId xmlns:a16="http://schemas.microsoft.com/office/drawing/2014/main" id="{CEF237C3-1942-6346-4292-65360DA0D9D8}"/>
              </a:ext>
            </a:extLst>
          </p:cNvPr>
          <p:cNvSpPr/>
          <p:nvPr/>
        </p:nvSpPr>
        <p:spPr bwMode="auto">
          <a:xfrm>
            <a:off x="3520137" y="3113280"/>
            <a:ext cx="152400" cy="1524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24" name="TextBox 23">
            <a:extLst>
              <a:ext uri="{FF2B5EF4-FFF2-40B4-BE49-F238E27FC236}">
                <a16:creationId xmlns:a16="http://schemas.microsoft.com/office/drawing/2014/main" id="{57DE87D1-BD1B-342F-7634-A47AA9E7FD01}"/>
              </a:ext>
            </a:extLst>
          </p:cNvPr>
          <p:cNvSpPr txBox="1"/>
          <p:nvPr/>
        </p:nvSpPr>
        <p:spPr>
          <a:xfrm>
            <a:off x="3672537" y="3022947"/>
            <a:ext cx="1203278" cy="276999"/>
          </a:xfrm>
          <a:prstGeom prst="rect">
            <a:avLst/>
          </a:prstGeom>
          <a:noFill/>
        </p:spPr>
        <p:txBody>
          <a:bodyPr wrap="none" rtlCol="0">
            <a:spAutoFit/>
          </a:bodyPr>
          <a:lstStyle/>
          <a:p>
            <a:r>
              <a:rPr lang="en-US" sz="1200" dirty="0" err="1"/>
              <a:t>internal_failure</a:t>
            </a:r>
            <a:endParaRPr lang="en-US" sz="1200" dirty="0"/>
          </a:p>
        </p:txBody>
      </p:sp>
    </p:spTree>
    <p:extLst>
      <p:ext uri="{BB962C8B-B14F-4D97-AF65-F5344CB8AC3E}">
        <p14:creationId xmlns:p14="http://schemas.microsoft.com/office/powerpoint/2010/main" val="41350619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023FF-07CA-D49C-4C25-F49510BBF19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CFE8D86-DEC6-C301-7DD4-DD8313455F15}"/>
              </a:ext>
            </a:extLst>
          </p:cNvPr>
          <p:cNvSpPr>
            <a:spLocks noGrp="1"/>
          </p:cNvSpPr>
          <p:nvPr>
            <p:ph type="title"/>
          </p:nvPr>
        </p:nvSpPr>
        <p:spPr/>
        <p:txBody>
          <a:bodyPr/>
          <a:lstStyle/>
          <a:p>
            <a:r>
              <a:rPr lang="en-US" sz="2800" dirty="0"/>
              <a:t>Example: Abstract Functional Specification</a:t>
            </a:r>
          </a:p>
        </p:txBody>
      </p:sp>
      <p:sp>
        <p:nvSpPr>
          <p:cNvPr id="29" name="Content Placeholder 28">
            <a:extLst>
              <a:ext uri="{FF2B5EF4-FFF2-40B4-BE49-F238E27FC236}">
                <a16:creationId xmlns:a16="http://schemas.microsoft.com/office/drawing/2014/main" id="{36487910-D8C7-943C-C8F2-3058FD58C671}"/>
              </a:ext>
            </a:extLst>
          </p:cNvPr>
          <p:cNvSpPr>
            <a:spLocks noGrp="1"/>
          </p:cNvSpPr>
          <p:nvPr>
            <p:ph idx="1"/>
          </p:nvPr>
        </p:nvSpPr>
        <p:spPr>
          <a:xfrm>
            <a:off x="685800" y="3988648"/>
            <a:ext cx="8153400" cy="2412152"/>
          </a:xfrm>
        </p:spPr>
        <p:txBody>
          <a:bodyPr/>
          <a:lstStyle/>
          <a:p>
            <a:r>
              <a:rPr lang="en-US" sz="1400" dirty="0"/>
              <a:t>Like a thread interface and contract, each functional spec indicates </a:t>
            </a:r>
          </a:p>
          <a:p>
            <a:pPr lvl="1"/>
            <a:r>
              <a:rPr lang="en-US" sz="1200" dirty="0"/>
              <a:t>boundary port inputs</a:t>
            </a:r>
          </a:p>
          <a:p>
            <a:pPr lvl="1"/>
            <a:r>
              <a:rPr lang="en-US" sz="1200" dirty="0"/>
              <a:t>boundary port outputs</a:t>
            </a:r>
          </a:p>
          <a:p>
            <a:pPr lvl="1"/>
            <a:r>
              <a:rPr lang="en-US" sz="1200" dirty="0"/>
              <a:t>Local state read (as necessary for requirements)</a:t>
            </a:r>
          </a:p>
          <a:p>
            <a:pPr lvl="1"/>
            <a:r>
              <a:rPr lang="en-US" sz="1200" dirty="0"/>
              <a:t>Local state updated (as necessary for requirements)</a:t>
            </a:r>
          </a:p>
          <a:p>
            <a:r>
              <a:rPr lang="en-US" sz="1400" dirty="0"/>
              <a:t>Note: potential source of ambiguity – does </a:t>
            </a:r>
            <a:r>
              <a:rPr lang="en-US" sz="1400" dirty="0" err="1"/>
              <a:t>regulator_mode</a:t>
            </a:r>
            <a:r>
              <a:rPr lang="en-US" sz="1400" dirty="0"/>
              <a:t> in the example above refer to the previous mode (mode from the previous cycle) or newly computed mode</a:t>
            </a:r>
          </a:p>
          <a:p>
            <a:pPr lvl="1"/>
            <a:r>
              <a:rPr lang="en-US" sz="1200" dirty="0"/>
              <a:t>In the actual implementation, it depends on the previous mode computed in the previous cycle</a:t>
            </a:r>
          </a:p>
        </p:txBody>
      </p:sp>
      <p:sp>
        <p:nvSpPr>
          <p:cNvPr id="4" name="Slide Number Placeholder 3">
            <a:extLst>
              <a:ext uri="{FF2B5EF4-FFF2-40B4-BE49-F238E27FC236}">
                <a16:creationId xmlns:a16="http://schemas.microsoft.com/office/drawing/2014/main" id="{C91BD2E7-3DA7-C2DC-FABB-FC90482D38D3}"/>
              </a:ext>
            </a:extLst>
          </p:cNvPr>
          <p:cNvSpPr>
            <a:spLocks noGrp="1"/>
          </p:cNvSpPr>
          <p:nvPr>
            <p:ph type="sldNum" sz="quarter" idx="11"/>
          </p:nvPr>
        </p:nvSpPr>
        <p:spPr/>
        <p:txBody>
          <a:bodyPr/>
          <a:lstStyle/>
          <a:p>
            <a:pPr>
              <a:defRPr/>
            </a:pPr>
            <a:fld id="{C22399C2-1ADD-1549-9753-CEA7C1EED1B8}" type="slidenum">
              <a:rPr lang="en-US" smtClean="0"/>
              <a:pPr>
                <a:defRPr/>
              </a:pPr>
              <a:t>11</a:t>
            </a:fld>
            <a:endParaRPr lang="en-US"/>
          </a:p>
        </p:txBody>
      </p:sp>
      <p:sp>
        <p:nvSpPr>
          <p:cNvPr id="6" name="Rectangle 5">
            <a:extLst>
              <a:ext uri="{FF2B5EF4-FFF2-40B4-BE49-F238E27FC236}">
                <a16:creationId xmlns:a16="http://schemas.microsoft.com/office/drawing/2014/main" id="{60EF86F4-C5B2-9195-7DD7-FB1F0C382E33}"/>
              </a:ext>
            </a:extLst>
          </p:cNvPr>
          <p:cNvSpPr/>
          <p:nvPr/>
        </p:nvSpPr>
        <p:spPr bwMode="auto">
          <a:xfrm>
            <a:off x="2300937" y="2133600"/>
            <a:ext cx="4191000" cy="1524000"/>
          </a:xfrm>
          <a:prstGeom prst="rect">
            <a:avLst/>
          </a:prstGeom>
          <a:noFill/>
          <a:ln w="2857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7" name="Oval 6">
            <a:extLst>
              <a:ext uri="{FF2B5EF4-FFF2-40B4-BE49-F238E27FC236}">
                <a16:creationId xmlns:a16="http://schemas.microsoft.com/office/drawing/2014/main" id="{527867D1-3521-CE92-2BD9-82F6F3783CB4}"/>
              </a:ext>
            </a:extLst>
          </p:cNvPr>
          <p:cNvSpPr/>
          <p:nvPr/>
        </p:nvSpPr>
        <p:spPr bwMode="auto">
          <a:xfrm>
            <a:off x="6415737" y="2423160"/>
            <a:ext cx="152400" cy="1524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0" name="Oval 9">
            <a:extLst>
              <a:ext uri="{FF2B5EF4-FFF2-40B4-BE49-F238E27FC236}">
                <a16:creationId xmlns:a16="http://schemas.microsoft.com/office/drawing/2014/main" id="{BE2B9416-5ADA-7DFC-D433-EE6B91370213}"/>
              </a:ext>
            </a:extLst>
          </p:cNvPr>
          <p:cNvSpPr/>
          <p:nvPr/>
        </p:nvSpPr>
        <p:spPr bwMode="auto">
          <a:xfrm>
            <a:off x="2212545" y="3392230"/>
            <a:ext cx="152400" cy="1524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1" name="Oval 10">
            <a:extLst>
              <a:ext uri="{FF2B5EF4-FFF2-40B4-BE49-F238E27FC236}">
                <a16:creationId xmlns:a16="http://schemas.microsoft.com/office/drawing/2014/main" id="{B153AF5D-0CA5-352C-8290-CA54F8B4FD14}"/>
              </a:ext>
            </a:extLst>
          </p:cNvPr>
          <p:cNvSpPr/>
          <p:nvPr/>
        </p:nvSpPr>
        <p:spPr bwMode="auto">
          <a:xfrm>
            <a:off x="3520137" y="2589762"/>
            <a:ext cx="152400" cy="1524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2" name="Text Box 43">
            <a:extLst>
              <a:ext uri="{FF2B5EF4-FFF2-40B4-BE49-F238E27FC236}">
                <a16:creationId xmlns:a16="http://schemas.microsoft.com/office/drawing/2014/main" id="{D52FB430-B5B8-1A6B-D094-788E1F937BFE}"/>
              </a:ext>
            </a:extLst>
          </p:cNvPr>
          <p:cNvSpPr txBox="1">
            <a:spLocks noChangeArrowheads="1"/>
          </p:cNvSpPr>
          <p:nvPr/>
        </p:nvSpPr>
        <p:spPr bwMode="auto">
          <a:xfrm>
            <a:off x="609600" y="1254436"/>
            <a:ext cx="7543800" cy="276999"/>
          </a:xfrm>
          <a:prstGeom prst="rect">
            <a:avLst/>
          </a:prstGeom>
          <a:solidFill>
            <a:schemeClr val="accent2"/>
          </a:solidFill>
          <a:ln w="12700">
            <a:solidFill>
              <a:schemeClr val="tx1"/>
            </a:solidFill>
            <a:miter lim="800000"/>
            <a:headEnd/>
            <a:tailEnd/>
          </a:ln>
          <a:effectLst>
            <a:outerShdw blurRad="63500" dist="35921" dir="2700000" algn="ctr" rotWithShape="0">
              <a:schemeClr val="bg2"/>
            </a:outerShdw>
          </a:effectLst>
        </p:spPr>
        <p:txBody>
          <a:bodyPr wrap="square" anchor="ctr">
            <a:spAutoFit/>
          </a:bodyPr>
          <a:lstStyle/>
          <a:p>
            <a:pPr algn="l">
              <a:defRPr/>
            </a:pPr>
            <a:r>
              <a:rPr lang="en-US" sz="1200" dirty="0">
                <a:latin typeface="Tahoma" pitchFamily="-84" charset="0"/>
              </a:rPr>
              <a:t>Overlaying the </a:t>
            </a:r>
            <a:r>
              <a:rPr lang="en-US" sz="1200" b="1" dirty="0">
                <a:latin typeface="Tahoma" pitchFamily="-84" charset="0"/>
              </a:rPr>
              <a:t>Display Temp </a:t>
            </a:r>
            <a:r>
              <a:rPr lang="en-US" sz="1200" dirty="0">
                <a:latin typeface="Tahoma" pitchFamily="-84" charset="0"/>
              </a:rPr>
              <a:t>function using notation similar to AADL Flows</a:t>
            </a:r>
          </a:p>
        </p:txBody>
      </p:sp>
      <p:sp>
        <p:nvSpPr>
          <p:cNvPr id="13" name="TextBox 12">
            <a:extLst>
              <a:ext uri="{FF2B5EF4-FFF2-40B4-BE49-F238E27FC236}">
                <a16:creationId xmlns:a16="http://schemas.microsoft.com/office/drawing/2014/main" id="{E914B74F-99FA-54A5-162F-CC8F4D3EF405}"/>
              </a:ext>
            </a:extLst>
          </p:cNvPr>
          <p:cNvSpPr txBox="1"/>
          <p:nvPr/>
        </p:nvSpPr>
        <p:spPr>
          <a:xfrm>
            <a:off x="2200353" y="1689368"/>
            <a:ext cx="1370119" cy="461665"/>
          </a:xfrm>
          <a:prstGeom prst="rect">
            <a:avLst/>
          </a:prstGeom>
          <a:noFill/>
        </p:spPr>
        <p:txBody>
          <a:bodyPr wrap="none" rtlCol="0">
            <a:spAutoFit/>
          </a:bodyPr>
          <a:lstStyle/>
          <a:p>
            <a:r>
              <a:rPr lang="en-US" dirty="0"/>
              <a:t>Regulate</a:t>
            </a:r>
          </a:p>
        </p:txBody>
      </p:sp>
      <p:sp>
        <p:nvSpPr>
          <p:cNvPr id="14" name="TextBox 13">
            <a:extLst>
              <a:ext uri="{FF2B5EF4-FFF2-40B4-BE49-F238E27FC236}">
                <a16:creationId xmlns:a16="http://schemas.microsoft.com/office/drawing/2014/main" id="{4545094A-4872-41B9-E96B-141D37242449}"/>
              </a:ext>
            </a:extLst>
          </p:cNvPr>
          <p:cNvSpPr txBox="1"/>
          <p:nvPr/>
        </p:nvSpPr>
        <p:spPr>
          <a:xfrm>
            <a:off x="3672537" y="2514600"/>
            <a:ext cx="1262718" cy="276999"/>
          </a:xfrm>
          <a:prstGeom prst="rect">
            <a:avLst/>
          </a:prstGeom>
          <a:noFill/>
        </p:spPr>
        <p:txBody>
          <a:bodyPr wrap="none" rtlCol="0">
            <a:spAutoFit/>
          </a:bodyPr>
          <a:lstStyle/>
          <a:p>
            <a:r>
              <a:rPr lang="en-US" sz="1200" dirty="0" err="1"/>
              <a:t>regulator_mode</a:t>
            </a:r>
            <a:endParaRPr lang="en-US" sz="1200" dirty="0"/>
          </a:p>
        </p:txBody>
      </p:sp>
      <p:sp>
        <p:nvSpPr>
          <p:cNvPr id="15" name="TextBox 14">
            <a:extLst>
              <a:ext uri="{FF2B5EF4-FFF2-40B4-BE49-F238E27FC236}">
                <a16:creationId xmlns:a16="http://schemas.microsoft.com/office/drawing/2014/main" id="{13CA30EA-7222-DB8A-C42B-E4C692F70266}"/>
              </a:ext>
            </a:extLst>
          </p:cNvPr>
          <p:cNvSpPr txBox="1"/>
          <p:nvPr/>
        </p:nvSpPr>
        <p:spPr>
          <a:xfrm>
            <a:off x="574092" y="3304401"/>
            <a:ext cx="1650645" cy="276999"/>
          </a:xfrm>
          <a:prstGeom prst="rect">
            <a:avLst/>
          </a:prstGeom>
          <a:noFill/>
        </p:spPr>
        <p:txBody>
          <a:bodyPr wrap="none" rtlCol="0">
            <a:spAutoFit/>
          </a:bodyPr>
          <a:lstStyle/>
          <a:p>
            <a:r>
              <a:rPr lang="en-US" sz="1200" dirty="0" err="1"/>
              <a:t>current_tempWstatus</a:t>
            </a:r>
            <a:endParaRPr lang="en-US" sz="1200" dirty="0"/>
          </a:p>
        </p:txBody>
      </p:sp>
      <p:sp>
        <p:nvSpPr>
          <p:cNvPr id="16" name="TextBox 15">
            <a:extLst>
              <a:ext uri="{FF2B5EF4-FFF2-40B4-BE49-F238E27FC236}">
                <a16:creationId xmlns:a16="http://schemas.microsoft.com/office/drawing/2014/main" id="{2CFA3FF2-5DB8-4490-5B06-5956480FE4AF}"/>
              </a:ext>
            </a:extLst>
          </p:cNvPr>
          <p:cNvSpPr txBox="1"/>
          <p:nvPr/>
        </p:nvSpPr>
        <p:spPr>
          <a:xfrm>
            <a:off x="6587796" y="2351716"/>
            <a:ext cx="1081322" cy="276999"/>
          </a:xfrm>
          <a:prstGeom prst="rect">
            <a:avLst/>
          </a:prstGeom>
          <a:noFill/>
        </p:spPr>
        <p:txBody>
          <a:bodyPr wrap="none" rtlCol="0">
            <a:spAutoFit/>
          </a:bodyPr>
          <a:lstStyle/>
          <a:p>
            <a:r>
              <a:rPr lang="en-US" sz="1200" dirty="0" err="1"/>
              <a:t>display_temp</a:t>
            </a:r>
            <a:endParaRPr lang="en-US" sz="1200" dirty="0"/>
          </a:p>
        </p:txBody>
      </p:sp>
      <p:sp>
        <p:nvSpPr>
          <p:cNvPr id="2" name="Oval 1">
            <a:extLst>
              <a:ext uri="{FF2B5EF4-FFF2-40B4-BE49-F238E27FC236}">
                <a16:creationId xmlns:a16="http://schemas.microsoft.com/office/drawing/2014/main" id="{CAC38920-A658-34C5-D0C8-68F3D83251DA}"/>
              </a:ext>
            </a:extLst>
          </p:cNvPr>
          <p:cNvSpPr/>
          <p:nvPr/>
        </p:nvSpPr>
        <p:spPr bwMode="auto">
          <a:xfrm>
            <a:off x="3520137" y="2856278"/>
            <a:ext cx="152400" cy="1524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3" name="TextBox 2">
            <a:extLst>
              <a:ext uri="{FF2B5EF4-FFF2-40B4-BE49-F238E27FC236}">
                <a16:creationId xmlns:a16="http://schemas.microsoft.com/office/drawing/2014/main" id="{F7739E22-768F-65AF-4FF4-09A50F531587}"/>
              </a:ext>
            </a:extLst>
          </p:cNvPr>
          <p:cNvSpPr txBox="1"/>
          <p:nvPr/>
        </p:nvSpPr>
        <p:spPr>
          <a:xfrm>
            <a:off x="3672537" y="2766546"/>
            <a:ext cx="1689950" cy="276999"/>
          </a:xfrm>
          <a:prstGeom prst="rect">
            <a:avLst/>
          </a:prstGeom>
          <a:noFill/>
        </p:spPr>
        <p:txBody>
          <a:bodyPr wrap="none" rtlCol="0">
            <a:spAutoFit/>
          </a:bodyPr>
          <a:lstStyle/>
          <a:p>
            <a:r>
              <a:rPr lang="en-US" sz="1200" dirty="0" err="1"/>
              <a:t>previous_heat_control</a:t>
            </a:r>
            <a:endParaRPr lang="en-US" sz="1200" dirty="0"/>
          </a:p>
        </p:txBody>
      </p:sp>
      <p:sp>
        <p:nvSpPr>
          <p:cNvPr id="8" name="TextBox 7">
            <a:extLst>
              <a:ext uri="{FF2B5EF4-FFF2-40B4-BE49-F238E27FC236}">
                <a16:creationId xmlns:a16="http://schemas.microsoft.com/office/drawing/2014/main" id="{917B62B2-ECC8-ACD2-207C-A7C06BCCBADA}"/>
              </a:ext>
            </a:extLst>
          </p:cNvPr>
          <p:cNvSpPr txBox="1"/>
          <p:nvPr/>
        </p:nvSpPr>
        <p:spPr>
          <a:xfrm>
            <a:off x="561900" y="2155228"/>
            <a:ext cx="1641796" cy="230832"/>
          </a:xfrm>
          <a:prstGeom prst="rect">
            <a:avLst/>
          </a:prstGeom>
          <a:noFill/>
        </p:spPr>
        <p:txBody>
          <a:bodyPr wrap="none" rtlCol="0">
            <a:spAutoFit/>
          </a:bodyPr>
          <a:lstStyle/>
          <a:p>
            <a:r>
              <a:rPr lang="en-US" sz="900" dirty="0" err="1"/>
              <a:t>upper_desired_tempWstatus</a:t>
            </a:r>
            <a:endParaRPr lang="en-US" sz="900" dirty="0"/>
          </a:p>
        </p:txBody>
      </p:sp>
      <p:sp>
        <p:nvSpPr>
          <p:cNvPr id="9" name="TextBox 8">
            <a:extLst>
              <a:ext uri="{FF2B5EF4-FFF2-40B4-BE49-F238E27FC236}">
                <a16:creationId xmlns:a16="http://schemas.microsoft.com/office/drawing/2014/main" id="{152C194B-676C-8937-C672-9DF83CD5BEE3}"/>
              </a:ext>
            </a:extLst>
          </p:cNvPr>
          <p:cNvSpPr txBox="1"/>
          <p:nvPr/>
        </p:nvSpPr>
        <p:spPr>
          <a:xfrm>
            <a:off x="570749" y="2359968"/>
            <a:ext cx="1622560" cy="230832"/>
          </a:xfrm>
          <a:prstGeom prst="rect">
            <a:avLst/>
          </a:prstGeom>
          <a:noFill/>
        </p:spPr>
        <p:txBody>
          <a:bodyPr wrap="none" rtlCol="0">
            <a:spAutoFit/>
          </a:bodyPr>
          <a:lstStyle/>
          <a:p>
            <a:r>
              <a:rPr lang="en-US" sz="900" dirty="0" err="1"/>
              <a:t>lower_desired_tempWstatus</a:t>
            </a:r>
            <a:endParaRPr lang="en-US" sz="900" dirty="0"/>
          </a:p>
        </p:txBody>
      </p:sp>
      <p:sp>
        <p:nvSpPr>
          <p:cNvPr id="17" name="Oval 16">
            <a:extLst>
              <a:ext uri="{FF2B5EF4-FFF2-40B4-BE49-F238E27FC236}">
                <a16:creationId xmlns:a16="http://schemas.microsoft.com/office/drawing/2014/main" id="{4C70C1B2-5332-0C66-C877-6DAEB9ED46E6}"/>
              </a:ext>
            </a:extLst>
          </p:cNvPr>
          <p:cNvSpPr/>
          <p:nvPr/>
        </p:nvSpPr>
        <p:spPr bwMode="auto">
          <a:xfrm>
            <a:off x="2221984" y="2200657"/>
            <a:ext cx="152400" cy="1524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8" name="Oval 17">
            <a:extLst>
              <a:ext uri="{FF2B5EF4-FFF2-40B4-BE49-F238E27FC236}">
                <a16:creationId xmlns:a16="http://schemas.microsoft.com/office/drawing/2014/main" id="{73129AFA-A922-DE1B-07A1-46C0B4D50A09}"/>
              </a:ext>
            </a:extLst>
          </p:cNvPr>
          <p:cNvSpPr/>
          <p:nvPr/>
        </p:nvSpPr>
        <p:spPr bwMode="auto">
          <a:xfrm>
            <a:off x="2225032" y="2417065"/>
            <a:ext cx="152400" cy="1524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9" name="Oval 18">
            <a:extLst>
              <a:ext uri="{FF2B5EF4-FFF2-40B4-BE49-F238E27FC236}">
                <a16:creationId xmlns:a16="http://schemas.microsoft.com/office/drawing/2014/main" id="{1F4685E6-AF62-882D-8486-492CCE34A942}"/>
              </a:ext>
            </a:extLst>
          </p:cNvPr>
          <p:cNvSpPr/>
          <p:nvPr/>
        </p:nvSpPr>
        <p:spPr bwMode="auto">
          <a:xfrm>
            <a:off x="6427506" y="3297936"/>
            <a:ext cx="152400" cy="1524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20" name="TextBox 19">
            <a:extLst>
              <a:ext uri="{FF2B5EF4-FFF2-40B4-BE49-F238E27FC236}">
                <a16:creationId xmlns:a16="http://schemas.microsoft.com/office/drawing/2014/main" id="{92DCF4A2-C0D9-C62C-AE03-EB9035BD895D}"/>
              </a:ext>
            </a:extLst>
          </p:cNvPr>
          <p:cNvSpPr txBox="1"/>
          <p:nvPr/>
        </p:nvSpPr>
        <p:spPr>
          <a:xfrm>
            <a:off x="6599565" y="3226492"/>
            <a:ext cx="1033488" cy="276999"/>
          </a:xfrm>
          <a:prstGeom prst="rect">
            <a:avLst/>
          </a:prstGeom>
          <a:noFill/>
        </p:spPr>
        <p:txBody>
          <a:bodyPr wrap="none" rtlCol="0">
            <a:spAutoFit/>
          </a:bodyPr>
          <a:lstStyle/>
          <a:p>
            <a:r>
              <a:rPr lang="en-US" sz="1200" dirty="0" err="1"/>
              <a:t>heat_control</a:t>
            </a:r>
            <a:endParaRPr lang="en-US" sz="1200" dirty="0"/>
          </a:p>
        </p:txBody>
      </p:sp>
      <p:sp>
        <p:nvSpPr>
          <p:cNvPr id="21" name="TextBox 20">
            <a:extLst>
              <a:ext uri="{FF2B5EF4-FFF2-40B4-BE49-F238E27FC236}">
                <a16:creationId xmlns:a16="http://schemas.microsoft.com/office/drawing/2014/main" id="{DC05C1CC-752E-E12D-E8AF-5422FEACBAD6}"/>
              </a:ext>
            </a:extLst>
          </p:cNvPr>
          <p:cNvSpPr txBox="1"/>
          <p:nvPr/>
        </p:nvSpPr>
        <p:spPr>
          <a:xfrm>
            <a:off x="6599565" y="2793308"/>
            <a:ext cx="1325235" cy="276999"/>
          </a:xfrm>
          <a:prstGeom prst="rect">
            <a:avLst/>
          </a:prstGeom>
          <a:noFill/>
        </p:spPr>
        <p:txBody>
          <a:bodyPr wrap="none" rtlCol="0">
            <a:spAutoFit/>
          </a:bodyPr>
          <a:lstStyle/>
          <a:p>
            <a:r>
              <a:rPr lang="en-US" sz="1200" dirty="0" err="1"/>
              <a:t>regulator_status</a:t>
            </a:r>
            <a:endParaRPr lang="en-US" sz="1200" dirty="0"/>
          </a:p>
        </p:txBody>
      </p:sp>
      <p:sp>
        <p:nvSpPr>
          <p:cNvPr id="22" name="Oval 21">
            <a:extLst>
              <a:ext uri="{FF2B5EF4-FFF2-40B4-BE49-F238E27FC236}">
                <a16:creationId xmlns:a16="http://schemas.microsoft.com/office/drawing/2014/main" id="{DF06325B-6006-ED87-C888-A4407FC08038}"/>
              </a:ext>
            </a:extLst>
          </p:cNvPr>
          <p:cNvSpPr/>
          <p:nvPr/>
        </p:nvSpPr>
        <p:spPr bwMode="auto">
          <a:xfrm>
            <a:off x="6425829" y="2875603"/>
            <a:ext cx="152400" cy="1524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23" name="Oval 22">
            <a:extLst>
              <a:ext uri="{FF2B5EF4-FFF2-40B4-BE49-F238E27FC236}">
                <a16:creationId xmlns:a16="http://schemas.microsoft.com/office/drawing/2014/main" id="{46784EAB-3ED1-C6C3-78E9-2F509ABFE8F0}"/>
              </a:ext>
            </a:extLst>
          </p:cNvPr>
          <p:cNvSpPr/>
          <p:nvPr/>
        </p:nvSpPr>
        <p:spPr bwMode="auto">
          <a:xfrm>
            <a:off x="3520137" y="3113280"/>
            <a:ext cx="152400" cy="1524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24" name="TextBox 23">
            <a:extLst>
              <a:ext uri="{FF2B5EF4-FFF2-40B4-BE49-F238E27FC236}">
                <a16:creationId xmlns:a16="http://schemas.microsoft.com/office/drawing/2014/main" id="{3A38B838-3871-D54B-6961-3A0634B19FD7}"/>
              </a:ext>
            </a:extLst>
          </p:cNvPr>
          <p:cNvSpPr txBox="1"/>
          <p:nvPr/>
        </p:nvSpPr>
        <p:spPr>
          <a:xfrm>
            <a:off x="3672537" y="3022947"/>
            <a:ext cx="1203278" cy="276999"/>
          </a:xfrm>
          <a:prstGeom prst="rect">
            <a:avLst/>
          </a:prstGeom>
          <a:noFill/>
        </p:spPr>
        <p:txBody>
          <a:bodyPr wrap="none" rtlCol="0">
            <a:spAutoFit/>
          </a:bodyPr>
          <a:lstStyle/>
          <a:p>
            <a:r>
              <a:rPr lang="en-US" sz="1200" dirty="0" err="1"/>
              <a:t>internal_failure</a:t>
            </a:r>
            <a:endParaRPr lang="en-US" sz="1200" dirty="0"/>
          </a:p>
        </p:txBody>
      </p:sp>
      <p:cxnSp>
        <p:nvCxnSpPr>
          <p:cNvPr id="26" name="Straight Arrow Connector 25">
            <a:extLst>
              <a:ext uri="{FF2B5EF4-FFF2-40B4-BE49-F238E27FC236}">
                <a16:creationId xmlns:a16="http://schemas.microsoft.com/office/drawing/2014/main" id="{D2251B2A-E184-FF08-1583-2C685B5FE67A}"/>
              </a:ext>
            </a:extLst>
          </p:cNvPr>
          <p:cNvCxnSpPr>
            <a:cxnSpLocks/>
          </p:cNvCxnSpPr>
          <p:nvPr/>
        </p:nvCxnSpPr>
        <p:spPr bwMode="auto">
          <a:xfrm flipV="1">
            <a:off x="2438400" y="2589762"/>
            <a:ext cx="3977337" cy="913729"/>
          </a:xfrm>
          <a:prstGeom prst="straightConnector1">
            <a:avLst/>
          </a:prstGeom>
          <a:solidFill>
            <a:schemeClr val="accent1"/>
          </a:solidFill>
          <a:ln w="38100" cap="flat" cmpd="sng" algn="ctr">
            <a:solidFill>
              <a:srgbClr val="00B050"/>
            </a:solidFill>
            <a:prstDash val="solid"/>
            <a:miter lim="800000"/>
            <a:headEnd type="none" w="med" len="med"/>
            <a:tailEnd type="triangle"/>
          </a:ln>
          <a:effectLst/>
        </p:spPr>
      </p:cxnSp>
      <p:cxnSp>
        <p:nvCxnSpPr>
          <p:cNvPr id="27" name="Straight Arrow Connector 26">
            <a:extLst>
              <a:ext uri="{FF2B5EF4-FFF2-40B4-BE49-F238E27FC236}">
                <a16:creationId xmlns:a16="http://schemas.microsoft.com/office/drawing/2014/main" id="{7C1AFCA8-C256-DABB-4941-761E80B990FB}"/>
              </a:ext>
            </a:extLst>
          </p:cNvPr>
          <p:cNvCxnSpPr>
            <a:cxnSpLocks/>
          </p:cNvCxnSpPr>
          <p:nvPr/>
        </p:nvCxnSpPr>
        <p:spPr bwMode="auto">
          <a:xfrm flipV="1">
            <a:off x="4889295" y="2569465"/>
            <a:ext cx="1526442" cy="88877"/>
          </a:xfrm>
          <a:prstGeom prst="straightConnector1">
            <a:avLst/>
          </a:prstGeom>
          <a:solidFill>
            <a:schemeClr val="accent1"/>
          </a:solidFill>
          <a:ln w="38100" cap="flat" cmpd="sng" algn="ctr">
            <a:solidFill>
              <a:srgbClr val="00B050"/>
            </a:solidFill>
            <a:prstDash val="solid"/>
            <a:miter lim="800000"/>
            <a:headEnd type="none" w="med" len="med"/>
            <a:tailEnd type="triangle"/>
          </a:ln>
          <a:effectLst/>
        </p:spPr>
      </p:cxnSp>
    </p:spTree>
    <p:extLst>
      <p:ext uri="{BB962C8B-B14F-4D97-AF65-F5344CB8AC3E}">
        <p14:creationId xmlns:p14="http://schemas.microsoft.com/office/powerpoint/2010/main" val="16330568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6F2CE4E-23A7-FF7D-12EB-B1791A398148}"/>
              </a:ext>
            </a:extLst>
          </p:cNvPr>
          <p:cNvSpPr>
            <a:spLocks noGrp="1"/>
          </p:cNvSpPr>
          <p:nvPr>
            <p:ph type="title"/>
          </p:nvPr>
        </p:nvSpPr>
        <p:spPr/>
        <p:txBody>
          <a:bodyPr/>
          <a:lstStyle/>
          <a:p>
            <a:r>
              <a:rPr lang="en-US" sz="2800" dirty="0"/>
              <a:t>Example: (Regulate) Display Temp Function</a:t>
            </a:r>
          </a:p>
        </p:txBody>
      </p:sp>
      <p:sp>
        <p:nvSpPr>
          <p:cNvPr id="4" name="Slide Number Placeholder 3">
            <a:extLst>
              <a:ext uri="{FF2B5EF4-FFF2-40B4-BE49-F238E27FC236}">
                <a16:creationId xmlns:a16="http://schemas.microsoft.com/office/drawing/2014/main" id="{707C8A88-94A8-78C2-49A4-3856A088A15B}"/>
              </a:ext>
            </a:extLst>
          </p:cNvPr>
          <p:cNvSpPr>
            <a:spLocks noGrp="1"/>
          </p:cNvSpPr>
          <p:nvPr>
            <p:ph type="sldNum" sz="quarter" idx="11"/>
          </p:nvPr>
        </p:nvSpPr>
        <p:spPr/>
        <p:txBody>
          <a:bodyPr/>
          <a:lstStyle/>
          <a:p>
            <a:pPr>
              <a:defRPr/>
            </a:pPr>
            <a:fld id="{C22399C2-1ADD-1549-9753-CEA7C1EED1B8}" type="slidenum">
              <a:rPr lang="en-US" smtClean="0"/>
              <a:pPr>
                <a:defRPr/>
              </a:pPr>
              <a:t>12</a:t>
            </a:fld>
            <a:endParaRPr lang="en-US"/>
          </a:p>
        </p:txBody>
      </p:sp>
      <p:sp>
        <p:nvSpPr>
          <p:cNvPr id="6" name="Rectangle 5">
            <a:extLst>
              <a:ext uri="{FF2B5EF4-FFF2-40B4-BE49-F238E27FC236}">
                <a16:creationId xmlns:a16="http://schemas.microsoft.com/office/drawing/2014/main" id="{EAF475FB-0382-9D0C-25E0-4E4734119B5D}"/>
              </a:ext>
            </a:extLst>
          </p:cNvPr>
          <p:cNvSpPr/>
          <p:nvPr/>
        </p:nvSpPr>
        <p:spPr bwMode="auto">
          <a:xfrm>
            <a:off x="2209800" y="2057400"/>
            <a:ext cx="4191000" cy="1524000"/>
          </a:xfrm>
          <a:prstGeom prst="rect">
            <a:avLst/>
          </a:prstGeom>
          <a:noFill/>
          <a:ln w="2857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7" name="Oval 6">
            <a:extLst>
              <a:ext uri="{FF2B5EF4-FFF2-40B4-BE49-F238E27FC236}">
                <a16:creationId xmlns:a16="http://schemas.microsoft.com/office/drawing/2014/main" id="{CD4A74C3-C458-9FA2-E4E5-459AA3867A28}"/>
              </a:ext>
            </a:extLst>
          </p:cNvPr>
          <p:cNvSpPr/>
          <p:nvPr/>
        </p:nvSpPr>
        <p:spPr bwMode="auto">
          <a:xfrm>
            <a:off x="6324600" y="2346960"/>
            <a:ext cx="152400" cy="1524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0" name="Oval 9">
            <a:extLst>
              <a:ext uri="{FF2B5EF4-FFF2-40B4-BE49-F238E27FC236}">
                <a16:creationId xmlns:a16="http://schemas.microsoft.com/office/drawing/2014/main" id="{CA7D78E2-3B12-83B7-8B22-9FDE68E815A1}"/>
              </a:ext>
            </a:extLst>
          </p:cNvPr>
          <p:cNvSpPr/>
          <p:nvPr/>
        </p:nvSpPr>
        <p:spPr bwMode="auto">
          <a:xfrm>
            <a:off x="2130552" y="3048000"/>
            <a:ext cx="152400" cy="1524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1" name="Oval 10">
            <a:extLst>
              <a:ext uri="{FF2B5EF4-FFF2-40B4-BE49-F238E27FC236}">
                <a16:creationId xmlns:a16="http://schemas.microsoft.com/office/drawing/2014/main" id="{F3E86286-D641-3264-7A6D-AC210FB79613}"/>
              </a:ext>
            </a:extLst>
          </p:cNvPr>
          <p:cNvSpPr/>
          <p:nvPr/>
        </p:nvSpPr>
        <p:spPr bwMode="auto">
          <a:xfrm>
            <a:off x="3429000" y="2337816"/>
            <a:ext cx="152400" cy="1524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2" name="Text Box 43">
            <a:extLst>
              <a:ext uri="{FF2B5EF4-FFF2-40B4-BE49-F238E27FC236}">
                <a16:creationId xmlns:a16="http://schemas.microsoft.com/office/drawing/2014/main" id="{578AF214-F320-CCE9-89DF-1F3C0B42B88E}"/>
              </a:ext>
            </a:extLst>
          </p:cNvPr>
          <p:cNvSpPr txBox="1">
            <a:spLocks noChangeArrowheads="1"/>
          </p:cNvSpPr>
          <p:nvPr/>
        </p:nvSpPr>
        <p:spPr bwMode="auto">
          <a:xfrm>
            <a:off x="609600" y="1214085"/>
            <a:ext cx="3810000" cy="276999"/>
          </a:xfrm>
          <a:prstGeom prst="rect">
            <a:avLst/>
          </a:prstGeom>
          <a:solidFill>
            <a:schemeClr val="accent2"/>
          </a:solidFill>
          <a:ln w="12700">
            <a:solidFill>
              <a:schemeClr val="tx1"/>
            </a:solidFill>
            <a:miter lim="800000"/>
            <a:headEnd/>
            <a:tailEnd/>
          </a:ln>
          <a:effectLst>
            <a:outerShdw blurRad="63500" dist="35921" dir="2700000" algn="ctr" rotWithShape="0">
              <a:schemeClr val="bg2"/>
            </a:outerShdw>
          </a:effectLst>
        </p:spPr>
        <p:txBody>
          <a:bodyPr wrap="square" anchor="ctr">
            <a:spAutoFit/>
          </a:bodyPr>
          <a:lstStyle/>
          <a:p>
            <a:pPr algn="l">
              <a:defRPr/>
            </a:pPr>
            <a:r>
              <a:rPr lang="en-US" sz="1200" dirty="0">
                <a:latin typeface="Tahoma" pitchFamily="-84" charset="0"/>
              </a:rPr>
              <a:t>Abstract Sub-system behavior element specification</a:t>
            </a:r>
          </a:p>
        </p:txBody>
      </p:sp>
      <p:sp>
        <p:nvSpPr>
          <p:cNvPr id="13" name="TextBox 12">
            <a:extLst>
              <a:ext uri="{FF2B5EF4-FFF2-40B4-BE49-F238E27FC236}">
                <a16:creationId xmlns:a16="http://schemas.microsoft.com/office/drawing/2014/main" id="{9AE61219-1731-4EF5-C21B-33BC53F5E0E7}"/>
              </a:ext>
            </a:extLst>
          </p:cNvPr>
          <p:cNvSpPr txBox="1"/>
          <p:nvPr/>
        </p:nvSpPr>
        <p:spPr>
          <a:xfrm>
            <a:off x="2109216" y="1613168"/>
            <a:ext cx="1370119" cy="461665"/>
          </a:xfrm>
          <a:prstGeom prst="rect">
            <a:avLst/>
          </a:prstGeom>
          <a:noFill/>
        </p:spPr>
        <p:txBody>
          <a:bodyPr wrap="none" rtlCol="0">
            <a:spAutoFit/>
          </a:bodyPr>
          <a:lstStyle/>
          <a:p>
            <a:r>
              <a:rPr lang="en-US" dirty="0"/>
              <a:t>Regulate</a:t>
            </a:r>
          </a:p>
        </p:txBody>
      </p:sp>
      <p:sp>
        <p:nvSpPr>
          <p:cNvPr id="14" name="TextBox 13">
            <a:extLst>
              <a:ext uri="{FF2B5EF4-FFF2-40B4-BE49-F238E27FC236}">
                <a16:creationId xmlns:a16="http://schemas.microsoft.com/office/drawing/2014/main" id="{B2E8E577-623D-2594-FD66-793B92AC84D3}"/>
              </a:ext>
            </a:extLst>
          </p:cNvPr>
          <p:cNvSpPr txBox="1"/>
          <p:nvPr/>
        </p:nvSpPr>
        <p:spPr>
          <a:xfrm>
            <a:off x="3572256" y="2275516"/>
            <a:ext cx="1262718" cy="276999"/>
          </a:xfrm>
          <a:prstGeom prst="rect">
            <a:avLst/>
          </a:prstGeom>
          <a:noFill/>
        </p:spPr>
        <p:txBody>
          <a:bodyPr wrap="none" rtlCol="0">
            <a:spAutoFit/>
          </a:bodyPr>
          <a:lstStyle/>
          <a:p>
            <a:r>
              <a:rPr lang="en-US" sz="1200" dirty="0" err="1"/>
              <a:t>regulator_mode</a:t>
            </a:r>
            <a:endParaRPr lang="en-US" sz="1200" dirty="0"/>
          </a:p>
        </p:txBody>
      </p:sp>
      <p:sp>
        <p:nvSpPr>
          <p:cNvPr id="15" name="TextBox 14">
            <a:extLst>
              <a:ext uri="{FF2B5EF4-FFF2-40B4-BE49-F238E27FC236}">
                <a16:creationId xmlns:a16="http://schemas.microsoft.com/office/drawing/2014/main" id="{4349233A-9918-C5AE-C746-53A1F147DE7C}"/>
              </a:ext>
            </a:extLst>
          </p:cNvPr>
          <p:cNvSpPr txBox="1"/>
          <p:nvPr/>
        </p:nvSpPr>
        <p:spPr>
          <a:xfrm>
            <a:off x="519531" y="3161145"/>
            <a:ext cx="1650645" cy="276999"/>
          </a:xfrm>
          <a:prstGeom prst="rect">
            <a:avLst/>
          </a:prstGeom>
          <a:noFill/>
        </p:spPr>
        <p:txBody>
          <a:bodyPr wrap="none" rtlCol="0">
            <a:spAutoFit/>
          </a:bodyPr>
          <a:lstStyle/>
          <a:p>
            <a:r>
              <a:rPr lang="en-US" sz="1200" dirty="0" err="1"/>
              <a:t>current_tempWstatus</a:t>
            </a:r>
            <a:endParaRPr lang="en-US" sz="1200" dirty="0"/>
          </a:p>
        </p:txBody>
      </p:sp>
      <p:sp>
        <p:nvSpPr>
          <p:cNvPr id="16" name="TextBox 15">
            <a:extLst>
              <a:ext uri="{FF2B5EF4-FFF2-40B4-BE49-F238E27FC236}">
                <a16:creationId xmlns:a16="http://schemas.microsoft.com/office/drawing/2014/main" id="{2936D688-FB18-041C-7E2E-B4D02B643B4E}"/>
              </a:ext>
            </a:extLst>
          </p:cNvPr>
          <p:cNvSpPr txBox="1"/>
          <p:nvPr/>
        </p:nvSpPr>
        <p:spPr>
          <a:xfrm>
            <a:off x="6496659" y="2275516"/>
            <a:ext cx="1081322" cy="276999"/>
          </a:xfrm>
          <a:prstGeom prst="rect">
            <a:avLst/>
          </a:prstGeom>
          <a:noFill/>
        </p:spPr>
        <p:txBody>
          <a:bodyPr wrap="none" rtlCol="0">
            <a:spAutoFit/>
          </a:bodyPr>
          <a:lstStyle/>
          <a:p>
            <a:r>
              <a:rPr lang="en-US" sz="1200" dirty="0" err="1"/>
              <a:t>display_temp</a:t>
            </a:r>
            <a:endParaRPr lang="en-US" sz="1200" dirty="0"/>
          </a:p>
        </p:txBody>
      </p:sp>
      <p:cxnSp>
        <p:nvCxnSpPr>
          <p:cNvPr id="17" name="Straight Arrow Connector 16">
            <a:extLst>
              <a:ext uri="{FF2B5EF4-FFF2-40B4-BE49-F238E27FC236}">
                <a16:creationId xmlns:a16="http://schemas.microsoft.com/office/drawing/2014/main" id="{505B6236-B830-93DD-1D09-7398ED3461BB}"/>
              </a:ext>
            </a:extLst>
          </p:cNvPr>
          <p:cNvCxnSpPr>
            <a:cxnSpLocks/>
          </p:cNvCxnSpPr>
          <p:nvPr/>
        </p:nvCxnSpPr>
        <p:spPr bwMode="auto">
          <a:xfrm flipV="1">
            <a:off x="2356104" y="2519065"/>
            <a:ext cx="3903216" cy="562277"/>
          </a:xfrm>
          <a:prstGeom prst="straightConnector1">
            <a:avLst/>
          </a:prstGeom>
          <a:solidFill>
            <a:schemeClr val="accent1"/>
          </a:solidFill>
          <a:ln w="38100" cap="flat" cmpd="sng" algn="ctr">
            <a:solidFill>
              <a:srgbClr val="00B050"/>
            </a:solidFill>
            <a:prstDash val="solid"/>
            <a:miter lim="800000"/>
            <a:headEnd type="none" w="med" len="med"/>
            <a:tailEnd type="triangle"/>
          </a:ln>
          <a:effectLst/>
        </p:spPr>
      </p:cxnSp>
      <p:cxnSp>
        <p:nvCxnSpPr>
          <p:cNvPr id="20" name="Straight Arrow Connector 19">
            <a:extLst>
              <a:ext uri="{FF2B5EF4-FFF2-40B4-BE49-F238E27FC236}">
                <a16:creationId xmlns:a16="http://schemas.microsoft.com/office/drawing/2014/main" id="{1B4A5596-D066-E324-511C-6A48A5E5BACF}"/>
              </a:ext>
            </a:extLst>
          </p:cNvPr>
          <p:cNvCxnSpPr>
            <a:cxnSpLocks/>
          </p:cNvCxnSpPr>
          <p:nvPr/>
        </p:nvCxnSpPr>
        <p:spPr bwMode="auto">
          <a:xfrm>
            <a:off x="4806737" y="2429926"/>
            <a:ext cx="1452583" cy="0"/>
          </a:xfrm>
          <a:prstGeom prst="straightConnector1">
            <a:avLst/>
          </a:prstGeom>
          <a:solidFill>
            <a:schemeClr val="accent1"/>
          </a:solidFill>
          <a:ln w="38100" cap="flat" cmpd="sng" algn="ctr">
            <a:solidFill>
              <a:srgbClr val="00B050"/>
            </a:solidFill>
            <a:prstDash val="solid"/>
            <a:miter lim="800000"/>
            <a:headEnd type="none" w="med" len="med"/>
            <a:tailEnd type="triangle"/>
          </a:ln>
          <a:effectLst/>
        </p:spPr>
      </p:cxnSp>
      <p:sp>
        <p:nvSpPr>
          <p:cNvPr id="23" name="Text Box 43">
            <a:extLst>
              <a:ext uri="{FF2B5EF4-FFF2-40B4-BE49-F238E27FC236}">
                <a16:creationId xmlns:a16="http://schemas.microsoft.com/office/drawing/2014/main" id="{003124B7-8DDF-49F9-14AE-ACA8858B50E8}"/>
              </a:ext>
            </a:extLst>
          </p:cNvPr>
          <p:cNvSpPr txBox="1">
            <a:spLocks noChangeArrowheads="1"/>
          </p:cNvSpPr>
          <p:nvPr/>
        </p:nvSpPr>
        <p:spPr bwMode="auto">
          <a:xfrm>
            <a:off x="624840" y="3732616"/>
            <a:ext cx="8214360" cy="461665"/>
          </a:xfrm>
          <a:prstGeom prst="rect">
            <a:avLst/>
          </a:prstGeom>
          <a:solidFill>
            <a:schemeClr val="accent2"/>
          </a:solidFill>
          <a:ln w="12700">
            <a:solidFill>
              <a:schemeClr val="tx1"/>
            </a:solidFill>
            <a:miter lim="800000"/>
            <a:headEnd/>
            <a:tailEnd/>
          </a:ln>
          <a:effectLst>
            <a:outerShdw blurRad="63500" dist="35921" dir="2700000" algn="ctr" rotWithShape="0">
              <a:schemeClr val="bg2"/>
            </a:outerShdw>
          </a:effectLst>
        </p:spPr>
        <p:txBody>
          <a:bodyPr wrap="square" anchor="ctr">
            <a:spAutoFit/>
          </a:bodyPr>
          <a:lstStyle/>
          <a:p>
            <a:pPr algn="l">
              <a:defRPr/>
            </a:pPr>
            <a:r>
              <a:rPr lang="en-US" sz="1200" dirty="0">
                <a:latin typeface="Tahoma" pitchFamily="-84" charset="0"/>
              </a:rPr>
              <a:t>Associated requirements (note: these are not in original REMH, they are proposed by John H, reverse-engineered from lower-level requirements)</a:t>
            </a:r>
          </a:p>
        </p:txBody>
      </p:sp>
      <p:sp>
        <p:nvSpPr>
          <p:cNvPr id="24" name="Content Placeholder 28">
            <a:extLst>
              <a:ext uri="{FF2B5EF4-FFF2-40B4-BE49-F238E27FC236}">
                <a16:creationId xmlns:a16="http://schemas.microsoft.com/office/drawing/2014/main" id="{6DC24E84-00E1-BF24-19E6-64027F6E1AD6}"/>
              </a:ext>
            </a:extLst>
          </p:cNvPr>
          <p:cNvSpPr txBox="1">
            <a:spLocks/>
          </p:cNvSpPr>
          <p:nvPr/>
        </p:nvSpPr>
        <p:spPr>
          <a:xfrm>
            <a:off x="685800" y="4286712"/>
            <a:ext cx="8153400" cy="2114088"/>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itchFamily="-106" charset="2"/>
              <a:buChar char="n"/>
              <a:defRPr sz="3200">
                <a:solidFill>
                  <a:schemeClr val="tx1"/>
                </a:solidFill>
                <a:latin typeface="+mn-lt"/>
                <a:ea typeface="ＭＳ Ｐゴシック" pitchFamily="-84" charset="-128"/>
                <a:cs typeface="ＭＳ Ｐゴシック" pitchFamily="-84" charset="-128"/>
              </a:defRPr>
            </a:lvl1pPr>
            <a:lvl2pPr marL="742950" indent="-285750" algn="l" rtl="0" eaLnBrk="0" fontAlgn="base" hangingPunct="0">
              <a:spcBef>
                <a:spcPct val="20000"/>
              </a:spcBef>
              <a:spcAft>
                <a:spcPct val="0"/>
              </a:spcAft>
              <a:buClr>
                <a:schemeClr val="hlink"/>
              </a:buClr>
              <a:buSzPct val="55000"/>
              <a:buFont typeface="Wingdings" pitchFamily="-106" charset="2"/>
              <a:buChar char="n"/>
              <a:defRPr sz="2800">
                <a:solidFill>
                  <a:schemeClr val="tx1"/>
                </a:solidFill>
                <a:latin typeface="+mn-lt"/>
                <a:ea typeface="ＭＳ Ｐゴシック" charset="-128"/>
              </a:defRPr>
            </a:lvl2pPr>
            <a:lvl3pPr marL="1143000" indent="-228600" algn="l" rtl="0" eaLnBrk="0" fontAlgn="base" hangingPunct="0">
              <a:spcBef>
                <a:spcPct val="20000"/>
              </a:spcBef>
              <a:spcAft>
                <a:spcPct val="0"/>
              </a:spcAft>
              <a:buClr>
                <a:schemeClr val="folHlink"/>
              </a:buClr>
              <a:buSzPct val="50000"/>
              <a:buFont typeface="Wingdings" pitchFamily="-106" charset="2"/>
              <a:buChar char="n"/>
              <a:defRPr sz="2400">
                <a:solidFill>
                  <a:schemeClr val="tx1"/>
                </a:solidFill>
                <a:latin typeface="+mn-lt"/>
                <a:ea typeface="ＭＳ Ｐゴシック" charset="-128"/>
              </a:defRPr>
            </a:lvl3pPr>
            <a:lvl4pPr marL="1600200" indent="-228600" algn="l" rtl="0" eaLnBrk="0" fontAlgn="base" hangingPunct="0">
              <a:spcBef>
                <a:spcPct val="20000"/>
              </a:spcBef>
              <a:spcAft>
                <a:spcPct val="0"/>
              </a:spcAft>
              <a:buClr>
                <a:schemeClr val="accent2"/>
              </a:buClr>
              <a:buSzPct val="55000"/>
              <a:buFont typeface="Wingdings" pitchFamily="-106" charset="2"/>
              <a:buChar char="n"/>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Clr>
                <a:schemeClr val="accent1"/>
              </a:buClr>
              <a:buSzPct val="50000"/>
              <a:buFont typeface="Wingdings" pitchFamily="-106" charset="2"/>
              <a:buChar char="n"/>
              <a:defRPr sz="2000">
                <a:solidFill>
                  <a:schemeClr val="tx1"/>
                </a:solidFill>
                <a:latin typeface="+mn-lt"/>
                <a:ea typeface="ＭＳ Ｐゴシック" charset="-128"/>
              </a:defRPr>
            </a:lvl5pPr>
            <a:lvl6pPr marL="2514600" indent="-228600" algn="l" rtl="0" fontAlgn="base">
              <a:spcBef>
                <a:spcPct val="20000"/>
              </a:spcBef>
              <a:spcAft>
                <a:spcPct val="0"/>
              </a:spcAft>
              <a:buClr>
                <a:schemeClr val="accent1"/>
              </a:buClr>
              <a:buSzPct val="50000"/>
              <a:buFont typeface="Wingdings" charset="2"/>
              <a:buChar char="n"/>
              <a:defRPr sz="2000">
                <a:solidFill>
                  <a:schemeClr val="tx1"/>
                </a:solidFill>
                <a:latin typeface="+mn-lt"/>
                <a:ea typeface="ＭＳ Ｐゴシック" charset="-128"/>
              </a:defRPr>
            </a:lvl6pPr>
            <a:lvl7pPr marL="2971800" indent="-228600" algn="l" rtl="0" fontAlgn="base">
              <a:spcBef>
                <a:spcPct val="20000"/>
              </a:spcBef>
              <a:spcAft>
                <a:spcPct val="0"/>
              </a:spcAft>
              <a:buClr>
                <a:schemeClr val="accent1"/>
              </a:buClr>
              <a:buSzPct val="50000"/>
              <a:buFont typeface="Wingdings" charset="2"/>
              <a:buChar char="n"/>
              <a:defRPr sz="2000">
                <a:solidFill>
                  <a:schemeClr val="tx1"/>
                </a:solidFill>
                <a:latin typeface="+mn-lt"/>
                <a:ea typeface="ＭＳ Ｐゴシック" charset="-128"/>
              </a:defRPr>
            </a:lvl7pPr>
            <a:lvl8pPr marL="3429000" indent="-228600" algn="l" rtl="0" fontAlgn="base">
              <a:spcBef>
                <a:spcPct val="20000"/>
              </a:spcBef>
              <a:spcAft>
                <a:spcPct val="0"/>
              </a:spcAft>
              <a:buClr>
                <a:schemeClr val="accent1"/>
              </a:buClr>
              <a:buSzPct val="50000"/>
              <a:buFont typeface="Wingdings" charset="2"/>
              <a:buChar char="n"/>
              <a:defRPr sz="2000">
                <a:solidFill>
                  <a:schemeClr val="tx1"/>
                </a:solidFill>
                <a:latin typeface="+mn-lt"/>
                <a:ea typeface="ＭＳ Ｐゴシック" charset="-128"/>
              </a:defRPr>
            </a:lvl8pPr>
            <a:lvl9pPr marL="3886200" indent="-228600" algn="l" rtl="0" fontAlgn="base">
              <a:spcBef>
                <a:spcPct val="20000"/>
              </a:spcBef>
              <a:spcAft>
                <a:spcPct val="0"/>
              </a:spcAft>
              <a:buClr>
                <a:schemeClr val="accent1"/>
              </a:buClr>
              <a:buSzPct val="50000"/>
              <a:buFont typeface="Wingdings" charset="2"/>
              <a:buChar char="n"/>
              <a:defRPr sz="2000">
                <a:solidFill>
                  <a:schemeClr val="tx1"/>
                </a:solidFill>
                <a:latin typeface="+mn-lt"/>
                <a:ea typeface="ＭＳ Ｐゴシック" charset="-128"/>
              </a:defRPr>
            </a:lvl9pPr>
          </a:lstStyle>
          <a:p>
            <a:r>
              <a:rPr lang="en-US" sz="1600" dirty="0"/>
              <a:t>Req-REG-DisplayTemp-1: If the </a:t>
            </a:r>
            <a:r>
              <a:rPr lang="en-US" sz="1600" b="1" dirty="0"/>
              <a:t>mode</a:t>
            </a:r>
            <a:r>
              <a:rPr lang="en-US" sz="1600" dirty="0"/>
              <a:t> is normal in the subsystem pre-state, then the </a:t>
            </a:r>
            <a:r>
              <a:rPr lang="en-US" sz="1600" b="1" dirty="0"/>
              <a:t>display temp </a:t>
            </a:r>
            <a:r>
              <a:rPr lang="en-US" sz="1600" dirty="0"/>
              <a:t>= </a:t>
            </a:r>
            <a:r>
              <a:rPr lang="en-US" sz="1600" b="1" dirty="0"/>
              <a:t>current temp </a:t>
            </a:r>
            <a:r>
              <a:rPr lang="en-US" sz="1600" dirty="0"/>
              <a:t>value in the subsystem post-state (in full system, display temp is current temp rounded to the closest integer).</a:t>
            </a:r>
          </a:p>
          <a:p>
            <a:r>
              <a:rPr lang="en-US" sz="1600" dirty="0"/>
              <a:t>Req-REG-DisplayTemp-2: If the </a:t>
            </a:r>
            <a:r>
              <a:rPr lang="en-US" sz="1600" b="1" dirty="0"/>
              <a:t>mode</a:t>
            </a:r>
            <a:r>
              <a:rPr lang="en-US" sz="1600" dirty="0"/>
              <a:t> is not normal in the subsystem pre-state, then the </a:t>
            </a:r>
            <a:r>
              <a:rPr lang="en-US" sz="1600" b="1" dirty="0"/>
              <a:t>display temp </a:t>
            </a:r>
            <a:r>
              <a:rPr lang="en-US" sz="1600" dirty="0"/>
              <a:t>is unspecified (unconstrained) in the subsystem post-state.</a:t>
            </a:r>
          </a:p>
          <a:p>
            <a:endParaRPr lang="en-US" sz="1600" dirty="0"/>
          </a:p>
          <a:p>
            <a:endParaRPr lang="en-US" sz="1600" dirty="0"/>
          </a:p>
        </p:txBody>
      </p:sp>
      <p:sp>
        <p:nvSpPr>
          <p:cNvPr id="25" name="TextBox 24">
            <a:extLst>
              <a:ext uri="{FF2B5EF4-FFF2-40B4-BE49-F238E27FC236}">
                <a16:creationId xmlns:a16="http://schemas.microsoft.com/office/drawing/2014/main" id="{23F5B381-C4DC-FD0E-EC1E-8F60A01EB76E}"/>
              </a:ext>
            </a:extLst>
          </p:cNvPr>
          <p:cNvSpPr txBox="1"/>
          <p:nvPr/>
        </p:nvSpPr>
        <p:spPr>
          <a:xfrm>
            <a:off x="320040" y="5640888"/>
            <a:ext cx="8382000" cy="1107996"/>
          </a:xfrm>
          <a:prstGeom prst="rect">
            <a:avLst/>
          </a:prstGeom>
          <a:noFill/>
        </p:spPr>
        <p:txBody>
          <a:bodyPr wrap="square" rtlCol="0">
            <a:spAutoFit/>
          </a:bodyPr>
          <a:lstStyle/>
          <a:p>
            <a:r>
              <a:rPr lang="en-US" sz="1100" b="1" i="1" dirty="0"/>
              <a:t>Note</a:t>
            </a:r>
            <a:r>
              <a:rPr lang="en-US" sz="1100" i="1" dirty="0"/>
              <a:t>: to specify a function that is computed over time, we need to indicate the temporal points for the input and output.  In the above requirements, by writing “pre-state” and “post-state” we are indicating that there are temporal points in the system trace in which input values are acquired and in which outputs are produced.  This needs to be formally represented in some way (which can be refined later to specific points in system scheduling).  In this case, we have the simplistic situation in which there is only one input and one output (so there is no issue of inputs/outputs at different times).  Moreover, we also talk about the internal state (regulator) mode as being available in the pre-state.</a:t>
            </a:r>
          </a:p>
        </p:txBody>
      </p:sp>
    </p:spTree>
    <p:extLst>
      <p:ext uri="{BB962C8B-B14F-4D97-AF65-F5344CB8AC3E}">
        <p14:creationId xmlns:p14="http://schemas.microsoft.com/office/powerpoint/2010/main" val="9179016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71BD1-131D-BC2B-B051-CE3AD7F366D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5798BAC-A7F8-1FC5-4506-8F8D9C39D531}"/>
              </a:ext>
            </a:extLst>
          </p:cNvPr>
          <p:cNvSpPr>
            <a:spLocks noGrp="1"/>
          </p:cNvSpPr>
          <p:nvPr>
            <p:ph type="title"/>
          </p:nvPr>
        </p:nvSpPr>
        <p:spPr/>
        <p:txBody>
          <a:bodyPr/>
          <a:lstStyle/>
          <a:p>
            <a:r>
              <a:rPr lang="en-US" sz="2800" dirty="0"/>
              <a:t>Example: Abstract Functional Specification</a:t>
            </a:r>
          </a:p>
        </p:txBody>
      </p:sp>
      <p:sp>
        <p:nvSpPr>
          <p:cNvPr id="4" name="Slide Number Placeholder 3">
            <a:extLst>
              <a:ext uri="{FF2B5EF4-FFF2-40B4-BE49-F238E27FC236}">
                <a16:creationId xmlns:a16="http://schemas.microsoft.com/office/drawing/2014/main" id="{38FDBFC8-BFA5-F7BC-4920-CF95096C0FA0}"/>
              </a:ext>
            </a:extLst>
          </p:cNvPr>
          <p:cNvSpPr>
            <a:spLocks noGrp="1"/>
          </p:cNvSpPr>
          <p:nvPr>
            <p:ph type="sldNum" sz="quarter" idx="11"/>
          </p:nvPr>
        </p:nvSpPr>
        <p:spPr/>
        <p:txBody>
          <a:bodyPr/>
          <a:lstStyle/>
          <a:p>
            <a:pPr>
              <a:defRPr/>
            </a:pPr>
            <a:fld id="{C22399C2-1ADD-1549-9753-CEA7C1EED1B8}" type="slidenum">
              <a:rPr lang="en-US" smtClean="0"/>
              <a:pPr>
                <a:defRPr/>
              </a:pPr>
              <a:t>13</a:t>
            </a:fld>
            <a:endParaRPr lang="en-US"/>
          </a:p>
        </p:txBody>
      </p:sp>
      <p:sp>
        <p:nvSpPr>
          <p:cNvPr id="6" name="Rectangle 5">
            <a:extLst>
              <a:ext uri="{FF2B5EF4-FFF2-40B4-BE49-F238E27FC236}">
                <a16:creationId xmlns:a16="http://schemas.microsoft.com/office/drawing/2014/main" id="{7331D1F9-DF0F-D518-3FF5-80D601402097}"/>
              </a:ext>
            </a:extLst>
          </p:cNvPr>
          <p:cNvSpPr/>
          <p:nvPr/>
        </p:nvSpPr>
        <p:spPr bwMode="auto">
          <a:xfrm>
            <a:off x="2300937" y="2133600"/>
            <a:ext cx="4191000" cy="1524000"/>
          </a:xfrm>
          <a:prstGeom prst="rect">
            <a:avLst/>
          </a:prstGeom>
          <a:noFill/>
          <a:ln w="2857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7" name="Oval 6">
            <a:extLst>
              <a:ext uri="{FF2B5EF4-FFF2-40B4-BE49-F238E27FC236}">
                <a16:creationId xmlns:a16="http://schemas.microsoft.com/office/drawing/2014/main" id="{AF77DCB4-B745-B5BB-EB6B-1E881311077F}"/>
              </a:ext>
            </a:extLst>
          </p:cNvPr>
          <p:cNvSpPr/>
          <p:nvPr/>
        </p:nvSpPr>
        <p:spPr bwMode="auto">
          <a:xfrm>
            <a:off x="6415737" y="2423160"/>
            <a:ext cx="152400" cy="1524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0" name="Oval 9">
            <a:extLst>
              <a:ext uri="{FF2B5EF4-FFF2-40B4-BE49-F238E27FC236}">
                <a16:creationId xmlns:a16="http://schemas.microsoft.com/office/drawing/2014/main" id="{41AA6242-3D38-2962-0382-45811FA2B307}"/>
              </a:ext>
            </a:extLst>
          </p:cNvPr>
          <p:cNvSpPr/>
          <p:nvPr/>
        </p:nvSpPr>
        <p:spPr bwMode="auto">
          <a:xfrm>
            <a:off x="2212545" y="3392230"/>
            <a:ext cx="152400" cy="1524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1" name="Oval 10">
            <a:extLst>
              <a:ext uri="{FF2B5EF4-FFF2-40B4-BE49-F238E27FC236}">
                <a16:creationId xmlns:a16="http://schemas.microsoft.com/office/drawing/2014/main" id="{F4E78488-471F-78E3-70D1-B94AC045EA92}"/>
              </a:ext>
            </a:extLst>
          </p:cNvPr>
          <p:cNvSpPr/>
          <p:nvPr/>
        </p:nvSpPr>
        <p:spPr bwMode="auto">
          <a:xfrm>
            <a:off x="3520137" y="2589762"/>
            <a:ext cx="152400" cy="1524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2" name="Text Box 43">
            <a:extLst>
              <a:ext uri="{FF2B5EF4-FFF2-40B4-BE49-F238E27FC236}">
                <a16:creationId xmlns:a16="http://schemas.microsoft.com/office/drawing/2014/main" id="{12609741-879E-4A92-8332-B15341C07D9B}"/>
              </a:ext>
            </a:extLst>
          </p:cNvPr>
          <p:cNvSpPr txBox="1">
            <a:spLocks noChangeArrowheads="1"/>
          </p:cNvSpPr>
          <p:nvPr/>
        </p:nvSpPr>
        <p:spPr bwMode="auto">
          <a:xfrm>
            <a:off x="609600" y="1254436"/>
            <a:ext cx="7543800" cy="276999"/>
          </a:xfrm>
          <a:prstGeom prst="rect">
            <a:avLst/>
          </a:prstGeom>
          <a:solidFill>
            <a:schemeClr val="accent2"/>
          </a:solidFill>
          <a:ln w="12700">
            <a:solidFill>
              <a:schemeClr val="tx1"/>
            </a:solidFill>
            <a:miter lim="800000"/>
            <a:headEnd/>
            <a:tailEnd/>
          </a:ln>
          <a:effectLst>
            <a:outerShdw blurRad="63500" dist="35921" dir="2700000" algn="ctr" rotWithShape="0">
              <a:schemeClr val="bg2"/>
            </a:outerShdw>
          </a:effectLst>
        </p:spPr>
        <p:txBody>
          <a:bodyPr wrap="square" anchor="ctr">
            <a:spAutoFit/>
          </a:bodyPr>
          <a:lstStyle/>
          <a:p>
            <a:pPr algn="l">
              <a:defRPr/>
            </a:pPr>
            <a:r>
              <a:rPr lang="en-US" sz="1200" dirty="0">
                <a:latin typeface="Tahoma" pitchFamily="-84" charset="0"/>
              </a:rPr>
              <a:t>Overlaying the </a:t>
            </a:r>
            <a:r>
              <a:rPr lang="en-US" sz="1200" b="1" dirty="0">
                <a:latin typeface="Tahoma" pitchFamily="-84" charset="0"/>
              </a:rPr>
              <a:t>Heat Control </a:t>
            </a:r>
            <a:r>
              <a:rPr lang="en-US" sz="1200" dirty="0">
                <a:latin typeface="Tahoma" pitchFamily="-84" charset="0"/>
              </a:rPr>
              <a:t>function using notation similar to AADL Flows</a:t>
            </a:r>
          </a:p>
        </p:txBody>
      </p:sp>
      <p:sp>
        <p:nvSpPr>
          <p:cNvPr id="13" name="TextBox 12">
            <a:extLst>
              <a:ext uri="{FF2B5EF4-FFF2-40B4-BE49-F238E27FC236}">
                <a16:creationId xmlns:a16="http://schemas.microsoft.com/office/drawing/2014/main" id="{444FBE1A-13CB-CA34-8C71-C2FB3E7EC5A7}"/>
              </a:ext>
            </a:extLst>
          </p:cNvPr>
          <p:cNvSpPr txBox="1"/>
          <p:nvPr/>
        </p:nvSpPr>
        <p:spPr>
          <a:xfrm>
            <a:off x="2200353" y="1689368"/>
            <a:ext cx="1370119" cy="461665"/>
          </a:xfrm>
          <a:prstGeom prst="rect">
            <a:avLst/>
          </a:prstGeom>
          <a:noFill/>
        </p:spPr>
        <p:txBody>
          <a:bodyPr wrap="none" rtlCol="0">
            <a:spAutoFit/>
          </a:bodyPr>
          <a:lstStyle/>
          <a:p>
            <a:r>
              <a:rPr lang="en-US" dirty="0"/>
              <a:t>Regulate</a:t>
            </a:r>
          </a:p>
        </p:txBody>
      </p:sp>
      <p:sp>
        <p:nvSpPr>
          <p:cNvPr id="14" name="TextBox 13">
            <a:extLst>
              <a:ext uri="{FF2B5EF4-FFF2-40B4-BE49-F238E27FC236}">
                <a16:creationId xmlns:a16="http://schemas.microsoft.com/office/drawing/2014/main" id="{E0D2FFBC-2FF9-20BB-1826-130F30D798A8}"/>
              </a:ext>
            </a:extLst>
          </p:cNvPr>
          <p:cNvSpPr txBox="1"/>
          <p:nvPr/>
        </p:nvSpPr>
        <p:spPr>
          <a:xfrm>
            <a:off x="3672537" y="2514600"/>
            <a:ext cx="1262718" cy="276999"/>
          </a:xfrm>
          <a:prstGeom prst="rect">
            <a:avLst/>
          </a:prstGeom>
          <a:noFill/>
        </p:spPr>
        <p:txBody>
          <a:bodyPr wrap="none" rtlCol="0">
            <a:spAutoFit/>
          </a:bodyPr>
          <a:lstStyle/>
          <a:p>
            <a:r>
              <a:rPr lang="en-US" sz="1200" dirty="0" err="1"/>
              <a:t>regulator_mode</a:t>
            </a:r>
            <a:endParaRPr lang="en-US" sz="1200" dirty="0"/>
          </a:p>
        </p:txBody>
      </p:sp>
      <p:sp>
        <p:nvSpPr>
          <p:cNvPr id="15" name="TextBox 14">
            <a:extLst>
              <a:ext uri="{FF2B5EF4-FFF2-40B4-BE49-F238E27FC236}">
                <a16:creationId xmlns:a16="http://schemas.microsoft.com/office/drawing/2014/main" id="{EA69CDB6-1A9E-00FC-B183-9CB6C72B2B88}"/>
              </a:ext>
            </a:extLst>
          </p:cNvPr>
          <p:cNvSpPr txBox="1"/>
          <p:nvPr/>
        </p:nvSpPr>
        <p:spPr>
          <a:xfrm>
            <a:off x="574092" y="3304401"/>
            <a:ext cx="1650645" cy="276999"/>
          </a:xfrm>
          <a:prstGeom prst="rect">
            <a:avLst/>
          </a:prstGeom>
          <a:noFill/>
        </p:spPr>
        <p:txBody>
          <a:bodyPr wrap="none" rtlCol="0">
            <a:spAutoFit/>
          </a:bodyPr>
          <a:lstStyle/>
          <a:p>
            <a:r>
              <a:rPr lang="en-US" sz="1200" dirty="0" err="1"/>
              <a:t>current_tempWstatus</a:t>
            </a:r>
            <a:endParaRPr lang="en-US" sz="1200" dirty="0"/>
          </a:p>
        </p:txBody>
      </p:sp>
      <p:sp>
        <p:nvSpPr>
          <p:cNvPr id="16" name="TextBox 15">
            <a:extLst>
              <a:ext uri="{FF2B5EF4-FFF2-40B4-BE49-F238E27FC236}">
                <a16:creationId xmlns:a16="http://schemas.microsoft.com/office/drawing/2014/main" id="{11BABFD3-E164-BB09-C30E-4237205502C9}"/>
              </a:ext>
            </a:extLst>
          </p:cNvPr>
          <p:cNvSpPr txBox="1"/>
          <p:nvPr/>
        </p:nvSpPr>
        <p:spPr>
          <a:xfrm>
            <a:off x="6587796" y="2351716"/>
            <a:ext cx="1081322" cy="276999"/>
          </a:xfrm>
          <a:prstGeom prst="rect">
            <a:avLst/>
          </a:prstGeom>
          <a:noFill/>
        </p:spPr>
        <p:txBody>
          <a:bodyPr wrap="none" rtlCol="0">
            <a:spAutoFit/>
          </a:bodyPr>
          <a:lstStyle/>
          <a:p>
            <a:r>
              <a:rPr lang="en-US" sz="1200" dirty="0" err="1"/>
              <a:t>display_temp</a:t>
            </a:r>
            <a:endParaRPr lang="en-US" sz="1200" dirty="0"/>
          </a:p>
        </p:txBody>
      </p:sp>
      <p:sp>
        <p:nvSpPr>
          <p:cNvPr id="2" name="Oval 1">
            <a:extLst>
              <a:ext uri="{FF2B5EF4-FFF2-40B4-BE49-F238E27FC236}">
                <a16:creationId xmlns:a16="http://schemas.microsoft.com/office/drawing/2014/main" id="{54AAE1D7-5A21-3595-760D-52874A07395C}"/>
              </a:ext>
            </a:extLst>
          </p:cNvPr>
          <p:cNvSpPr/>
          <p:nvPr/>
        </p:nvSpPr>
        <p:spPr bwMode="auto">
          <a:xfrm>
            <a:off x="3520137" y="2856278"/>
            <a:ext cx="152400" cy="1524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3" name="TextBox 2">
            <a:extLst>
              <a:ext uri="{FF2B5EF4-FFF2-40B4-BE49-F238E27FC236}">
                <a16:creationId xmlns:a16="http://schemas.microsoft.com/office/drawing/2014/main" id="{2CBFD9C3-5F48-71A9-E198-6909AE50094D}"/>
              </a:ext>
            </a:extLst>
          </p:cNvPr>
          <p:cNvSpPr txBox="1"/>
          <p:nvPr/>
        </p:nvSpPr>
        <p:spPr>
          <a:xfrm>
            <a:off x="3672537" y="2766546"/>
            <a:ext cx="1689950" cy="276999"/>
          </a:xfrm>
          <a:prstGeom prst="rect">
            <a:avLst/>
          </a:prstGeom>
          <a:noFill/>
        </p:spPr>
        <p:txBody>
          <a:bodyPr wrap="none" rtlCol="0">
            <a:spAutoFit/>
          </a:bodyPr>
          <a:lstStyle/>
          <a:p>
            <a:r>
              <a:rPr lang="en-US" sz="1200" dirty="0" err="1"/>
              <a:t>previous_heat_control</a:t>
            </a:r>
            <a:endParaRPr lang="en-US" sz="1200" dirty="0"/>
          </a:p>
        </p:txBody>
      </p:sp>
      <p:sp>
        <p:nvSpPr>
          <p:cNvPr id="8" name="TextBox 7">
            <a:extLst>
              <a:ext uri="{FF2B5EF4-FFF2-40B4-BE49-F238E27FC236}">
                <a16:creationId xmlns:a16="http://schemas.microsoft.com/office/drawing/2014/main" id="{78EBAB99-9EA9-2D22-877D-8688F70A10DF}"/>
              </a:ext>
            </a:extLst>
          </p:cNvPr>
          <p:cNvSpPr txBox="1"/>
          <p:nvPr/>
        </p:nvSpPr>
        <p:spPr>
          <a:xfrm>
            <a:off x="561900" y="2155228"/>
            <a:ext cx="1641796" cy="230832"/>
          </a:xfrm>
          <a:prstGeom prst="rect">
            <a:avLst/>
          </a:prstGeom>
          <a:noFill/>
        </p:spPr>
        <p:txBody>
          <a:bodyPr wrap="none" rtlCol="0">
            <a:spAutoFit/>
          </a:bodyPr>
          <a:lstStyle/>
          <a:p>
            <a:r>
              <a:rPr lang="en-US" sz="900" dirty="0" err="1"/>
              <a:t>upper_desired_tempWstatus</a:t>
            </a:r>
            <a:endParaRPr lang="en-US" sz="900" dirty="0"/>
          </a:p>
        </p:txBody>
      </p:sp>
      <p:sp>
        <p:nvSpPr>
          <p:cNvPr id="9" name="TextBox 8">
            <a:extLst>
              <a:ext uri="{FF2B5EF4-FFF2-40B4-BE49-F238E27FC236}">
                <a16:creationId xmlns:a16="http://schemas.microsoft.com/office/drawing/2014/main" id="{F43D58AC-CAB3-31FC-9B3C-E2908E4E1B3B}"/>
              </a:ext>
            </a:extLst>
          </p:cNvPr>
          <p:cNvSpPr txBox="1"/>
          <p:nvPr/>
        </p:nvSpPr>
        <p:spPr>
          <a:xfrm>
            <a:off x="570749" y="2359968"/>
            <a:ext cx="1622560" cy="230832"/>
          </a:xfrm>
          <a:prstGeom prst="rect">
            <a:avLst/>
          </a:prstGeom>
          <a:noFill/>
        </p:spPr>
        <p:txBody>
          <a:bodyPr wrap="none" rtlCol="0">
            <a:spAutoFit/>
          </a:bodyPr>
          <a:lstStyle/>
          <a:p>
            <a:r>
              <a:rPr lang="en-US" sz="900" dirty="0" err="1"/>
              <a:t>lower_desired_tempWstatus</a:t>
            </a:r>
            <a:endParaRPr lang="en-US" sz="900" dirty="0"/>
          </a:p>
        </p:txBody>
      </p:sp>
      <p:sp>
        <p:nvSpPr>
          <p:cNvPr id="17" name="Oval 16">
            <a:extLst>
              <a:ext uri="{FF2B5EF4-FFF2-40B4-BE49-F238E27FC236}">
                <a16:creationId xmlns:a16="http://schemas.microsoft.com/office/drawing/2014/main" id="{6699FF01-451C-0800-7751-C8A38B077D25}"/>
              </a:ext>
            </a:extLst>
          </p:cNvPr>
          <p:cNvSpPr/>
          <p:nvPr/>
        </p:nvSpPr>
        <p:spPr bwMode="auto">
          <a:xfrm>
            <a:off x="2221984" y="2200657"/>
            <a:ext cx="152400" cy="1524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8" name="Oval 17">
            <a:extLst>
              <a:ext uri="{FF2B5EF4-FFF2-40B4-BE49-F238E27FC236}">
                <a16:creationId xmlns:a16="http://schemas.microsoft.com/office/drawing/2014/main" id="{F34610C4-4F2D-68F8-3362-F917428698D7}"/>
              </a:ext>
            </a:extLst>
          </p:cNvPr>
          <p:cNvSpPr/>
          <p:nvPr/>
        </p:nvSpPr>
        <p:spPr bwMode="auto">
          <a:xfrm>
            <a:off x="2225032" y="2417065"/>
            <a:ext cx="152400" cy="1524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9" name="Oval 18">
            <a:extLst>
              <a:ext uri="{FF2B5EF4-FFF2-40B4-BE49-F238E27FC236}">
                <a16:creationId xmlns:a16="http://schemas.microsoft.com/office/drawing/2014/main" id="{B1278A02-E7A9-C1C7-0162-3387350B792D}"/>
              </a:ext>
            </a:extLst>
          </p:cNvPr>
          <p:cNvSpPr/>
          <p:nvPr/>
        </p:nvSpPr>
        <p:spPr bwMode="auto">
          <a:xfrm>
            <a:off x="6427506" y="3297936"/>
            <a:ext cx="152400" cy="1524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20" name="TextBox 19">
            <a:extLst>
              <a:ext uri="{FF2B5EF4-FFF2-40B4-BE49-F238E27FC236}">
                <a16:creationId xmlns:a16="http://schemas.microsoft.com/office/drawing/2014/main" id="{EBE02EE7-C996-40BC-E950-2F1FEF54A22E}"/>
              </a:ext>
            </a:extLst>
          </p:cNvPr>
          <p:cNvSpPr txBox="1"/>
          <p:nvPr/>
        </p:nvSpPr>
        <p:spPr>
          <a:xfrm>
            <a:off x="6599565" y="3226492"/>
            <a:ext cx="1033488" cy="276999"/>
          </a:xfrm>
          <a:prstGeom prst="rect">
            <a:avLst/>
          </a:prstGeom>
          <a:noFill/>
        </p:spPr>
        <p:txBody>
          <a:bodyPr wrap="none" rtlCol="0">
            <a:spAutoFit/>
          </a:bodyPr>
          <a:lstStyle/>
          <a:p>
            <a:r>
              <a:rPr lang="en-US" sz="1200" dirty="0" err="1"/>
              <a:t>heat_control</a:t>
            </a:r>
            <a:endParaRPr lang="en-US" sz="1200" dirty="0"/>
          </a:p>
        </p:txBody>
      </p:sp>
      <p:sp>
        <p:nvSpPr>
          <p:cNvPr id="21" name="TextBox 20">
            <a:extLst>
              <a:ext uri="{FF2B5EF4-FFF2-40B4-BE49-F238E27FC236}">
                <a16:creationId xmlns:a16="http://schemas.microsoft.com/office/drawing/2014/main" id="{0AF4D9D4-6352-AB3F-D1DE-6B7CECF6BA96}"/>
              </a:ext>
            </a:extLst>
          </p:cNvPr>
          <p:cNvSpPr txBox="1"/>
          <p:nvPr/>
        </p:nvSpPr>
        <p:spPr>
          <a:xfrm>
            <a:off x="6599565" y="2793308"/>
            <a:ext cx="1325235" cy="276999"/>
          </a:xfrm>
          <a:prstGeom prst="rect">
            <a:avLst/>
          </a:prstGeom>
          <a:noFill/>
        </p:spPr>
        <p:txBody>
          <a:bodyPr wrap="none" rtlCol="0">
            <a:spAutoFit/>
          </a:bodyPr>
          <a:lstStyle/>
          <a:p>
            <a:r>
              <a:rPr lang="en-US" sz="1200" dirty="0" err="1"/>
              <a:t>regulator_status</a:t>
            </a:r>
            <a:endParaRPr lang="en-US" sz="1200" dirty="0"/>
          </a:p>
        </p:txBody>
      </p:sp>
      <p:sp>
        <p:nvSpPr>
          <p:cNvPr id="22" name="Oval 21">
            <a:extLst>
              <a:ext uri="{FF2B5EF4-FFF2-40B4-BE49-F238E27FC236}">
                <a16:creationId xmlns:a16="http://schemas.microsoft.com/office/drawing/2014/main" id="{3C78F673-BAEE-4E2A-59CD-1072028C744D}"/>
              </a:ext>
            </a:extLst>
          </p:cNvPr>
          <p:cNvSpPr/>
          <p:nvPr/>
        </p:nvSpPr>
        <p:spPr bwMode="auto">
          <a:xfrm>
            <a:off x="6425829" y="2875603"/>
            <a:ext cx="152400" cy="1524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23" name="Oval 22">
            <a:extLst>
              <a:ext uri="{FF2B5EF4-FFF2-40B4-BE49-F238E27FC236}">
                <a16:creationId xmlns:a16="http://schemas.microsoft.com/office/drawing/2014/main" id="{9560F11C-5741-6445-B47C-142D316CC540}"/>
              </a:ext>
            </a:extLst>
          </p:cNvPr>
          <p:cNvSpPr/>
          <p:nvPr/>
        </p:nvSpPr>
        <p:spPr bwMode="auto">
          <a:xfrm>
            <a:off x="3520137" y="3113280"/>
            <a:ext cx="152400" cy="1524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24" name="TextBox 23">
            <a:extLst>
              <a:ext uri="{FF2B5EF4-FFF2-40B4-BE49-F238E27FC236}">
                <a16:creationId xmlns:a16="http://schemas.microsoft.com/office/drawing/2014/main" id="{6019B1E7-85B9-9EC9-ED85-20772697DC51}"/>
              </a:ext>
            </a:extLst>
          </p:cNvPr>
          <p:cNvSpPr txBox="1"/>
          <p:nvPr/>
        </p:nvSpPr>
        <p:spPr>
          <a:xfrm>
            <a:off x="3672537" y="3022947"/>
            <a:ext cx="1203278" cy="276999"/>
          </a:xfrm>
          <a:prstGeom prst="rect">
            <a:avLst/>
          </a:prstGeom>
          <a:noFill/>
        </p:spPr>
        <p:txBody>
          <a:bodyPr wrap="none" rtlCol="0">
            <a:spAutoFit/>
          </a:bodyPr>
          <a:lstStyle/>
          <a:p>
            <a:r>
              <a:rPr lang="en-US" sz="1200" dirty="0" err="1"/>
              <a:t>internal_failure</a:t>
            </a:r>
            <a:endParaRPr lang="en-US" sz="1200" dirty="0"/>
          </a:p>
        </p:txBody>
      </p:sp>
      <p:cxnSp>
        <p:nvCxnSpPr>
          <p:cNvPr id="26" name="Straight Arrow Connector 25">
            <a:extLst>
              <a:ext uri="{FF2B5EF4-FFF2-40B4-BE49-F238E27FC236}">
                <a16:creationId xmlns:a16="http://schemas.microsoft.com/office/drawing/2014/main" id="{44C866C7-4BC0-998B-A59C-6B4C46A43469}"/>
              </a:ext>
            </a:extLst>
          </p:cNvPr>
          <p:cNvCxnSpPr>
            <a:cxnSpLocks/>
            <a:endCxn id="19" idx="2"/>
          </p:cNvCxnSpPr>
          <p:nvPr/>
        </p:nvCxnSpPr>
        <p:spPr bwMode="auto">
          <a:xfrm flipV="1">
            <a:off x="2438400" y="3374136"/>
            <a:ext cx="3989106" cy="129355"/>
          </a:xfrm>
          <a:prstGeom prst="straightConnector1">
            <a:avLst/>
          </a:prstGeom>
          <a:solidFill>
            <a:schemeClr val="accent1"/>
          </a:solidFill>
          <a:ln w="38100" cap="flat" cmpd="sng" algn="ctr">
            <a:solidFill>
              <a:srgbClr val="00B050"/>
            </a:solidFill>
            <a:prstDash val="solid"/>
            <a:miter lim="800000"/>
            <a:headEnd type="none" w="med" len="med"/>
            <a:tailEnd type="triangle"/>
          </a:ln>
          <a:effectLst/>
        </p:spPr>
      </p:cxnSp>
      <p:cxnSp>
        <p:nvCxnSpPr>
          <p:cNvPr id="27" name="Straight Arrow Connector 26">
            <a:extLst>
              <a:ext uri="{FF2B5EF4-FFF2-40B4-BE49-F238E27FC236}">
                <a16:creationId xmlns:a16="http://schemas.microsoft.com/office/drawing/2014/main" id="{91C26090-2856-367B-1948-085BCF2BAF65}"/>
              </a:ext>
            </a:extLst>
          </p:cNvPr>
          <p:cNvCxnSpPr>
            <a:cxnSpLocks/>
          </p:cNvCxnSpPr>
          <p:nvPr/>
        </p:nvCxnSpPr>
        <p:spPr bwMode="auto">
          <a:xfrm>
            <a:off x="4889295" y="2658342"/>
            <a:ext cx="1526442" cy="646059"/>
          </a:xfrm>
          <a:prstGeom prst="straightConnector1">
            <a:avLst/>
          </a:prstGeom>
          <a:solidFill>
            <a:schemeClr val="accent1"/>
          </a:solidFill>
          <a:ln w="38100" cap="flat" cmpd="sng" algn="ctr">
            <a:solidFill>
              <a:srgbClr val="00B050"/>
            </a:solidFill>
            <a:prstDash val="solid"/>
            <a:miter lim="800000"/>
            <a:headEnd type="none" w="med" len="med"/>
            <a:tailEnd type="triangle"/>
          </a:ln>
          <a:effectLst/>
        </p:spPr>
      </p:cxnSp>
      <p:cxnSp>
        <p:nvCxnSpPr>
          <p:cNvPr id="32" name="Straight Arrow Connector 31">
            <a:extLst>
              <a:ext uri="{FF2B5EF4-FFF2-40B4-BE49-F238E27FC236}">
                <a16:creationId xmlns:a16="http://schemas.microsoft.com/office/drawing/2014/main" id="{7EFAF92F-1A25-466B-22E2-D8B4BC048CF1}"/>
              </a:ext>
            </a:extLst>
          </p:cNvPr>
          <p:cNvCxnSpPr>
            <a:cxnSpLocks/>
          </p:cNvCxnSpPr>
          <p:nvPr/>
        </p:nvCxnSpPr>
        <p:spPr bwMode="auto">
          <a:xfrm>
            <a:off x="5329352" y="2966366"/>
            <a:ext cx="1001003" cy="377222"/>
          </a:xfrm>
          <a:prstGeom prst="straightConnector1">
            <a:avLst/>
          </a:prstGeom>
          <a:solidFill>
            <a:schemeClr val="accent1"/>
          </a:solidFill>
          <a:ln w="38100" cap="flat" cmpd="sng" algn="ctr">
            <a:solidFill>
              <a:srgbClr val="00B050"/>
            </a:solidFill>
            <a:prstDash val="solid"/>
            <a:miter lim="800000"/>
            <a:headEnd type="none" w="med" len="med"/>
            <a:tailEnd type="triangle"/>
          </a:ln>
          <a:effectLst/>
        </p:spPr>
      </p:cxnSp>
      <p:cxnSp>
        <p:nvCxnSpPr>
          <p:cNvPr id="36" name="Straight Arrow Connector 35">
            <a:extLst>
              <a:ext uri="{FF2B5EF4-FFF2-40B4-BE49-F238E27FC236}">
                <a16:creationId xmlns:a16="http://schemas.microsoft.com/office/drawing/2014/main" id="{5FDDD82B-C511-EE51-A9D9-2457D9A2EFA5}"/>
              </a:ext>
            </a:extLst>
          </p:cNvPr>
          <p:cNvCxnSpPr>
            <a:cxnSpLocks/>
          </p:cNvCxnSpPr>
          <p:nvPr/>
        </p:nvCxnSpPr>
        <p:spPr bwMode="auto">
          <a:xfrm>
            <a:off x="2408672" y="2261732"/>
            <a:ext cx="3909529" cy="1109934"/>
          </a:xfrm>
          <a:prstGeom prst="straightConnector1">
            <a:avLst/>
          </a:prstGeom>
          <a:solidFill>
            <a:schemeClr val="accent1"/>
          </a:solidFill>
          <a:ln w="38100" cap="flat" cmpd="sng" algn="ctr">
            <a:solidFill>
              <a:srgbClr val="00B050"/>
            </a:solidFill>
            <a:prstDash val="solid"/>
            <a:miter lim="800000"/>
            <a:headEnd type="none" w="med" len="med"/>
            <a:tailEnd type="triangle"/>
          </a:ln>
          <a:effectLst/>
        </p:spPr>
      </p:cxnSp>
      <p:cxnSp>
        <p:nvCxnSpPr>
          <p:cNvPr id="38" name="Straight Arrow Connector 37">
            <a:extLst>
              <a:ext uri="{FF2B5EF4-FFF2-40B4-BE49-F238E27FC236}">
                <a16:creationId xmlns:a16="http://schemas.microsoft.com/office/drawing/2014/main" id="{7C1381A6-D5FF-1C26-7499-C08C4B7BFA4B}"/>
              </a:ext>
            </a:extLst>
          </p:cNvPr>
          <p:cNvCxnSpPr>
            <a:cxnSpLocks/>
          </p:cNvCxnSpPr>
          <p:nvPr/>
        </p:nvCxnSpPr>
        <p:spPr bwMode="auto">
          <a:xfrm>
            <a:off x="2435352" y="2516610"/>
            <a:ext cx="3926046" cy="875620"/>
          </a:xfrm>
          <a:prstGeom prst="straightConnector1">
            <a:avLst/>
          </a:prstGeom>
          <a:solidFill>
            <a:schemeClr val="accent1"/>
          </a:solidFill>
          <a:ln w="38100" cap="flat" cmpd="sng" algn="ctr">
            <a:solidFill>
              <a:srgbClr val="00B050"/>
            </a:solidFill>
            <a:prstDash val="solid"/>
            <a:miter lim="800000"/>
            <a:headEnd type="none" w="med" len="med"/>
            <a:tailEnd type="triangle"/>
          </a:ln>
          <a:effectLst/>
        </p:spPr>
      </p:cxnSp>
      <p:sp>
        <p:nvSpPr>
          <p:cNvPr id="44" name="Freeform 43">
            <a:extLst>
              <a:ext uri="{FF2B5EF4-FFF2-40B4-BE49-F238E27FC236}">
                <a16:creationId xmlns:a16="http://schemas.microsoft.com/office/drawing/2014/main" id="{5B432412-CA12-9140-3B4C-D5A46EDC8BF2}"/>
              </a:ext>
            </a:extLst>
          </p:cNvPr>
          <p:cNvSpPr/>
          <p:nvPr/>
        </p:nvSpPr>
        <p:spPr bwMode="auto">
          <a:xfrm>
            <a:off x="5189540" y="2704720"/>
            <a:ext cx="188976" cy="341766"/>
          </a:xfrm>
          <a:custGeom>
            <a:avLst/>
            <a:gdLst>
              <a:gd name="connsiteX0" fmla="*/ 0 w 593260"/>
              <a:gd name="connsiteY0" fmla="*/ 250227 h 540177"/>
              <a:gd name="connsiteX1" fmla="*/ 274320 w 593260"/>
              <a:gd name="connsiteY1" fmla="*/ 3339 h 540177"/>
              <a:gd name="connsiteX2" fmla="*/ 576072 w 593260"/>
              <a:gd name="connsiteY2" fmla="*/ 131355 h 540177"/>
              <a:gd name="connsiteX3" fmla="*/ 512064 w 593260"/>
              <a:gd name="connsiteY3" fmla="*/ 460539 h 540177"/>
              <a:gd name="connsiteX4" fmla="*/ 146304 w 593260"/>
              <a:gd name="connsiteY4" fmla="*/ 533691 h 540177"/>
              <a:gd name="connsiteX5" fmla="*/ 9144 w 593260"/>
              <a:gd name="connsiteY5" fmla="*/ 341667 h 540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3260" h="540177">
                <a:moveTo>
                  <a:pt x="0" y="250227"/>
                </a:moveTo>
                <a:cubicBezTo>
                  <a:pt x="89154" y="136689"/>
                  <a:pt x="178308" y="23151"/>
                  <a:pt x="274320" y="3339"/>
                </a:cubicBezTo>
                <a:cubicBezTo>
                  <a:pt x="370332" y="-16473"/>
                  <a:pt x="536448" y="55155"/>
                  <a:pt x="576072" y="131355"/>
                </a:cubicBezTo>
                <a:cubicBezTo>
                  <a:pt x="615696" y="207555"/>
                  <a:pt x="583692" y="393483"/>
                  <a:pt x="512064" y="460539"/>
                </a:cubicBezTo>
                <a:cubicBezTo>
                  <a:pt x="440436" y="527595"/>
                  <a:pt x="230124" y="553503"/>
                  <a:pt x="146304" y="533691"/>
                </a:cubicBezTo>
                <a:cubicBezTo>
                  <a:pt x="62484" y="513879"/>
                  <a:pt x="35814" y="427773"/>
                  <a:pt x="9144" y="341667"/>
                </a:cubicBezTo>
              </a:path>
            </a:pathLst>
          </a:custGeom>
          <a:noFill/>
          <a:ln w="28575" cap="flat" cmpd="sng" algn="ctr">
            <a:solidFill>
              <a:srgbClr val="00B050"/>
            </a:solidFill>
            <a:prstDash val="solid"/>
            <a:miter lim="800000"/>
            <a:headEnd type="none" w="med" len="med"/>
            <a:tailEnd type="triangl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Tree>
    <p:extLst>
      <p:ext uri="{BB962C8B-B14F-4D97-AF65-F5344CB8AC3E}">
        <p14:creationId xmlns:p14="http://schemas.microsoft.com/office/powerpoint/2010/main" val="14561819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E5E6F-7B2B-ADCF-1D4A-28E3EF8EAC9E}"/>
              </a:ext>
            </a:extLst>
          </p:cNvPr>
          <p:cNvSpPr>
            <a:spLocks noGrp="1"/>
          </p:cNvSpPr>
          <p:nvPr>
            <p:ph type="title"/>
          </p:nvPr>
        </p:nvSpPr>
        <p:spPr/>
        <p:txBody>
          <a:bodyPr/>
          <a:lstStyle/>
          <a:p>
            <a:r>
              <a:rPr lang="en-US" dirty="0"/>
              <a:t>Types of Properties (Phase I)</a:t>
            </a:r>
          </a:p>
        </p:txBody>
      </p:sp>
      <p:sp>
        <p:nvSpPr>
          <p:cNvPr id="3" name="Content Placeholder 2">
            <a:extLst>
              <a:ext uri="{FF2B5EF4-FFF2-40B4-BE49-F238E27FC236}">
                <a16:creationId xmlns:a16="http://schemas.microsoft.com/office/drawing/2014/main" id="{BE82CAD9-457A-EF1D-7E49-FBB53DD82138}"/>
              </a:ext>
            </a:extLst>
          </p:cNvPr>
          <p:cNvSpPr>
            <a:spLocks noGrp="1"/>
          </p:cNvSpPr>
          <p:nvPr>
            <p:ph idx="1"/>
          </p:nvPr>
        </p:nvSpPr>
        <p:spPr/>
        <p:txBody>
          <a:bodyPr/>
          <a:lstStyle/>
          <a:p>
            <a:r>
              <a:rPr lang="en-US" sz="1800" dirty="0"/>
              <a:t>Component Contract</a:t>
            </a:r>
          </a:p>
          <a:p>
            <a:pPr lvl="1"/>
            <a:r>
              <a:rPr lang="en-US" sz="1600" dirty="0"/>
              <a:t>Pre-condition</a:t>
            </a:r>
          </a:p>
          <a:p>
            <a:pPr lvl="2"/>
            <a:r>
              <a:rPr lang="en-US" sz="1400" dirty="0"/>
              <a:t>Constraint on component input ports (application port view) and local variables</a:t>
            </a:r>
          </a:p>
          <a:p>
            <a:pPr lvl="2"/>
            <a:r>
              <a:rPr lang="en-US" sz="1400" dirty="0"/>
              <a:t>always holds when the component is executed</a:t>
            </a:r>
          </a:p>
          <a:p>
            <a:pPr lvl="1"/>
            <a:r>
              <a:rPr lang="en-US" sz="1600" dirty="0"/>
              <a:t>Post-condition</a:t>
            </a:r>
          </a:p>
          <a:p>
            <a:pPr lvl="2"/>
            <a:r>
              <a:rPr lang="en-US" sz="1400" dirty="0"/>
              <a:t>Constraint on component input ports (application port view), pre-state local variables, output ports (application port view), post-state local variables</a:t>
            </a:r>
          </a:p>
          <a:p>
            <a:r>
              <a:rPr lang="en-US" sz="1800" dirty="0"/>
              <a:t>System Assertion</a:t>
            </a:r>
          </a:p>
          <a:p>
            <a:pPr lvl="1"/>
            <a:r>
              <a:rPr lang="en-US" sz="1600" dirty="0"/>
              <a:t>Constraint on system state including communication substrate, component input and output infrastructure ports, component local variables</a:t>
            </a:r>
          </a:p>
          <a:p>
            <a:pPr lvl="2"/>
            <a:r>
              <a:rPr lang="en-US" sz="1200" dirty="0"/>
              <a:t>Invariant can also be conditioned on control points.  The simplest form of this is to condition it on the schedule state (e.g., different positions in the static schedule), but it could also be conditioned on more abstract notions (e.g., component X just finished executing).</a:t>
            </a:r>
          </a:p>
          <a:p>
            <a:pPr lvl="1"/>
            <a:endParaRPr lang="en-US" sz="1600" dirty="0"/>
          </a:p>
        </p:txBody>
      </p:sp>
      <p:sp>
        <p:nvSpPr>
          <p:cNvPr id="4" name="Slide Number Placeholder 3">
            <a:extLst>
              <a:ext uri="{FF2B5EF4-FFF2-40B4-BE49-F238E27FC236}">
                <a16:creationId xmlns:a16="http://schemas.microsoft.com/office/drawing/2014/main" id="{777F15A1-86F6-2A79-EDD2-7B152AD45AA7}"/>
              </a:ext>
            </a:extLst>
          </p:cNvPr>
          <p:cNvSpPr>
            <a:spLocks noGrp="1"/>
          </p:cNvSpPr>
          <p:nvPr>
            <p:ph type="sldNum" sz="quarter" idx="11"/>
          </p:nvPr>
        </p:nvSpPr>
        <p:spPr/>
        <p:txBody>
          <a:bodyPr/>
          <a:lstStyle/>
          <a:p>
            <a:pPr>
              <a:defRPr/>
            </a:pPr>
            <a:fld id="{C22399C2-1ADD-1549-9753-CEA7C1EED1B8}" type="slidenum">
              <a:rPr lang="en-US" smtClean="0"/>
              <a:pPr>
                <a:defRPr/>
              </a:pPr>
              <a:t>14</a:t>
            </a:fld>
            <a:endParaRPr lang="en-US"/>
          </a:p>
        </p:txBody>
      </p:sp>
      <p:sp>
        <p:nvSpPr>
          <p:cNvPr id="5" name="Parallelogram 4">
            <a:extLst>
              <a:ext uri="{FF2B5EF4-FFF2-40B4-BE49-F238E27FC236}">
                <a16:creationId xmlns:a16="http://schemas.microsoft.com/office/drawing/2014/main" id="{2982EB90-FC34-75A1-1A41-F72CBA28AE23}"/>
              </a:ext>
            </a:extLst>
          </p:cNvPr>
          <p:cNvSpPr/>
          <p:nvPr/>
        </p:nvSpPr>
        <p:spPr>
          <a:xfrm>
            <a:off x="3448031" y="5559961"/>
            <a:ext cx="1238269" cy="840839"/>
          </a:xfrm>
          <a:prstGeom prst="parallelogram">
            <a:avLst>
              <a:gd name="adj" fmla="val 16558"/>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7E77C8B-D257-DA96-3796-B5866A52A5D0}"/>
              </a:ext>
            </a:extLst>
          </p:cNvPr>
          <p:cNvSpPr txBox="1"/>
          <p:nvPr/>
        </p:nvSpPr>
        <p:spPr>
          <a:xfrm>
            <a:off x="3040752" y="5638800"/>
            <a:ext cx="388248" cy="261610"/>
          </a:xfrm>
          <a:prstGeom prst="rect">
            <a:avLst/>
          </a:prstGeom>
          <a:solidFill>
            <a:srgbClr val="00B050"/>
          </a:solidFill>
        </p:spPr>
        <p:txBody>
          <a:bodyPr wrap="none" rtlCol="0">
            <a:spAutoFit/>
          </a:bodyPr>
          <a:lstStyle/>
          <a:p>
            <a:r>
              <a:rPr lang="en-US" sz="1100" dirty="0"/>
              <a:t>Pre</a:t>
            </a:r>
          </a:p>
        </p:txBody>
      </p:sp>
      <p:sp>
        <p:nvSpPr>
          <p:cNvPr id="7" name="TextBox 6">
            <a:extLst>
              <a:ext uri="{FF2B5EF4-FFF2-40B4-BE49-F238E27FC236}">
                <a16:creationId xmlns:a16="http://schemas.microsoft.com/office/drawing/2014/main" id="{CF691799-3BEE-D413-DA26-74253A345098}"/>
              </a:ext>
            </a:extLst>
          </p:cNvPr>
          <p:cNvSpPr txBox="1"/>
          <p:nvPr/>
        </p:nvSpPr>
        <p:spPr>
          <a:xfrm>
            <a:off x="4689348" y="6084530"/>
            <a:ext cx="449162" cy="261610"/>
          </a:xfrm>
          <a:prstGeom prst="rect">
            <a:avLst/>
          </a:prstGeom>
          <a:solidFill>
            <a:srgbClr val="00B0F0"/>
          </a:solidFill>
          <a:ln>
            <a:solidFill>
              <a:srgbClr val="00B0F0"/>
            </a:solidFill>
          </a:ln>
        </p:spPr>
        <p:txBody>
          <a:bodyPr wrap="none" rtlCol="0">
            <a:spAutoFit/>
          </a:bodyPr>
          <a:lstStyle/>
          <a:p>
            <a:r>
              <a:rPr lang="en-US" sz="1100" dirty="0"/>
              <a:t>Post</a:t>
            </a:r>
          </a:p>
        </p:txBody>
      </p:sp>
      <p:sp>
        <p:nvSpPr>
          <p:cNvPr id="9" name="Oval 8">
            <a:extLst>
              <a:ext uri="{FF2B5EF4-FFF2-40B4-BE49-F238E27FC236}">
                <a16:creationId xmlns:a16="http://schemas.microsoft.com/office/drawing/2014/main" id="{6AB3E893-360F-58DD-0BF5-FCA70CE0ECBB}"/>
              </a:ext>
            </a:extLst>
          </p:cNvPr>
          <p:cNvSpPr/>
          <p:nvPr/>
        </p:nvSpPr>
        <p:spPr bwMode="auto">
          <a:xfrm rot="592320">
            <a:off x="3397397" y="5727886"/>
            <a:ext cx="152400" cy="533400"/>
          </a:xfrm>
          <a:prstGeom prst="ellipse">
            <a:avLst/>
          </a:prstGeom>
          <a:noFill/>
          <a:ln w="28575" cap="flat" cmpd="sng" algn="ctr">
            <a:solidFill>
              <a:srgbClr val="00B050"/>
            </a:solidFill>
            <a:prstDash val="dash"/>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0" name="Oval 9">
            <a:extLst>
              <a:ext uri="{FF2B5EF4-FFF2-40B4-BE49-F238E27FC236}">
                <a16:creationId xmlns:a16="http://schemas.microsoft.com/office/drawing/2014/main" id="{B343C02C-BCBD-293B-2109-1CF1B52B9343}"/>
              </a:ext>
            </a:extLst>
          </p:cNvPr>
          <p:cNvSpPr/>
          <p:nvPr/>
        </p:nvSpPr>
        <p:spPr bwMode="auto">
          <a:xfrm rot="16200000">
            <a:off x="3760610" y="5622419"/>
            <a:ext cx="207005" cy="348975"/>
          </a:xfrm>
          <a:prstGeom prst="ellipse">
            <a:avLst/>
          </a:prstGeom>
          <a:noFill/>
          <a:ln w="28575" cap="flat" cmpd="sng" algn="ctr">
            <a:solidFill>
              <a:srgbClr val="00B050"/>
            </a:solidFill>
            <a:prstDash val="dash"/>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1" name="Oval 10">
            <a:extLst>
              <a:ext uri="{FF2B5EF4-FFF2-40B4-BE49-F238E27FC236}">
                <a16:creationId xmlns:a16="http://schemas.microsoft.com/office/drawing/2014/main" id="{8BE2EAE7-7812-4DE1-E8BF-36C928118274}"/>
              </a:ext>
            </a:extLst>
          </p:cNvPr>
          <p:cNvSpPr/>
          <p:nvPr/>
        </p:nvSpPr>
        <p:spPr bwMode="auto">
          <a:xfrm rot="592320">
            <a:off x="4534644" y="5727885"/>
            <a:ext cx="152400" cy="533400"/>
          </a:xfrm>
          <a:prstGeom prst="ellipse">
            <a:avLst/>
          </a:prstGeom>
          <a:noFill/>
          <a:ln w="28575" cap="flat" cmpd="sng" algn="ctr">
            <a:solidFill>
              <a:srgbClr val="00B0F0"/>
            </a:solidFill>
            <a:prstDash val="dash"/>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2" name="Oval 11">
            <a:extLst>
              <a:ext uri="{FF2B5EF4-FFF2-40B4-BE49-F238E27FC236}">
                <a16:creationId xmlns:a16="http://schemas.microsoft.com/office/drawing/2014/main" id="{9CE188E6-FA34-4EBA-87CD-3F68D8550B9C}"/>
              </a:ext>
            </a:extLst>
          </p:cNvPr>
          <p:cNvSpPr/>
          <p:nvPr/>
        </p:nvSpPr>
        <p:spPr bwMode="auto">
          <a:xfrm rot="592320">
            <a:off x="3387702" y="5908954"/>
            <a:ext cx="152400" cy="533400"/>
          </a:xfrm>
          <a:prstGeom prst="ellipse">
            <a:avLst/>
          </a:prstGeom>
          <a:noFill/>
          <a:ln w="28575" cap="flat" cmpd="sng" algn="ctr">
            <a:solidFill>
              <a:srgbClr val="00B0F0"/>
            </a:solidFill>
            <a:prstDash val="dash"/>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3" name="Oval 12">
            <a:extLst>
              <a:ext uri="{FF2B5EF4-FFF2-40B4-BE49-F238E27FC236}">
                <a16:creationId xmlns:a16="http://schemas.microsoft.com/office/drawing/2014/main" id="{50DD35EB-E944-5879-CE58-2B38CA94E748}"/>
              </a:ext>
            </a:extLst>
          </p:cNvPr>
          <p:cNvSpPr/>
          <p:nvPr/>
        </p:nvSpPr>
        <p:spPr bwMode="auto">
          <a:xfrm rot="16200000">
            <a:off x="3913010" y="5774819"/>
            <a:ext cx="207005" cy="348975"/>
          </a:xfrm>
          <a:prstGeom prst="ellipse">
            <a:avLst/>
          </a:prstGeom>
          <a:noFill/>
          <a:ln w="28575" cap="flat" cmpd="sng" algn="ctr">
            <a:solidFill>
              <a:srgbClr val="00B0F0"/>
            </a:solidFill>
            <a:prstDash val="dash"/>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4" name="TextBox 13">
            <a:extLst>
              <a:ext uri="{FF2B5EF4-FFF2-40B4-BE49-F238E27FC236}">
                <a16:creationId xmlns:a16="http://schemas.microsoft.com/office/drawing/2014/main" id="{5D3710DE-8B19-D78B-9489-2554048D37B2}"/>
              </a:ext>
            </a:extLst>
          </p:cNvPr>
          <p:cNvSpPr txBox="1"/>
          <p:nvPr/>
        </p:nvSpPr>
        <p:spPr>
          <a:xfrm>
            <a:off x="1981200" y="5831545"/>
            <a:ext cx="854721" cy="261610"/>
          </a:xfrm>
          <a:prstGeom prst="rect">
            <a:avLst/>
          </a:prstGeom>
          <a:solidFill>
            <a:srgbClr val="FFC000"/>
          </a:solidFill>
        </p:spPr>
        <p:txBody>
          <a:bodyPr wrap="none" rtlCol="0">
            <a:spAutoFit/>
          </a:bodyPr>
          <a:lstStyle/>
          <a:p>
            <a:r>
              <a:rPr lang="en-US" sz="1100" dirty="0"/>
              <a:t>SysAssert1</a:t>
            </a:r>
          </a:p>
        </p:txBody>
      </p:sp>
      <p:sp>
        <p:nvSpPr>
          <p:cNvPr id="15" name="TextBox 14">
            <a:extLst>
              <a:ext uri="{FF2B5EF4-FFF2-40B4-BE49-F238E27FC236}">
                <a16:creationId xmlns:a16="http://schemas.microsoft.com/office/drawing/2014/main" id="{E9FC6786-6F2B-E346-773A-74012C2C4580}"/>
              </a:ext>
            </a:extLst>
          </p:cNvPr>
          <p:cNvSpPr txBox="1"/>
          <p:nvPr/>
        </p:nvSpPr>
        <p:spPr>
          <a:xfrm>
            <a:off x="5519457" y="5834390"/>
            <a:ext cx="854721" cy="261610"/>
          </a:xfrm>
          <a:prstGeom prst="rect">
            <a:avLst/>
          </a:prstGeom>
          <a:solidFill>
            <a:srgbClr val="FFC000"/>
          </a:solidFill>
        </p:spPr>
        <p:txBody>
          <a:bodyPr wrap="none" rtlCol="0">
            <a:spAutoFit/>
          </a:bodyPr>
          <a:lstStyle/>
          <a:p>
            <a:r>
              <a:rPr lang="en-US" sz="1100" dirty="0"/>
              <a:t>SysAssert2</a:t>
            </a:r>
          </a:p>
        </p:txBody>
      </p:sp>
    </p:spTree>
    <p:extLst>
      <p:ext uri="{BB962C8B-B14F-4D97-AF65-F5344CB8AC3E}">
        <p14:creationId xmlns:p14="http://schemas.microsoft.com/office/powerpoint/2010/main" val="12829322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F6FE098-3714-CAAE-B264-9FA2959E300C}"/>
              </a:ext>
            </a:extLst>
          </p:cNvPr>
          <p:cNvSpPr>
            <a:spLocks noGrp="1"/>
          </p:cNvSpPr>
          <p:nvPr>
            <p:ph type="title"/>
          </p:nvPr>
        </p:nvSpPr>
        <p:spPr/>
        <p:txBody>
          <a:bodyPr/>
          <a:lstStyle/>
          <a:p>
            <a:r>
              <a:rPr lang="en-US" dirty="0"/>
              <a:t>VC Structure (Phase 1)</a:t>
            </a:r>
          </a:p>
        </p:txBody>
      </p:sp>
      <p:sp>
        <p:nvSpPr>
          <p:cNvPr id="16" name="Content Placeholder 15">
            <a:extLst>
              <a:ext uri="{FF2B5EF4-FFF2-40B4-BE49-F238E27FC236}">
                <a16:creationId xmlns:a16="http://schemas.microsoft.com/office/drawing/2014/main" id="{789998D8-1099-C8F1-B5F9-DE83C371D395}"/>
              </a:ext>
            </a:extLst>
          </p:cNvPr>
          <p:cNvSpPr>
            <a:spLocks noGrp="1"/>
          </p:cNvSpPr>
          <p:nvPr>
            <p:ph idx="1"/>
          </p:nvPr>
        </p:nvSpPr>
        <p:spPr>
          <a:xfrm>
            <a:off x="685800" y="3111600"/>
            <a:ext cx="8153400" cy="3289200"/>
          </a:xfrm>
        </p:spPr>
        <p:txBody>
          <a:bodyPr/>
          <a:lstStyle/>
          <a:p>
            <a:r>
              <a:rPr lang="en-US" dirty="0"/>
              <a:t>SysAssert1 implies Pre</a:t>
            </a:r>
          </a:p>
          <a:p>
            <a:r>
              <a:rPr lang="en-US" dirty="0"/>
              <a:t>SysAssert1 &amp; Post implies SysAssert2</a:t>
            </a:r>
          </a:p>
        </p:txBody>
      </p:sp>
      <p:sp>
        <p:nvSpPr>
          <p:cNvPr id="4" name="Slide Number Placeholder 3">
            <a:extLst>
              <a:ext uri="{FF2B5EF4-FFF2-40B4-BE49-F238E27FC236}">
                <a16:creationId xmlns:a16="http://schemas.microsoft.com/office/drawing/2014/main" id="{7A20B146-E2C7-235E-DD60-15442639B9A6}"/>
              </a:ext>
            </a:extLst>
          </p:cNvPr>
          <p:cNvSpPr>
            <a:spLocks noGrp="1"/>
          </p:cNvSpPr>
          <p:nvPr>
            <p:ph type="sldNum" sz="quarter" idx="11"/>
          </p:nvPr>
        </p:nvSpPr>
        <p:spPr/>
        <p:txBody>
          <a:bodyPr/>
          <a:lstStyle/>
          <a:p>
            <a:pPr>
              <a:defRPr/>
            </a:pPr>
            <a:fld id="{C22399C2-1ADD-1549-9753-CEA7C1EED1B8}" type="slidenum">
              <a:rPr lang="en-US" smtClean="0"/>
              <a:pPr>
                <a:defRPr/>
              </a:pPr>
              <a:t>15</a:t>
            </a:fld>
            <a:endParaRPr lang="en-US"/>
          </a:p>
        </p:txBody>
      </p:sp>
      <p:sp>
        <p:nvSpPr>
          <p:cNvPr id="6" name="Parallelogram 5">
            <a:extLst>
              <a:ext uri="{FF2B5EF4-FFF2-40B4-BE49-F238E27FC236}">
                <a16:creationId xmlns:a16="http://schemas.microsoft.com/office/drawing/2014/main" id="{EE38EA9F-56AE-1A8D-70BB-7F3655B5B96F}"/>
              </a:ext>
            </a:extLst>
          </p:cNvPr>
          <p:cNvSpPr/>
          <p:nvPr/>
        </p:nvSpPr>
        <p:spPr>
          <a:xfrm>
            <a:off x="3581400" y="1905000"/>
            <a:ext cx="1238269" cy="840839"/>
          </a:xfrm>
          <a:prstGeom prst="parallelogram">
            <a:avLst>
              <a:gd name="adj" fmla="val 16558"/>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6FE2444C-3CE1-AFE2-3700-A9E9691DC6A3}"/>
              </a:ext>
            </a:extLst>
          </p:cNvPr>
          <p:cNvSpPr txBox="1"/>
          <p:nvPr/>
        </p:nvSpPr>
        <p:spPr>
          <a:xfrm>
            <a:off x="3174121" y="1983839"/>
            <a:ext cx="388248" cy="261610"/>
          </a:xfrm>
          <a:prstGeom prst="rect">
            <a:avLst/>
          </a:prstGeom>
          <a:solidFill>
            <a:srgbClr val="00B050"/>
          </a:solidFill>
        </p:spPr>
        <p:txBody>
          <a:bodyPr wrap="none" rtlCol="0">
            <a:spAutoFit/>
          </a:bodyPr>
          <a:lstStyle/>
          <a:p>
            <a:r>
              <a:rPr lang="en-US" sz="1100" dirty="0"/>
              <a:t>Pre</a:t>
            </a:r>
          </a:p>
        </p:txBody>
      </p:sp>
      <p:sp>
        <p:nvSpPr>
          <p:cNvPr id="8" name="TextBox 7">
            <a:extLst>
              <a:ext uri="{FF2B5EF4-FFF2-40B4-BE49-F238E27FC236}">
                <a16:creationId xmlns:a16="http://schemas.microsoft.com/office/drawing/2014/main" id="{3725757B-9BAB-E337-04F1-D9849EA3441F}"/>
              </a:ext>
            </a:extLst>
          </p:cNvPr>
          <p:cNvSpPr txBox="1"/>
          <p:nvPr/>
        </p:nvSpPr>
        <p:spPr>
          <a:xfrm>
            <a:off x="4822717" y="2429569"/>
            <a:ext cx="449162" cy="261610"/>
          </a:xfrm>
          <a:prstGeom prst="rect">
            <a:avLst/>
          </a:prstGeom>
          <a:solidFill>
            <a:srgbClr val="00B0F0"/>
          </a:solidFill>
          <a:ln>
            <a:solidFill>
              <a:srgbClr val="00B0F0"/>
            </a:solidFill>
          </a:ln>
        </p:spPr>
        <p:txBody>
          <a:bodyPr wrap="none" rtlCol="0">
            <a:spAutoFit/>
          </a:bodyPr>
          <a:lstStyle/>
          <a:p>
            <a:r>
              <a:rPr lang="en-US" sz="1100" dirty="0"/>
              <a:t>Post</a:t>
            </a:r>
          </a:p>
        </p:txBody>
      </p:sp>
      <p:sp>
        <p:nvSpPr>
          <p:cNvPr id="9" name="Oval 8">
            <a:extLst>
              <a:ext uri="{FF2B5EF4-FFF2-40B4-BE49-F238E27FC236}">
                <a16:creationId xmlns:a16="http://schemas.microsoft.com/office/drawing/2014/main" id="{CA348CC6-9A68-7A6D-F5B7-3DDF10BC4843}"/>
              </a:ext>
            </a:extLst>
          </p:cNvPr>
          <p:cNvSpPr/>
          <p:nvPr/>
        </p:nvSpPr>
        <p:spPr bwMode="auto">
          <a:xfrm rot="592320">
            <a:off x="3530766" y="2072925"/>
            <a:ext cx="152400" cy="533400"/>
          </a:xfrm>
          <a:prstGeom prst="ellipse">
            <a:avLst/>
          </a:prstGeom>
          <a:noFill/>
          <a:ln w="28575" cap="flat" cmpd="sng" algn="ctr">
            <a:solidFill>
              <a:srgbClr val="00B050"/>
            </a:solidFill>
            <a:prstDash val="dash"/>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0" name="Oval 9">
            <a:extLst>
              <a:ext uri="{FF2B5EF4-FFF2-40B4-BE49-F238E27FC236}">
                <a16:creationId xmlns:a16="http://schemas.microsoft.com/office/drawing/2014/main" id="{3AFF50D9-2E69-5BB3-8018-DA122BD0E385}"/>
              </a:ext>
            </a:extLst>
          </p:cNvPr>
          <p:cNvSpPr/>
          <p:nvPr/>
        </p:nvSpPr>
        <p:spPr bwMode="auto">
          <a:xfrm rot="16200000">
            <a:off x="3893979" y="1967458"/>
            <a:ext cx="207005" cy="348975"/>
          </a:xfrm>
          <a:prstGeom prst="ellipse">
            <a:avLst/>
          </a:prstGeom>
          <a:noFill/>
          <a:ln w="28575" cap="flat" cmpd="sng" algn="ctr">
            <a:solidFill>
              <a:srgbClr val="00B050"/>
            </a:solidFill>
            <a:prstDash val="dash"/>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1" name="Oval 10">
            <a:extLst>
              <a:ext uri="{FF2B5EF4-FFF2-40B4-BE49-F238E27FC236}">
                <a16:creationId xmlns:a16="http://schemas.microsoft.com/office/drawing/2014/main" id="{EEFA4CA3-3A06-30BE-AAC2-B13FEFBADF58}"/>
              </a:ext>
            </a:extLst>
          </p:cNvPr>
          <p:cNvSpPr/>
          <p:nvPr/>
        </p:nvSpPr>
        <p:spPr bwMode="auto">
          <a:xfrm rot="592320">
            <a:off x="4668013" y="2072924"/>
            <a:ext cx="152400" cy="533400"/>
          </a:xfrm>
          <a:prstGeom prst="ellipse">
            <a:avLst/>
          </a:prstGeom>
          <a:noFill/>
          <a:ln w="28575" cap="flat" cmpd="sng" algn="ctr">
            <a:solidFill>
              <a:srgbClr val="00B0F0"/>
            </a:solidFill>
            <a:prstDash val="dash"/>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2" name="Oval 11">
            <a:extLst>
              <a:ext uri="{FF2B5EF4-FFF2-40B4-BE49-F238E27FC236}">
                <a16:creationId xmlns:a16="http://schemas.microsoft.com/office/drawing/2014/main" id="{6D23C153-4E3E-ADF9-81BB-158DC9AA79DB}"/>
              </a:ext>
            </a:extLst>
          </p:cNvPr>
          <p:cNvSpPr/>
          <p:nvPr/>
        </p:nvSpPr>
        <p:spPr bwMode="auto">
          <a:xfrm rot="592320">
            <a:off x="3521071" y="2253993"/>
            <a:ext cx="152400" cy="533400"/>
          </a:xfrm>
          <a:prstGeom prst="ellipse">
            <a:avLst/>
          </a:prstGeom>
          <a:noFill/>
          <a:ln w="28575" cap="flat" cmpd="sng" algn="ctr">
            <a:solidFill>
              <a:srgbClr val="00B0F0"/>
            </a:solidFill>
            <a:prstDash val="dash"/>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3" name="Oval 12">
            <a:extLst>
              <a:ext uri="{FF2B5EF4-FFF2-40B4-BE49-F238E27FC236}">
                <a16:creationId xmlns:a16="http://schemas.microsoft.com/office/drawing/2014/main" id="{D4A7B989-CFD0-3E96-0C76-596A883A27ED}"/>
              </a:ext>
            </a:extLst>
          </p:cNvPr>
          <p:cNvSpPr/>
          <p:nvPr/>
        </p:nvSpPr>
        <p:spPr bwMode="auto">
          <a:xfrm rot="16200000">
            <a:off x="4046379" y="2119858"/>
            <a:ext cx="207005" cy="348975"/>
          </a:xfrm>
          <a:prstGeom prst="ellipse">
            <a:avLst/>
          </a:prstGeom>
          <a:noFill/>
          <a:ln w="28575" cap="flat" cmpd="sng" algn="ctr">
            <a:solidFill>
              <a:srgbClr val="00B0F0"/>
            </a:solidFill>
            <a:prstDash val="dash"/>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4" name="TextBox 13">
            <a:extLst>
              <a:ext uri="{FF2B5EF4-FFF2-40B4-BE49-F238E27FC236}">
                <a16:creationId xmlns:a16="http://schemas.microsoft.com/office/drawing/2014/main" id="{26A5751D-AE2E-F244-148A-D9DEB5D7DF07}"/>
              </a:ext>
            </a:extLst>
          </p:cNvPr>
          <p:cNvSpPr txBox="1"/>
          <p:nvPr/>
        </p:nvSpPr>
        <p:spPr>
          <a:xfrm>
            <a:off x="2057400" y="2176584"/>
            <a:ext cx="854721" cy="261610"/>
          </a:xfrm>
          <a:prstGeom prst="rect">
            <a:avLst/>
          </a:prstGeom>
          <a:solidFill>
            <a:srgbClr val="FFC000"/>
          </a:solidFill>
        </p:spPr>
        <p:txBody>
          <a:bodyPr wrap="none" rtlCol="0">
            <a:spAutoFit/>
          </a:bodyPr>
          <a:lstStyle/>
          <a:p>
            <a:r>
              <a:rPr lang="en-US" sz="1100" dirty="0"/>
              <a:t>SysAssert1</a:t>
            </a:r>
          </a:p>
        </p:txBody>
      </p:sp>
      <p:sp>
        <p:nvSpPr>
          <p:cNvPr id="15" name="TextBox 14">
            <a:extLst>
              <a:ext uri="{FF2B5EF4-FFF2-40B4-BE49-F238E27FC236}">
                <a16:creationId xmlns:a16="http://schemas.microsoft.com/office/drawing/2014/main" id="{03630545-1EB7-194D-3B9F-99DDF1DEF8C0}"/>
              </a:ext>
            </a:extLst>
          </p:cNvPr>
          <p:cNvSpPr txBox="1"/>
          <p:nvPr/>
        </p:nvSpPr>
        <p:spPr>
          <a:xfrm>
            <a:off x="5652826" y="2179429"/>
            <a:ext cx="854721" cy="261610"/>
          </a:xfrm>
          <a:prstGeom prst="rect">
            <a:avLst/>
          </a:prstGeom>
          <a:solidFill>
            <a:srgbClr val="FFC000"/>
          </a:solidFill>
        </p:spPr>
        <p:txBody>
          <a:bodyPr wrap="none" rtlCol="0">
            <a:spAutoFit/>
          </a:bodyPr>
          <a:lstStyle/>
          <a:p>
            <a:r>
              <a:rPr lang="en-US" sz="1100" dirty="0"/>
              <a:t>SysAssert2</a:t>
            </a:r>
          </a:p>
        </p:txBody>
      </p:sp>
    </p:spTree>
    <p:extLst>
      <p:ext uri="{BB962C8B-B14F-4D97-AF65-F5344CB8AC3E}">
        <p14:creationId xmlns:p14="http://schemas.microsoft.com/office/powerpoint/2010/main" val="2947770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1E753-8770-C002-EE0E-5227EFAF5CD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927760A-5937-8355-1C1C-5A3C20D63D96}"/>
              </a:ext>
            </a:extLst>
          </p:cNvPr>
          <p:cNvSpPr>
            <a:spLocks noGrp="1"/>
          </p:cNvSpPr>
          <p:nvPr>
            <p:ph type="title"/>
          </p:nvPr>
        </p:nvSpPr>
        <p:spPr/>
        <p:txBody>
          <a:bodyPr/>
          <a:lstStyle/>
          <a:p>
            <a:r>
              <a:rPr lang="en-US" sz="4000" dirty="0"/>
              <a:t>Types of Properties (Phase X?)</a:t>
            </a:r>
          </a:p>
        </p:txBody>
      </p:sp>
      <p:sp>
        <p:nvSpPr>
          <p:cNvPr id="16" name="Content Placeholder 15">
            <a:extLst>
              <a:ext uri="{FF2B5EF4-FFF2-40B4-BE49-F238E27FC236}">
                <a16:creationId xmlns:a16="http://schemas.microsoft.com/office/drawing/2014/main" id="{8B940DAB-BBE4-4E1A-2F10-527BFD617477}"/>
              </a:ext>
            </a:extLst>
          </p:cNvPr>
          <p:cNvSpPr>
            <a:spLocks noGrp="1"/>
          </p:cNvSpPr>
          <p:nvPr>
            <p:ph idx="1"/>
          </p:nvPr>
        </p:nvSpPr>
        <p:spPr>
          <a:xfrm>
            <a:off x="685800" y="3411080"/>
            <a:ext cx="8153400" cy="2989720"/>
          </a:xfrm>
        </p:spPr>
        <p:txBody>
          <a:bodyPr/>
          <a:lstStyle/>
          <a:p>
            <a:r>
              <a:rPr lang="en-US" sz="2400" dirty="0"/>
              <a:t>For practicality, it is like that the invariant will be broken down into “useful pieces” that are intuitive to engineers</a:t>
            </a:r>
          </a:p>
          <a:p>
            <a:r>
              <a:rPr lang="en-US" sz="2400" dirty="0"/>
              <a:t>This means that the full invariant would not have to be treated by the user at each component, but only the parts that are established (proven in the meta-theory) to be relevant for that component</a:t>
            </a:r>
          </a:p>
          <a:p>
            <a:endParaRPr lang="en-US" sz="2400" dirty="0"/>
          </a:p>
        </p:txBody>
      </p:sp>
      <p:sp>
        <p:nvSpPr>
          <p:cNvPr id="4" name="Slide Number Placeholder 3">
            <a:extLst>
              <a:ext uri="{FF2B5EF4-FFF2-40B4-BE49-F238E27FC236}">
                <a16:creationId xmlns:a16="http://schemas.microsoft.com/office/drawing/2014/main" id="{A67A72FB-5B10-C21E-65D3-A345360C6BE7}"/>
              </a:ext>
            </a:extLst>
          </p:cNvPr>
          <p:cNvSpPr>
            <a:spLocks noGrp="1"/>
          </p:cNvSpPr>
          <p:nvPr>
            <p:ph type="sldNum" sz="quarter" idx="11"/>
          </p:nvPr>
        </p:nvSpPr>
        <p:spPr/>
        <p:txBody>
          <a:bodyPr/>
          <a:lstStyle/>
          <a:p>
            <a:pPr>
              <a:defRPr/>
            </a:pPr>
            <a:fld id="{C22399C2-1ADD-1549-9753-CEA7C1EED1B8}" type="slidenum">
              <a:rPr lang="en-US" smtClean="0"/>
              <a:pPr>
                <a:defRPr/>
              </a:pPr>
              <a:t>16</a:t>
            </a:fld>
            <a:endParaRPr lang="en-US"/>
          </a:p>
        </p:txBody>
      </p:sp>
      <p:sp>
        <p:nvSpPr>
          <p:cNvPr id="6" name="Parallelogram 5">
            <a:extLst>
              <a:ext uri="{FF2B5EF4-FFF2-40B4-BE49-F238E27FC236}">
                <a16:creationId xmlns:a16="http://schemas.microsoft.com/office/drawing/2014/main" id="{7D363A6F-B43A-77AE-2263-80C954AFDB13}"/>
              </a:ext>
            </a:extLst>
          </p:cNvPr>
          <p:cNvSpPr/>
          <p:nvPr/>
        </p:nvSpPr>
        <p:spPr>
          <a:xfrm>
            <a:off x="5486400" y="1813561"/>
            <a:ext cx="1238269" cy="840839"/>
          </a:xfrm>
          <a:prstGeom prst="parallelogram">
            <a:avLst>
              <a:gd name="adj" fmla="val 16558"/>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F971AAD-0A6B-8A5D-AE61-AC138A4154DF}"/>
              </a:ext>
            </a:extLst>
          </p:cNvPr>
          <p:cNvSpPr txBox="1"/>
          <p:nvPr/>
        </p:nvSpPr>
        <p:spPr>
          <a:xfrm>
            <a:off x="5079121" y="1892400"/>
            <a:ext cx="388248" cy="261610"/>
          </a:xfrm>
          <a:prstGeom prst="rect">
            <a:avLst/>
          </a:prstGeom>
          <a:solidFill>
            <a:srgbClr val="00B050"/>
          </a:solidFill>
        </p:spPr>
        <p:txBody>
          <a:bodyPr wrap="none" rtlCol="0">
            <a:spAutoFit/>
          </a:bodyPr>
          <a:lstStyle/>
          <a:p>
            <a:r>
              <a:rPr lang="en-US" sz="1100" dirty="0"/>
              <a:t>Pre</a:t>
            </a:r>
          </a:p>
        </p:txBody>
      </p:sp>
      <p:sp>
        <p:nvSpPr>
          <p:cNvPr id="8" name="TextBox 7">
            <a:extLst>
              <a:ext uri="{FF2B5EF4-FFF2-40B4-BE49-F238E27FC236}">
                <a16:creationId xmlns:a16="http://schemas.microsoft.com/office/drawing/2014/main" id="{233859AD-C77E-CCBF-FD61-28CD689589AF}"/>
              </a:ext>
            </a:extLst>
          </p:cNvPr>
          <p:cNvSpPr txBox="1"/>
          <p:nvPr/>
        </p:nvSpPr>
        <p:spPr>
          <a:xfrm>
            <a:off x="6727717" y="2338130"/>
            <a:ext cx="449162" cy="261610"/>
          </a:xfrm>
          <a:prstGeom prst="rect">
            <a:avLst/>
          </a:prstGeom>
          <a:solidFill>
            <a:srgbClr val="00B0F0"/>
          </a:solidFill>
          <a:ln>
            <a:solidFill>
              <a:srgbClr val="00B0F0"/>
            </a:solidFill>
          </a:ln>
        </p:spPr>
        <p:txBody>
          <a:bodyPr wrap="none" rtlCol="0">
            <a:spAutoFit/>
          </a:bodyPr>
          <a:lstStyle/>
          <a:p>
            <a:r>
              <a:rPr lang="en-US" sz="1100" dirty="0"/>
              <a:t>Post</a:t>
            </a:r>
          </a:p>
        </p:txBody>
      </p:sp>
      <p:sp>
        <p:nvSpPr>
          <p:cNvPr id="9" name="Oval 8">
            <a:extLst>
              <a:ext uri="{FF2B5EF4-FFF2-40B4-BE49-F238E27FC236}">
                <a16:creationId xmlns:a16="http://schemas.microsoft.com/office/drawing/2014/main" id="{EB27B3D5-E57E-92FF-3539-234E252DDA4A}"/>
              </a:ext>
            </a:extLst>
          </p:cNvPr>
          <p:cNvSpPr/>
          <p:nvPr/>
        </p:nvSpPr>
        <p:spPr bwMode="auto">
          <a:xfrm rot="592320">
            <a:off x="5435766" y="1981486"/>
            <a:ext cx="152400" cy="533400"/>
          </a:xfrm>
          <a:prstGeom prst="ellipse">
            <a:avLst/>
          </a:prstGeom>
          <a:noFill/>
          <a:ln w="28575" cap="flat" cmpd="sng" algn="ctr">
            <a:solidFill>
              <a:srgbClr val="00B050"/>
            </a:solidFill>
            <a:prstDash val="dash"/>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0" name="Oval 9">
            <a:extLst>
              <a:ext uri="{FF2B5EF4-FFF2-40B4-BE49-F238E27FC236}">
                <a16:creationId xmlns:a16="http://schemas.microsoft.com/office/drawing/2014/main" id="{C2A3EF9F-BE09-08FF-DA52-3D290A5274C8}"/>
              </a:ext>
            </a:extLst>
          </p:cNvPr>
          <p:cNvSpPr/>
          <p:nvPr/>
        </p:nvSpPr>
        <p:spPr bwMode="auto">
          <a:xfrm rot="16200000">
            <a:off x="5798979" y="1876019"/>
            <a:ext cx="207005" cy="348975"/>
          </a:xfrm>
          <a:prstGeom prst="ellipse">
            <a:avLst/>
          </a:prstGeom>
          <a:noFill/>
          <a:ln w="28575" cap="flat" cmpd="sng" algn="ctr">
            <a:solidFill>
              <a:srgbClr val="00B050"/>
            </a:solidFill>
            <a:prstDash val="dash"/>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1" name="Oval 10">
            <a:extLst>
              <a:ext uri="{FF2B5EF4-FFF2-40B4-BE49-F238E27FC236}">
                <a16:creationId xmlns:a16="http://schemas.microsoft.com/office/drawing/2014/main" id="{783CB4BB-CEE0-1BA0-0464-7471A0F128C8}"/>
              </a:ext>
            </a:extLst>
          </p:cNvPr>
          <p:cNvSpPr/>
          <p:nvPr/>
        </p:nvSpPr>
        <p:spPr bwMode="auto">
          <a:xfrm rot="592320">
            <a:off x="6573013" y="1981485"/>
            <a:ext cx="152400" cy="533400"/>
          </a:xfrm>
          <a:prstGeom prst="ellipse">
            <a:avLst/>
          </a:prstGeom>
          <a:noFill/>
          <a:ln w="28575" cap="flat" cmpd="sng" algn="ctr">
            <a:solidFill>
              <a:srgbClr val="00B0F0"/>
            </a:solidFill>
            <a:prstDash val="dash"/>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2" name="Oval 11">
            <a:extLst>
              <a:ext uri="{FF2B5EF4-FFF2-40B4-BE49-F238E27FC236}">
                <a16:creationId xmlns:a16="http://schemas.microsoft.com/office/drawing/2014/main" id="{C4EAF0E9-A1F8-A47B-922A-5ACFCEB33801}"/>
              </a:ext>
            </a:extLst>
          </p:cNvPr>
          <p:cNvSpPr/>
          <p:nvPr/>
        </p:nvSpPr>
        <p:spPr bwMode="auto">
          <a:xfrm rot="592320">
            <a:off x="5426071" y="2162554"/>
            <a:ext cx="152400" cy="533400"/>
          </a:xfrm>
          <a:prstGeom prst="ellipse">
            <a:avLst/>
          </a:prstGeom>
          <a:noFill/>
          <a:ln w="28575" cap="flat" cmpd="sng" algn="ctr">
            <a:solidFill>
              <a:srgbClr val="00B0F0"/>
            </a:solidFill>
            <a:prstDash val="dash"/>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3" name="Oval 12">
            <a:extLst>
              <a:ext uri="{FF2B5EF4-FFF2-40B4-BE49-F238E27FC236}">
                <a16:creationId xmlns:a16="http://schemas.microsoft.com/office/drawing/2014/main" id="{08C2F5B2-6B76-27F6-6CA5-AA21EA4758FB}"/>
              </a:ext>
            </a:extLst>
          </p:cNvPr>
          <p:cNvSpPr/>
          <p:nvPr/>
        </p:nvSpPr>
        <p:spPr bwMode="auto">
          <a:xfrm rot="16200000">
            <a:off x="5951379" y="2028419"/>
            <a:ext cx="207005" cy="348975"/>
          </a:xfrm>
          <a:prstGeom prst="ellipse">
            <a:avLst/>
          </a:prstGeom>
          <a:noFill/>
          <a:ln w="28575" cap="flat" cmpd="sng" algn="ctr">
            <a:solidFill>
              <a:srgbClr val="00B0F0"/>
            </a:solidFill>
            <a:prstDash val="dash"/>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4" name="TextBox 13">
            <a:extLst>
              <a:ext uri="{FF2B5EF4-FFF2-40B4-BE49-F238E27FC236}">
                <a16:creationId xmlns:a16="http://schemas.microsoft.com/office/drawing/2014/main" id="{438A0148-E18B-8DB4-F205-4275E98B47C5}"/>
              </a:ext>
            </a:extLst>
          </p:cNvPr>
          <p:cNvSpPr txBox="1"/>
          <p:nvPr/>
        </p:nvSpPr>
        <p:spPr>
          <a:xfrm>
            <a:off x="3959564" y="2099404"/>
            <a:ext cx="854721" cy="261610"/>
          </a:xfrm>
          <a:prstGeom prst="rect">
            <a:avLst/>
          </a:prstGeom>
          <a:solidFill>
            <a:srgbClr val="FFC000"/>
          </a:solidFill>
        </p:spPr>
        <p:txBody>
          <a:bodyPr wrap="none" rtlCol="0">
            <a:spAutoFit/>
          </a:bodyPr>
          <a:lstStyle/>
          <a:p>
            <a:r>
              <a:rPr lang="en-US" sz="1100" dirty="0"/>
              <a:t>SysAssert1</a:t>
            </a:r>
          </a:p>
        </p:txBody>
      </p:sp>
      <p:sp>
        <p:nvSpPr>
          <p:cNvPr id="15" name="TextBox 14">
            <a:extLst>
              <a:ext uri="{FF2B5EF4-FFF2-40B4-BE49-F238E27FC236}">
                <a16:creationId xmlns:a16="http://schemas.microsoft.com/office/drawing/2014/main" id="{7F81BE88-2907-5F97-12DF-31874FEBF271}"/>
              </a:ext>
            </a:extLst>
          </p:cNvPr>
          <p:cNvSpPr txBox="1"/>
          <p:nvPr/>
        </p:nvSpPr>
        <p:spPr>
          <a:xfrm>
            <a:off x="7557826" y="2087990"/>
            <a:ext cx="854721" cy="261610"/>
          </a:xfrm>
          <a:prstGeom prst="rect">
            <a:avLst/>
          </a:prstGeom>
          <a:solidFill>
            <a:srgbClr val="FFC000"/>
          </a:solidFill>
        </p:spPr>
        <p:txBody>
          <a:bodyPr wrap="none" rtlCol="0">
            <a:spAutoFit/>
          </a:bodyPr>
          <a:lstStyle/>
          <a:p>
            <a:r>
              <a:rPr lang="en-US" sz="1100" dirty="0"/>
              <a:t>SysAssert2</a:t>
            </a:r>
          </a:p>
        </p:txBody>
      </p:sp>
      <p:sp>
        <p:nvSpPr>
          <p:cNvPr id="2" name="TextBox 1">
            <a:extLst>
              <a:ext uri="{FF2B5EF4-FFF2-40B4-BE49-F238E27FC236}">
                <a16:creationId xmlns:a16="http://schemas.microsoft.com/office/drawing/2014/main" id="{10DEBC67-00A2-C99C-F291-01373E2B5B15}"/>
              </a:ext>
            </a:extLst>
          </p:cNvPr>
          <p:cNvSpPr txBox="1"/>
          <p:nvPr/>
        </p:nvSpPr>
        <p:spPr>
          <a:xfrm>
            <a:off x="2903" y="2008991"/>
            <a:ext cx="777777" cy="261610"/>
          </a:xfrm>
          <a:prstGeom prst="rect">
            <a:avLst/>
          </a:prstGeom>
          <a:solidFill>
            <a:srgbClr val="FFC000"/>
          </a:solidFill>
        </p:spPr>
        <p:txBody>
          <a:bodyPr wrap="none" rtlCol="0">
            <a:spAutoFit/>
          </a:bodyPr>
          <a:lstStyle/>
          <a:p>
            <a:r>
              <a:rPr lang="en-US" sz="1100" dirty="0" err="1"/>
              <a:t>SysAssert</a:t>
            </a:r>
            <a:endParaRPr lang="en-US" sz="1100" dirty="0"/>
          </a:p>
        </p:txBody>
      </p:sp>
      <p:sp>
        <p:nvSpPr>
          <p:cNvPr id="3" name="Left Brace 2">
            <a:extLst>
              <a:ext uri="{FF2B5EF4-FFF2-40B4-BE49-F238E27FC236}">
                <a16:creationId xmlns:a16="http://schemas.microsoft.com/office/drawing/2014/main" id="{849A246B-1264-663A-8133-E1A6DB2677B1}"/>
              </a:ext>
            </a:extLst>
          </p:cNvPr>
          <p:cNvSpPr/>
          <p:nvPr/>
        </p:nvSpPr>
        <p:spPr bwMode="auto">
          <a:xfrm>
            <a:off x="843062" y="1367988"/>
            <a:ext cx="228600" cy="1832411"/>
          </a:xfrm>
          <a:prstGeom prst="leftBrace">
            <a:avLst>
              <a:gd name="adj1" fmla="val 8333"/>
              <a:gd name="adj2" fmla="val 42515"/>
            </a:avLst>
          </a:prstGeom>
          <a:no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7" name="TextBox 16">
            <a:extLst>
              <a:ext uri="{FF2B5EF4-FFF2-40B4-BE49-F238E27FC236}">
                <a16:creationId xmlns:a16="http://schemas.microsoft.com/office/drawing/2014/main" id="{7FFED07D-DF93-DF5B-D73C-142A87AE9AB2}"/>
              </a:ext>
            </a:extLst>
          </p:cNvPr>
          <p:cNvSpPr txBox="1"/>
          <p:nvPr/>
        </p:nvSpPr>
        <p:spPr>
          <a:xfrm>
            <a:off x="1071662" y="1461726"/>
            <a:ext cx="705642" cy="261610"/>
          </a:xfrm>
          <a:prstGeom prst="rect">
            <a:avLst/>
          </a:prstGeom>
          <a:solidFill>
            <a:srgbClr val="FFC000"/>
          </a:solidFill>
        </p:spPr>
        <p:txBody>
          <a:bodyPr wrap="none" rtlCol="0">
            <a:spAutoFit/>
          </a:bodyPr>
          <a:lstStyle/>
          <a:p>
            <a:r>
              <a:rPr lang="en-US" sz="1100" dirty="0"/>
              <a:t>C1@end</a:t>
            </a:r>
          </a:p>
        </p:txBody>
      </p:sp>
      <p:sp>
        <p:nvSpPr>
          <p:cNvPr id="18" name="TextBox 17">
            <a:extLst>
              <a:ext uri="{FF2B5EF4-FFF2-40B4-BE49-F238E27FC236}">
                <a16:creationId xmlns:a16="http://schemas.microsoft.com/office/drawing/2014/main" id="{C7A07211-67EC-A180-131C-7306A81CD01C}"/>
              </a:ext>
            </a:extLst>
          </p:cNvPr>
          <p:cNvSpPr txBox="1"/>
          <p:nvPr/>
        </p:nvSpPr>
        <p:spPr>
          <a:xfrm>
            <a:off x="1067807" y="1868256"/>
            <a:ext cx="707245" cy="261610"/>
          </a:xfrm>
          <a:prstGeom prst="rect">
            <a:avLst/>
          </a:prstGeom>
          <a:solidFill>
            <a:srgbClr val="FFC000"/>
          </a:solidFill>
        </p:spPr>
        <p:txBody>
          <a:bodyPr wrap="none" rtlCol="0">
            <a:spAutoFit/>
          </a:bodyPr>
          <a:lstStyle/>
          <a:p>
            <a:r>
              <a:rPr lang="en-US" sz="1100" dirty="0" err="1"/>
              <a:t>Cn@end</a:t>
            </a:r>
            <a:endParaRPr lang="en-US" sz="1100" dirty="0"/>
          </a:p>
        </p:txBody>
      </p:sp>
      <p:sp>
        <p:nvSpPr>
          <p:cNvPr id="19" name="TextBox 18">
            <a:extLst>
              <a:ext uri="{FF2B5EF4-FFF2-40B4-BE49-F238E27FC236}">
                <a16:creationId xmlns:a16="http://schemas.microsoft.com/office/drawing/2014/main" id="{A9C8FDEB-562A-118B-5198-9AC99581B98E}"/>
              </a:ext>
            </a:extLst>
          </p:cNvPr>
          <p:cNvSpPr txBox="1"/>
          <p:nvPr/>
        </p:nvSpPr>
        <p:spPr>
          <a:xfrm>
            <a:off x="1182133" y="1461726"/>
            <a:ext cx="436338" cy="461665"/>
          </a:xfrm>
          <a:prstGeom prst="rect">
            <a:avLst/>
          </a:prstGeom>
          <a:noFill/>
        </p:spPr>
        <p:txBody>
          <a:bodyPr wrap="none" rtlCol="0">
            <a:spAutoFit/>
          </a:bodyPr>
          <a:lstStyle/>
          <a:p>
            <a:r>
              <a:rPr lang="en-US" dirty="0"/>
              <a:t>…</a:t>
            </a:r>
          </a:p>
        </p:txBody>
      </p:sp>
      <p:sp>
        <p:nvSpPr>
          <p:cNvPr id="20" name="TextBox 19">
            <a:extLst>
              <a:ext uri="{FF2B5EF4-FFF2-40B4-BE49-F238E27FC236}">
                <a16:creationId xmlns:a16="http://schemas.microsoft.com/office/drawing/2014/main" id="{340C76EA-F2D9-55F0-76DE-31784E832376}"/>
              </a:ext>
            </a:extLst>
          </p:cNvPr>
          <p:cNvSpPr txBox="1"/>
          <p:nvPr/>
        </p:nvSpPr>
        <p:spPr>
          <a:xfrm>
            <a:off x="1067807" y="2889845"/>
            <a:ext cx="486030" cy="261610"/>
          </a:xfrm>
          <a:prstGeom prst="rect">
            <a:avLst/>
          </a:prstGeom>
          <a:solidFill>
            <a:srgbClr val="FFC000"/>
          </a:solidFill>
        </p:spPr>
        <p:txBody>
          <a:bodyPr wrap="none" rtlCol="0">
            <a:spAutoFit/>
          </a:bodyPr>
          <a:lstStyle/>
          <a:p>
            <a:r>
              <a:rPr lang="en-US" sz="1100" dirty="0"/>
              <a:t>Infra</a:t>
            </a:r>
          </a:p>
        </p:txBody>
      </p:sp>
      <p:sp>
        <p:nvSpPr>
          <p:cNvPr id="22" name="TextBox 21">
            <a:extLst>
              <a:ext uri="{FF2B5EF4-FFF2-40B4-BE49-F238E27FC236}">
                <a16:creationId xmlns:a16="http://schemas.microsoft.com/office/drawing/2014/main" id="{8AD62A6C-A146-9A84-47DF-F2D8758275CB}"/>
              </a:ext>
            </a:extLst>
          </p:cNvPr>
          <p:cNvSpPr txBox="1"/>
          <p:nvPr/>
        </p:nvSpPr>
        <p:spPr>
          <a:xfrm>
            <a:off x="1056657" y="2207325"/>
            <a:ext cx="1029449" cy="261610"/>
          </a:xfrm>
          <a:prstGeom prst="rect">
            <a:avLst/>
          </a:prstGeom>
          <a:solidFill>
            <a:srgbClr val="FFC000"/>
          </a:solidFill>
        </p:spPr>
        <p:txBody>
          <a:bodyPr wrap="none" rtlCol="0">
            <a:spAutoFit/>
          </a:bodyPr>
          <a:lstStyle/>
          <a:p>
            <a:r>
              <a:rPr lang="en-US" sz="1100" dirty="0" err="1"/>
              <a:t>Sched@begin</a:t>
            </a:r>
            <a:endParaRPr lang="en-US" sz="1100" dirty="0"/>
          </a:p>
        </p:txBody>
      </p:sp>
      <p:sp>
        <p:nvSpPr>
          <p:cNvPr id="23" name="TextBox 22">
            <a:extLst>
              <a:ext uri="{FF2B5EF4-FFF2-40B4-BE49-F238E27FC236}">
                <a16:creationId xmlns:a16="http://schemas.microsoft.com/office/drawing/2014/main" id="{125BD34E-2F84-6BBC-E0BD-D670E112D510}"/>
              </a:ext>
            </a:extLst>
          </p:cNvPr>
          <p:cNvSpPr txBox="1"/>
          <p:nvPr/>
        </p:nvSpPr>
        <p:spPr>
          <a:xfrm>
            <a:off x="1056656" y="2551131"/>
            <a:ext cx="918841" cy="261610"/>
          </a:xfrm>
          <a:prstGeom prst="rect">
            <a:avLst/>
          </a:prstGeom>
          <a:solidFill>
            <a:srgbClr val="FFC000"/>
          </a:solidFill>
        </p:spPr>
        <p:txBody>
          <a:bodyPr wrap="none" rtlCol="0">
            <a:spAutoFit/>
          </a:bodyPr>
          <a:lstStyle/>
          <a:p>
            <a:r>
              <a:rPr lang="en-US" sz="1100" dirty="0" err="1"/>
              <a:t>Sched@end</a:t>
            </a:r>
            <a:endParaRPr lang="en-US" sz="1100" dirty="0"/>
          </a:p>
        </p:txBody>
      </p:sp>
    </p:spTree>
    <p:extLst>
      <p:ext uri="{BB962C8B-B14F-4D97-AF65-F5344CB8AC3E}">
        <p14:creationId xmlns:p14="http://schemas.microsoft.com/office/powerpoint/2010/main" val="39378412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03DB8-7968-B169-95D7-3EB6668B3A4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29B6D12-EE6C-DB9E-CB3F-D9AFDE2FAC79}"/>
              </a:ext>
            </a:extLst>
          </p:cNvPr>
          <p:cNvSpPr>
            <a:spLocks noGrp="1"/>
          </p:cNvSpPr>
          <p:nvPr>
            <p:ph type="title"/>
          </p:nvPr>
        </p:nvSpPr>
        <p:spPr/>
        <p:txBody>
          <a:bodyPr/>
          <a:lstStyle/>
          <a:p>
            <a:r>
              <a:rPr lang="en-US" sz="2800" dirty="0"/>
              <a:t>Example: (Regulate) Display Temp Function</a:t>
            </a:r>
          </a:p>
        </p:txBody>
      </p:sp>
      <p:sp>
        <p:nvSpPr>
          <p:cNvPr id="4" name="Slide Number Placeholder 3">
            <a:extLst>
              <a:ext uri="{FF2B5EF4-FFF2-40B4-BE49-F238E27FC236}">
                <a16:creationId xmlns:a16="http://schemas.microsoft.com/office/drawing/2014/main" id="{534795AB-C2C0-E8E9-839A-3B7523311AE6}"/>
              </a:ext>
            </a:extLst>
          </p:cNvPr>
          <p:cNvSpPr>
            <a:spLocks noGrp="1"/>
          </p:cNvSpPr>
          <p:nvPr>
            <p:ph type="sldNum" sz="quarter" idx="11"/>
          </p:nvPr>
        </p:nvSpPr>
        <p:spPr/>
        <p:txBody>
          <a:bodyPr/>
          <a:lstStyle/>
          <a:p>
            <a:pPr>
              <a:defRPr/>
            </a:pPr>
            <a:fld id="{C22399C2-1ADD-1549-9753-CEA7C1EED1B8}" type="slidenum">
              <a:rPr lang="en-US" smtClean="0"/>
              <a:pPr>
                <a:defRPr/>
              </a:pPr>
              <a:t>17</a:t>
            </a:fld>
            <a:endParaRPr lang="en-US"/>
          </a:p>
        </p:txBody>
      </p:sp>
      <p:sp>
        <p:nvSpPr>
          <p:cNvPr id="6" name="Rectangle 5">
            <a:extLst>
              <a:ext uri="{FF2B5EF4-FFF2-40B4-BE49-F238E27FC236}">
                <a16:creationId xmlns:a16="http://schemas.microsoft.com/office/drawing/2014/main" id="{2BDA4F38-84A4-97CD-5734-B1200E7E91B0}"/>
              </a:ext>
            </a:extLst>
          </p:cNvPr>
          <p:cNvSpPr/>
          <p:nvPr/>
        </p:nvSpPr>
        <p:spPr bwMode="auto">
          <a:xfrm>
            <a:off x="2209800" y="2209800"/>
            <a:ext cx="4191000" cy="1524000"/>
          </a:xfrm>
          <a:prstGeom prst="rect">
            <a:avLst/>
          </a:prstGeom>
          <a:noFill/>
          <a:ln w="2857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7" name="Oval 6">
            <a:extLst>
              <a:ext uri="{FF2B5EF4-FFF2-40B4-BE49-F238E27FC236}">
                <a16:creationId xmlns:a16="http://schemas.microsoft.com/office/drawing/2014/main" id="{8A226BEA-AE54-524C-D4B3-C8D57827E43A}"/>
              </a:ext>
            </a:extLst>
          </p:cNvPr>
          <p:cNvSpPr/>
          <p:nvPr/>
        </p:nvSpPr>
        <p:spPr bwMode="auto">
          <a:xfrm>
            <a:off x="6324600" y="2499360"/>
            <a:ext cx="152400" cy="1524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0" name="Oval 9">
            <a:extLst>
              <a:ext uri="{FF2B5EF4-FFF2-40B4-BE49-F238E27FC236}">
                <a16:creationId xmlns:a16="http://schemas.microsoft.com/office/drawing/2014/main" id="{97EC4C9A-F5C1-A4BA-0E9F-517992A63981}"/>
              </a:ext>
            </a:extLst>
          </p:cNvPr>
          <p:cNvSpPr/>
          <p:nvPr/>
        </p:nvSpPr>
        <p:spPr bwMode="auto">
          <a:xfrm>
            <a:off x="2130552" y="3200400"/>
            <a:ext cx="152400" cy="1524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1" name="Oval 10">
            <a:extLst>
              <a:ext uri="{FF2B5EF4-FFF2-40B4-BE49-F238E27FC236}">
                <a16:creationId xmlns:a16="http://schemas.microsoft.com/office/drawing/2014/main" id="{09CD8198-EAF7-C370-06F2-ABD5F6DF566D}"/>
              </a:ext>
            </a:extLst>
          </p:cNvPr>
          <p:cNvSpPr/>
          <p:nvPr/>
        </p:nvSpPr>
        <p:spPr bwMode="auto">
          <a:xfrm>
            <a:off x="3429000" y="2490216"/>
            <a:ext cx="152400" cy="1524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2" name="Text Box 43">
            <a:extLst>
              <a:ext uri="{FF2B5EF4-FFF2-40B4-BE49-F238E27FC236}">
                <a16:creationId xmlns:a16="http://schemas.microsoft.com/office/drawing/2014/main" id="{2DE00D01-4486-8042-7761-DB58D27FA11E}"/>
              </a:ext>
            </a:extLst>
          </p:cNvPr>
          <p:cNvSpPr txBox="1">
            <a:spLocks noChangeArrowheads="1"/>
          </p:cNvSpPr>
          <p:nvPr/>
        </p:nvSpPr>
        <p:spPr bwMode="auto">
          <a:xfrm>
            <a:off x="609600" y="1214735"/>
            <a:ext cx="8077200" cy="461665"/>
          </a:xfrm>
          <a:prstGeom prst="rect">
            <a:avLst/>
          </a:prstGeom>
          <a:solidFill>
            <a:schemeClr val="accent2"/>
          </a:solidFill>
          <a:ln w="12700">
            <a:solidFill>
              <a:schemeClr val="tx1"/>
            </a:solidFill>
            <a:miter lim="800000"/>
            <a:headEnd/>
            <a:tailEnd/>
          </a:ln>
          <a:effectLst>
            <a:outerShdw blurRad="63500" dist="35921" dir="2700000" algn="ctr" rotWithShape="0">
              <a:schemeClr val="bg2"/>
            </a:outerShdw>
          </a:effectLst>
        </p:spPr>
        <p:txBody>
          <a:bodyPr wrap="square" anchor="ctr">
            <a:spAutoFit/>
          </a:bodyPr>
          <a:lstStyle/>
          <a:p>
            <a:pPr algn="l">
              <a:defRPr/>
            </a:pPr>
            <a:r>
              <a:rPr lang="en-US" sz="1200" dirty="0">
                <a:latin typeface="Tahoma" pitchFamily="-84" charset="0"/>
              </a:rPr>
              <a:t>Display Temp is a particularly simple subsystem function that is actually </a:t>
            </a:r>
            <a:r>
              <a:rPr lang="en-US" sz="1200" dirty="0" err="1">
                <a:latin typeface="Tahoma" pitchFamily="-84" charset="0"/>
              </a:rPr>
              <a:t>componented</a:t>
            </a:r>
            <a:r>
              <a:rPr lang="en-US" sz="1200" dirty="0">
                <a:latin typeface="Tahoma" pitchFamily="-84" charset="0"/>
              </a:rPr>
              <a:t> by a single refining component, and that component occurs first in the subsystem schedule</a:t>
            </a:r>
          </a:p>
        </p:txBody>
      </p:sp>
      <p:sp>
        <p:nvSpPr>
          <p:cNvPr id="13" name="TextBox 12">
            <a:extLst>
              <a:ext uri="{FF2B5EF4-FFF2-40B4-BE49-F238E27FC236}">
                <a16:creationId xmlns:a16="http://schemas.microsoft.com/office/drawing/2014/main" id="{AA9A1809-7FF9-4C8A-0575-798FC6A98B1B}"/>
              </a:ext>
            </a:extLst>
          </p:cNvPr>
          <p:cNvSpPr txBox="1"/>
          <p:nvPr/>
        </p:nvSpPr>
        <p:spPr>
          <a:xfrm>
            <a:off x="2109216" y="1765568"/>
            <a:ext cx="1370119" cy="461665"/>
          </a:xfrm>
          <a:prstGeom prst="rect">
            <a:avLst/>
          </a:prstGeom>
          <a:noFill/>
        </p:spPr>
        <p:txBody>
          <a:bodyPr wrap="none" rtlCol="0">
            <a:spAutoFit/>
          </a:bodyPr>
          <a:lstStyle/>
          <a:p>
            <a:r>
              <a:rPr lang="en-US" dirty="0"/>
              <a:t>Regulate</a:t>
            </a:r>
          </a:p>
        </p:txBody>
      </p:sp>
      <p:sp>
        <p:nvSpPr>
          <p:cNvPr id="14" name="TextBox 13">
            <a:extLst>
              <a:ext uri="{FF2B5EF4-FFF2-40B4-BE49-F238E27FC236}">
                <a16:creationId xmlns:a16="http://schemas.microsoft.com/office/drawing/2014/main" id="{E2206910-858C-1FC8-A71A-4CB981139501}"/>
              </a:ext>
            </a:extLst>
          </p:cNvPr>
          <p:cNvSpPr txBox="1"/>
          <p:nvPr/>
        </p:nvSpPr>
        <p:spPr>
          <a:xfrm>
            <a:off x="3572256" y="2427916"/>
            <a:ext cx="1262718" cy="276999"/>
          </a:xfrm>
          <a:prstGeom prst="rect">
            <a:avLst/>
          </a:prstGeom>
          <a:noFill/>
        </p:spPr>
        <p:txBody>
          <a:bodyPr wrap="none" rtlCol="0">
            <a:spAutoFit/>
          </a:bodyPr>
          <a:lstStyle/>
          <a:p>
            <a:r>
              <a:rPr lang="en-US" sz="1200" dirty="0" err="1"/>
              <a:t>regulator_mode</a:t>
            </a:r>
            <a:endParaRPr lang="en-US" sz="1200" dirty="0"/>
          </a:p>
        </p:txBody>
      </p:sp>
      <p:sp>
        <p:nvSpPr>
          <p:cNvPr id="15" name="TextBox 14">
            <a:extLst>
              <a:ext uri="{FF2B5EF4-FFF2-40B4-BE49-F238E27FC236}">
                <a16:creationId xmlns:a16="http://schemas.microsoft.com/office/drawing/2014/main" id="{261D788C-1968-043B-FD21-D65D48545E9A}"/>
              </a:ext>
            </a:extLst>
          </p:cNvPr>
          <p:cNvSpPr txBox="1"/>
          <p:nvPr/>
        </p:nvSpPr>
        <p:spPr>
          <a:xfrm>
            <a:off x="519531" y="3138100"/>
            <a:ext cx="1650645" cy="276999"/>
          </a:xfrm>
          <a:prstGeom prst="rect">
            <a:avLst/>
          </a:prstGeom>
          <a:noFill/>
        </p:spPr>
        <p:txBody>
          <a:bodyPr wrap="none" rtlCol="0">
            <a:spAutoFit/>
          </a:bodyPr>
          <a:lstStyle/>
          <a:p>
            <a:r>
              <a:rPr lang="en-US" sz="1200" dirty="0" err="1"/>
              <a:t>current_tempWstatus</a:t>
            </a:r>
            <a:endParaRPr lang="en-US" sz="1200" dirty="0"/>
          </a:p>
        </p:txBody>
      </p:sp>
      <p:sp>
        <p:nvSpPr>
          <p:cNvPr id="16" name="TextBox 15">
            <a:extLst>
              <a:ext uri="{FF2B5EF4-FFF2-40B4-BE49-F238E27FC236}">
                <a16:creationId xmlns:a16="http://schemas.microsoft.com/office/drawing/2014/main" id="{492BE1BD-BA87-62B7-7F46-1B322EEE91A9}"/>
              </a:ext>
            </a:extLst>
          </p:cNvPr>
          <p:cNvSpPr txBox="1"/>
          <p:nvPr/>
        </p:nvSpPr>
        <p:spPr>
          <a:xfrm>
            <a:off x="6496659" y="2427916"/>
            <a:ext cx="1081322" cy="276999"/>
          </a:xfrm>
          <a:prstGeom prst="rect">
            <a:avLst/>
          </a:prstGeom>
          <a:noFill/>
        </p:spPr>
        <p:txBody>
          <a:bodyPr wrap="none" rtlCol="0">
            <a:spAutoFit/>
          </a:bodyPr>
          <a:lstStyle/>
          <a:p>
            <a:r>
              <a:rPr lang="en-US" sz="1200" dirty="0" err="1"/>
              <a:t>display_temp</a:t>
            </a:r>
            <a:endParaRPr lang="en-US" sz="1200" dirty="0"/>
          </a:p>
        </p:txBody>
      </p:sp>
      <p:cxnSp>
        <p:nvCxnSpPr>
          <p:cNvPr id="17" name="Straight Arrow Connector 16">
            <a:extLst>
              <a:ext uri="{FF2B5EF4-FFF2-40B4-BE49-F238E27FC236}">
                <a16:creationId xmlns:a16="http://schemas.microsoft.com/office/drawing/2014/main" id="{33418D4A-8599-1178-2189-59A83BF5F122}"/>
              </a:ext>
            </a:extLst>
          </p:cNvPr>
          <p:cNvCxnSpPr>
            <a:cxnSpLocks/>
          </p:cNvCxnSpPr>
          <p:nvPr/>
        </p:nvCxnSpPr>
        <p:spPr bwMode="auto">
          <a:xfrm flipV="1">
            <a:off x="2356104" y="2671465"/>
            <a:ext cx="3903216" cy="562277"/>
          </a:xfrm>
          <a:prstGeom prst="straightConnector1">
            <a:avLst/>
          </a:prstGeom>
          <a:solidFill>
            <a:schemeClr val="accent1"/>
          </a:solidFill>
          <a:ln w="38100" cap="flat" cmpd="sng" algn="ctr">
            <a:solidFill>
              <a:srgbClr val="00B050"/>
            </a:solidFill>
            <a:prstDash val="solid"/>
            <a:miter lim="800000"/>
            <a:headEnd type="none" w="med" len="med"/>
            <a:tailEnd type="triangle"/>
          </a:ln>
          <a:effectLst/>
        </p:spPr>
      </p:cxnSp>
      <p:cxnSp>
        <p:nvCxnSpPr>
          <p:cNvPr id="20" name="Straight Arrow Connector 19">
            <a:extLst>
              <a:ext uri="{FF2B5EF4-FFF2-40B4-BE49-F238E27FC236}">
                <a16:creationId xmlns:a16="http://schemas.microsoft.com/office/drawing/2014/main" id="{877798E9-555E-8D7A-6875-07B91AE1A201}"/>
              </a:ext>
            </a:extLst>
          </p:cNvPr>
          <p:cNvCxnSpPr>
            <a:cxnSpLocks/>
          </p:cNvCxnSpPr>
          <p:nvPr/>
        </p:nvCxnSpPr>
        <p:spPr bwMode="auto">
          <a:xfrm>
            <a:off x="4806737" y="2582326"/>
            <a:ext cx="1452583" cy="0"/>
          </a:xfrm>
          <a:prstGeom prst="straightConnector1">
            <a:avLst/>
          </a:prstGeom>
          <a:solidFill>
            <a:schemeClr val="accent1"/>
          </a:solidFill>
          <a:ln w="38100" cap="flat" cmpd="sng" algn="ctr">
            <a:solidFill>
              <a:srgbClr val="00B050"/>
            </a:solidFill>
            <a:prstDash val="solid"/>
            <a:miter lim="800000"/>
            <a:headEnd type="none" w="med" len="med"/>
            <a:tailEnd type="triangle"/>
          </a:ln>
          <a:effectLst/>
        </p:spPr>
      </p:cxnSp>
      <p:sp>
        <p:nvSpPr>
          <p:cNvPr id="2" name="Rectangle 1">
            <a:extLst>
              <a:ext uri="{FF2B5EF4-FFF2-40B4-BE49-F238E27FC236}">
                <a16:creationId xmlns:a16="http://schemas.microsoft.com/office/drawing/2014/main" id="{EC141C66-04F7-6444-9B90-F38B8BAD4790}"/>
              </a:ext>
            </a:extLst>
          </p:cNvPr>
          <p:cNvSpPr/>
          <p:nvPr/>
        </p:nvSpPr>
        <p:spPr bwMode="auto">
          <a:xfrm>
            <a:off x="2209800" y="4566759"/>
            <a:ext cx="4191000" cy="1524000"/>
          </a:xfrm>
          <a:prstGeom prst="rect">
            <a:avLst/>
          </a:prstGeom>
          <a:noFill/>
          <a:ln w="2857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3" name="Text Box 43">
            <a:extLst>
              <a:ext uri="{FF2B5EF4-FFF2-40B4-BE49-F238E27FC236}">
                <a16:creationId xmlns:a16="http://schemas.microsoft.com/office/drawing/2014/main" id="{21160764-842A-34E1-43B2-4075F11ECF20}"/>
              </a:ext>
            </a:extLst>
          </p:cNvPr>
          <p:cNvSpPr txBox="1">
            <a:spLocks noChangeArrowheads="1"/>
          </p:cNvSpPr>
          <p:nvPr/>
        </p:nvSpPr>
        <p:spPr bwMode="auto">
          <a:xfrm>
            <a:off x="609600" y="3963293"/>
            <a:ext cx="1143000" cy="276999"/>
          </a:xfrm>
          <a:prstGeom prst="rect">
            <a:avLst/>
          </a:prstGeom>
          <a:solidFill>
            <a:schemeClr val="accent2"/>
          </a:solidFill>
          <a:ln w="12700">
            <a:solidFill>
              <a:schemeClr val="tx1"/>
            </a:solidFill>
            <a:miter lim="800000"/>
            <a:headEnd/>
            <a:tailEnd/>
          </a:ln>
          <a:effectLst>
            <a:outerShdw blurRad="63500" dist="35921" dir="2700000" algn="ctr" rotWithShape="0">
              <a:schemeClr val="bg2"/>
            </a:outerShdw>
          </a:effectLst>
        </p:spPr>
        <p:txBody>
          <a:bodyPr wrap="square" anchor="ctr">
            <a:spAutoFit/>
          </a:bodyPr>
          <a:lstStyle/>
          <a:p>
            <a:pPr algn="l">
              <a:defRPr/>
            </a:pPr>
            <a:r>
              <a:rPr lang="en-US" sz="1200" dirty="0">
                <a:latin typeface="Tahoma" pitchFamily="-84" charset="0"/>
              </a:rPr>
              <a:t>Refinement…</a:t>
            </a:r>
          </a:p>
        </p:txBody>
      </p:sp>
      <p:sp>
        <p:nvSpPr>
          <p:cNvPr id="8" name="Oval 7">
            <a:extLst>
              <a:ext uri="{FF2B5EF4-FFF2-40B4-BE49-F238E27FC236}">
                <a16:creationId xmlns:a16="http://schemas.microsoft.com/office/drawing/2014/main" id="{DA1E36F9-7043-A926-9E16-BC38C7DF4F4D}"/>
              </a:ext>
            </a:extLst>
          </p:cNvPr>
          <p:cNvSpPr/>
          <p:nvPr/>
        </p:nvSpPr>
        <p:spPr bwMode="auto">
          <a:xfrm>
            <a:off x="2130552" y="5521549"/>
            <a:ext cx="152400" cy="1524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9" name="TextBox 8">
            <a:extLst>
              <a:ext uri="{FF2B5EF4-FFF2-40B4-BE49-F238E27FC236}">
                <a16:creationId xmlns:a16="http://schemas.microsoft.com/office/drawing/2014/main" id="{D4694C9F-8657-5595-2F2C-F2883FB256BD}"/>
              </a:ext>
            </a:extLst>
          </p:cNvPr>
          <p:cNvSpPr txBox="1"/>
          <p:nvPr/>
        </p:nvSpPr>
        <p:spPr>
          <a:xfrm>
            <a:off x="519531" y="5459249"/>
            <a:ext cx="1650645" cy="276999"/>
          </a:xfrm>
          <a:prstGeom prst="rect">
            <a:avLst/>
          </a:prstGeom>
          <a:noFill/>
        </p:spPr>
        <p:txBody>
          <a:bodyPr wrap="none" rtlCol="0">
            <a:spAutoFit/>
          </a:bodyPr>
          <a:lstStyle/>
          <a:p>
            <a:r>
              <a:rPr lang="en-US" sz="1200" dirty="0" err="1"/>
              <a:t>current_tempWstatus</a:t>
            </a:r>
            <a:endParaRPr lang="en-US" sz="1200" dirty="0"/>
          </a:p>
        </p:txBody>
      </p:sp>
      <p:sp>
        <p:nvSpPr>
          <p:cNvPr id="18" name="TextBox 17">
            <a:extLst>
              <a:ext uri="{FF2B5EF4-FFF2-40B4-BE49-F238E27FC236}">
                <a16:creationId xmlns:a16="http://schemas.microsoft.com/office/drawing/2014/main" id="{91CA82CD-A33A-344C-9E82-36443503FA1A}"/>
              </a:ext>
            </a:extLst>
          </p:cNvPr>
          <p:cNvSpPr txBox="1"/>
          <p:nvPr/>
        </p:nvSpPr>
        <p:spPr>
          <a:xfrm>
            <a:off x="6440424" y="4677913"/>
            <a:ext cx="1081322" cy="276999"/>
          </a:xfrm>
          <a:prstGeom prst="rect">
            <a:avLst/>
          </a:prstGeom>
          <a:noFill/>
        </p:spPr>
        <p:txBody>
          <a:bodyPr wrap="none" rtlCol="0">
            <a:spAutoFit/>
          </a:bodyPr>
          <a:lstStyle/>
          <a:p>
            <a:r>
              <a:rPr lang="en-US" sz="1200" dirty="0" err="1"/>
              <a:t>display_temp</a:t>
            </a:r>
            <a:endParaRPr lang="en-US" sz="1200" dirty="0"/>
          </a:p>
        </p:txBody>
      </p:sp>
      <p:sp>
        <p:nvSpPr>
          <p:cNvPr id="19" name="Rectangle 18">
            <a:extLst>
              <a:ext uri="{FF2B5EF4-FFF2-40B4-BE49-F238E27FC236}">
                <a16:creationId xmlns:a16="http://schemas.microsoft.com/office/drawing/2014/main" id="{3462DCE5-2021-2F2F-F80C-01BFEC7637AA}"/>
              </a:ext>
            </a:extLst>
          </p:cNvPr>
          <p:cNvSpPr/>
          <p:nvPr/>
        </p:nvSpPr>
        <p:spPr bwMode="auto">
          <a:xfrm>
            <a:off x="2641135" y="4890962"/>
            <a:ext cx="838200" cy="525673"/>
          </a:xfrm>
          <a:prstGeom prst="rect">
            <a:avLst/>
          </a:prstGeom>
          <a:noFill/>
          <a:ln w="2857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21" name="Rectangle 20">
            <a:extLst>
              <a:ext uri="{FF2B5EF4-FFF2-40B4-BE49-F238E27FC236}">
                <a16:creationId xmlns:a16="http://schemas.microsoft.com/office/drawing/2014/main" id="{1E8A3709-29FA-9366-E626-1A9E6EDB4567}"/>
              </a:ext>
            </a:extLst>
          </p:cNvPr>
          <p:cNvSpPr/>
          <p:nvPr/>
        </p:nvSpPr>
        <p:spPr bwMode="auto">
          <a:xfrm>
            <a:off x="3996774" y="5357811"/>
            <a:ext cx="838200" cy="525673"/>
          </a:xfrm>
          <a:prstGeom prst="rect">
            <a:avLst/>
          </a:prstGeom>
          <a:noFill/>
          <a:ln w="2857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22" name="Rectangle 21">
            <a:extLst>
              <a:ext uri="{FF2B5EF4-FFF2-40B4-BE49-F238E27FC236}">
                <a16:creationId xmlns:a16="http://schemas.microsoft.com/office/drawing/2014/main" id="{9F6B0F6E-9178-2A20-C14D-470E2E9DDD6D}"/>
              </a:ext>
            </a:extLst>
          </p:cNvPr>
          <p:cNvSpPr/>
          <p:nvPr/>
        </p:nvSpPr>
        <p:spPr bwMode="auto">
          <a:xfrm>
            <a:off x="5193157" y="5210575"/>
            <a:ext cx="838200" cy="525673"/>
          </a:xfrm>
          <a:prstGeom prst="rect">
            <a:avLst/>
          </a:prstGeom>
          <a:noFill/>
          <a:ln w="2857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26" name="TextBox 25">
            <a:extLst>
              <a:ext uri="{FF2B5EF4-FFF2-40B4-BE49-F238E27FC236}">
                <a16:creationId xmlns:a16="http://schemas.microsoft.com/office/drawing/2014/main" id="{38265058-225A-DD2B-4535-B486D29BFEA1}"/>
              </a:ext>
            </a:extLst>
          </p:cNvPr>
          <p:cNvSpPr txBox="1"/>
          <p:nvPr/>
        </p:nvSpPr>
        <p:spPr>
          <a:xfrm>
            <a:off x="2601511" y="4613963"/>
            <a:ext cx="457176" cy="276999"/>
          </a:xfrm>
          <a:prstGeom prst="rect">
            <a:avLst/>
          </a:prstGeom>
          <a:noFill/>
        </p:spPr>
        <p:txBody>
          <a:bodyPr wrap="none" rtlCol="0">
            <a:spAutoFit/>
          </a:bodyPr>
          <a:lstStyle/>
          <a:p>
            <a:r>
              <a:rPr lang="en-US" sz="1200" dirty="0"/>
              <a:t>MRI</a:t>
            </a:r>
          </a:p>
        </p:txBody>
      </p:sp>
      <p:sp>
        <p:nvSpPr>
          <p:cNvPr id="27" name="TextBox 26">
            <a:extLst>
              <a:ext uri="{FF2B5EF4-FFF2-40B4-BE49-F238E27FC236}">
                <a16:creationId xmlns:a16="http://schemas.microsoft.com/office/drawing/2014/main" id="{5FD33709-71FD-5C50-96E9-B737C7330E65}"/>
              </a:ext>
            </a:extLst>
          </p:cNvPr>
          <p:cNvSpPr txBox="1"/>
          <p:nvPr/>
        </p:nvSpPr>
        <p:spPr>
          <a:xfrm>
            <a:off x="5134124" y="4954912"/>
            <a:ext cx="492443" cy="276999"/>
          </a:xfrm>
          <a:prstGeom prst="rect">
            <a:avLst/>
          </a:prstGeom>
          <a:noFill/>
        </p:spPr>
        <p:txBody>
          <a:bodyPr wrap="none" rtlCol="0">
            <a:spAutoFit/>
          </a:bodyPr>
          <a:lstStyle/>
          <a:p>
            <a:r>
              <a:rPr lang="en-US" sz="1200" dirty="0"/>
              <a:t>MHS</a:t>
            </a:r>
          </a:p>
        </p:txBody>
      </p:sp>
      <p:sp>
        <p:nvSpPr>
          <p:cNvPr id="28" name="TextBox 27">
            <a:extLst>
              <a:ext uri="{FF2B5EF4-FFF2-40B4-BE49-F238E27FC236}">
                <a16:creationId xmlns:a16="http://schemas.microsoft.com/office/drawing/2014/main" id="{CD75E895-4E7C-D001-EDFA-985465B47DCC}"/>
              </a:ext>
            </a:extLst>
          </p:cNvPr>
          <p:cNvSpPr txBox="1"/>
          <p:nvPr/>
        </p:nvSpPr>
        <p:spPr>
          <a:xfrm>
            <a:off x="3917275" y="5080239"/>
            <a:ext cx="518091" cy="276999"/>
          </a:xfrm>
          <a:prstGeom prst="rect">
            <a:avLst/>
          </a:prstGeom>
          <a:noFill/>
        </p:spPr>
        <p:txBody>
          <a:bodyPr wrap="none" rtlCol="0">
            <a:spAutoFit/>
          </a:bodyPr>
          <a:lstStyle/>
          <a:p>
            <a:r>
              <a:rPr lang="en-US" sz="1200" dirty="0"/>
              <a:t>MRM</a:t>
            </a:r>
          </a:p>
        </p:txBody>
      </p:sp>
      <p:sp>
        <p:nvSpPr>
          <p:cNvPr id="29" name="Oval 28">
            <a:extLst>
              <a:ext uri="{FF2B5EF4-FFF2-40B4-BE49-F238E27FC236}">
                <a16:creationId xmlns:a16="http://schemas.microsoft.com/office/drawing/2014/main" id="{84641E0E-52AB-AFD6-6FA1-EBEF6014B514}"/>
              </a:ext>
            </a:extLst>
          </p:cNvPr>
          <p:cNvSpPr/>
          <p:nvPr/>
        </p:nvSpPr>
        <p:spPr bwMode="auto">
          <a:xfrm>
            <a:off x="6331581" y="4785563"/>
            <a:ext cx="152400" cy="1524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30" name="TextBox 29">
            <a:extLst>
              <a:ext uri="{FF2B5EF4-FFF2-40B4-BE49-F238E27FC236}">
                <a16:creationId xmlns:a16="http://schemas.microsoft.com/office/drawing/2014/main" id="{9BC51819-F3CF-6145-B48A-47B3A7ABB9C7}"/>
              </a:ext>
            </a:extLst>
          </p:cNvPr>
          <p:cNvSpPr txBox="1"/>
          <p:nvPr/>
        </p:nvSpPr>
        <p:spPr>
          <a:xfrm>
            <a:off x="6666584" y="5883484"/>
            <a:ext cx="1034257" cy="646331"/>
          </a:xfrm>
          <a:prstGeom prst="rect">
            <a:avLst/>
          </a:prstGeom>
          <a:noFill/>
        </p:spPr>
        <p:txBody>
          <a:bodyPr wrap="none" rtlCol="0">
            <a:spAutoFit/>
          </a:bodyPr>
          <a:lstStyle/>
          <a:p>
            <a:r>
              <a:rPr lang="en-US" sz="1200" dirty="0"/>
              <a:t>DRF &lt; MRM</a:t>
            </a:r>
          </a:p>
          <a:p>
            <a:r>
              <a:rPr lang="en-US" sz="1200" dirty="0"/>
              <a:t>MRI &lt; MRM</a:t>
            </a:r>
          </a:p>
          <a:p>
            <a:r>
              <a:rPr lang="en-US" sz="1200" dirty="0"/>
              <a:t>MRM &lt; MHS</a:t>
            </a:r>
          </a:p>
        </p:txBody>
      </p:sp>
      <p:sp>
        <p:nvSpPr>
          <p:cNvPr id="31" name="Rectangle 30">
            <a:extLst>
              <a:ext uri="{FF2B5EF4-FFF2-40B4-BE49-F238E27FC236}">
                <a16:creationId xmlns:a16="http://schemas.microsoft.com/office/drawing/2014/main" id="{2D682FDF-2866-15B3-13BE-C1D7129CD8C6}"/>
              </a:ext>
            </a:extLst>
          </p:cNvPr>
          <p:cNvSpPr/>
          <p:nvPr/>
        </p:nvSpPr>
        <p:spPr bwMode="auto">
          <a:xfrm>
            <a:off x="3031719" y="5768971"/>
            <a:ext cx="457201" cy="214699"/>
          </a:xfrm>
          <a:prstGeom prst="rect">
            <a:avLst/>
          </a:prstGeom>
          <a:noFill/>
          <a:ln w="2857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32" name="TextBox 31">
            <a:extLst>
              <a:ext uri="{FF2B5EF4-FFF2-40B4-BE49-F238E27FC236}">
                <a16:creationId xmlns:a16="http://schemas.microsoft.com/office/drawing/2014/main" id="{2979A6C1-B4D8-C322-67CD-0F8009E90EE2}"/>
              </a:ext>
            </a:extLst>
          </p:cNvPr>
          <p:cNvSpPr txBox="1"/>
          <p:nvPr/>
        </p:nvSpPr>
        <p:spPr>
          <a:xfrm>
            <a:off x="2920091" y="5521549"/>
            <a:ext cx="465192" cy="276999"/>
          </a:xfrm>
          <a:prstGeom prst="rect">
            <a:avLst/>
          </a:prstGeom>
          <a:noFill/>
        </p:spPr>
        <p:txBody>
          <a:bodyPr wrap="none" rtlCol="0">
            <a:spAutoFit/>
          </a:bodyPr>
          <a:lstStyle/>
          <a:p>
            <a:r>
              <a:rPr lang="en-US" sz="1200" dirty="0"/>
              <a:t>DRF</a:t>
            </a:r>
          </a:p>
        </p:txBody>
      </p:sp>
      <p:sp>
        <p:nvSpPr>
          <p:cNvPr id="33" name="Oval 32">
            <a:extLst>
              <a:ext uri="{FF2B5EF4-FFF2-40B4-BE49-F238E27FC236}">
                <a16:creationId xmlns:a16="http://schemas.microsoft.com/office/drawing/2014/main" id="{450464E4-AC6F-7669-2577-C843D02436B8}"/>
              </a:ext>
            </a:extLst>
          </p:cNvPr>
          <p:cNvSpPr/>
          <p:nvPr/>
        </p:nvSpPr>
        <p:spPr bwMode="auto">
          <a:xfrm>
            <a:off x="2545123" y="5029034"/>
            <a:ext cx="152400" cy="152400"/>
          </a:xfrm>
          <a:prstGeom prst="ellipse">
            <a:avLst/>
          </a:prstGeom>
          <a:solidFill>
            <a:schemeClr val="accent5">
              <a:lumMod val="60000"/>
              <a:lumOff val="40000"/>
            </a:schemeClr>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34" name="Oval 33">
            <a:extLst>
              <a:ext uri="{FF2B5EF4-FFF2-40B4-BE49-F238E27FC236}">
                <a16:creationId xmlns:a16="http://schemas.microsoft.com/office/drawing/2014/main" id="{76F1A23B-89AE-0903-5A43-386136A7CB58}"/>
              </a:ext>
            </a:extLst>
          </p:cNvPr>
          <p:cNvSpPr/>
          <p:nvPr/>
        </p:nvSpPr>
        <p:spPr bwMode="auto">
          <a:xfrm>
            <a:off x="4495800" y="5550601"/>
            <a:ext cx="152400" cy="152400"/>
          </a:xfrm>
          <a:prstGeom prst="ellipse">
            <a:avLst/>
          </a:prstGeom>
          <a:solidFill>
            <a:schemeClr val="accent5">
              <a:lumMod val="60000"/>
              <a:lumOff val="40000"/>
            </a:schemeClr>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35" name="Oval 34">
            <a:extLst>
              <a:ext uri="{FF2B5EF4-FFF2-40B4-BE49-F238E27FC236}">
                <a16:creationId xmlns:a16="http://schemas.microsoft.com/office/drawing/2014/main" id="{D625310C-13B1-5F02-0377-08B9D01E1D07}"/>
              </a:ext>
            </a:extLst>
          </p:cNvPr>
          <p:cNvSpPr/>
          <p:nvPr/>
        </p:nvSpPr>
        <p:spPr bwMode="auto">
          <a:xfrm>
            <a:off x="4609485" y="5264235"/>
            <a:ext cx="152400" cy="152400"/>
          </a:xfrm>
          <a:prstGeom prst="ellipse">
            <a:avLst/>
          </a:prstGeom>
          <a:solidFill>
            <a:schemeClr val="accent5">
              <a:lumMod val="60000"/>
              <a:lumOff val="40000"/>
            </a:schemeClr>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36" name="TextBox 35">
            <a:extLst>
              <a:ext uri="{FF2B5EF4-FFF2-40B4-BE49-F238E27FC236}">
                <a16:creationId xmlns:a16="http://schemas.microsoft.com/office/drawing/2014/main" id="{937F77E8-EC68-999F-BCE3-F7B39B1DF29A}"/>
              </a:ext>
            </a:extLst>
          </p:cNvPr>
          <p:cNvSpPr txBox="1"/>
          <p:nvPr/>
        </p:nvSpPr>
        <p:spPr>
          <a:xfrm>
            <a:off x="4079006" y="5585499"/>
            <a:ext cx="564578" cy="276999"/>
          </a:xfrm>
          <a:prstGeom prst="rect">
            <a:avLst/>
          </a:prstGeom>
          <a:noFill/>
        </p:spPr>
        <p:txBody>
          <a:bodyPr wrap="none" rtlCol="0">
            <a:spAutoFit/>
          </a:bodyPr>
          <a:lstStyle/>
          <a:p>
            <a:r>
              <a:rPr lang="en-US" sz="1200" dirty="0"/>
              <a:t>mode</a:t>
            </a:r>
          </a:p>
        </p:txBody>
      </p:sp>
      <p:sp>
        <p:nvSpPr>
          <p:cNvPr id="37" name="TextBox 36">
            <a:extLst>
              <a:ext uri="{FF2B5EF4-FFF2-40B4-BE49-F238E27FC236}">
                <a16:creationId xmlns:a16="http://schemas.microsoft.com/office/drawing/2014/main" id="{7E65379B-D2FA-E6DE-ECA7-2C7E96FFF4DC}"/>
              </a:ext>
            </a:extLst>
          </p:cNvPr>
          <p:cNvSpPr txBox="1"/>
          <p:nvPr/>
        </p:nvSpPr>
        <p:spPr>
          <a:xfrm>
            <a:off x="4481691" y="5014770"/>
            <a:ext cx="564578" cy="276999"/>
          </a:xfrm>
          <a:prstGeom prst="rect">
            <a:avLst/>
          </a:prstGeom>
          <a:noFill/>
        </p:spPr>
        <p:txBody>
          <a:bodyPr wrap="none" rtlCol="0">
            <a:spAutoFit/>
          </a:bodyPr>
          <a:lstStyle/>
          <a:p>
            <a:r>
              <a:rPr lang="en-US" sz="1200" dirty="0"/>
              <a:t>mode</a:t>
            </a:r>
          </a:p>
        </p:txBody>
      </p:sp>
      <p:sp>
        <p:nvSpPr>
          <p:cNvPr id="38" name="TextBox 37">
            <a:extLst>
              <a:ext uri="{FF2B5EF4-FFF2-40B4-BE49-F238E27FC236}">
                <a16:creationId xmlns:a16="http://schemas.microsoft.com/office/drawing/2014/main" id="{550736BA-571D-DCD0-4CD8-6BBF4EA97D1A}"/>
              </a:ext>
            </a:extLst>
          </p:cNvPr>
          <p:cNvSpPr txBox="1"/>
          <p:nvPr/>
        </p:nvSpPr>
        <p:spPr>
          <a:xfrm>
            <a:off x="2148659" y="5112839"/>
            <a:ext cx="564578" cy="276999"/>
          </a:xfrm>
          <a:prstGeom prst="rect">
            <a:avLst/>
          </a:prstGeom>
          <a:noFill/>
        </p:spPr>
        <p:txBody>
          <a:bodyPr wrap="none" rtlCol="0">
            <a:spAutoFit/>
          </a:bodyPr>
          <a:lstStyle/>
          <a:p>
            <a:r>
              <a:rPr lang="en-US" sz="1200" dirty="0"/>
              <a:t>mode</a:t>
            </a:r>
          </a:p>
        </p:txBody>
      </p:sp>
      <p:sp>
        <p:nvSpPr>
          <p:cNvPr id="39" name="Oval 38">
            <a:extLst>
              <a:ext uri="{FF2B5EF4-FFF2-40B4-BE49-F238E27FC236}">
                <a16:creationId xmlns:a16="http://schemas.microsoft.com/office/drawing/2014/main" id="{582B624D-7077-EFD5-5614-747E86FA2251}"/>
              </a:ext>
            </a:extLst>
          </p:cNvPr>
          <p:cNvSpPr/>
          <p:nvPr/>
        </p:nvSpPr>
        <p:spPr bwMode="auto">
          <a:xfrm>
            <a:off x="2683795" y="5355340"/>
            <a:ext cx="152400" cy="152400"/>
          </a:xfrm>
          <a:prstGeom prst="ellipse">
            <a:avLst/>
          </a:prstGeom>
          <a:solidFill>
            <a:schemeClr val="accent5">
              <a:lumMod val="60000"/>
              <a:lumOff val="40000"/>
            </a:schemeClr>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40" name="Oval 39">
            <a:extLst>
              <a:ext uri="{FF2B5EF4-FFF2-40B4-BE49-F238E27FC236}">
                <a16:creationId xmlns:a16="http://schemas.microsoft.com/office/drawing/2014/main" id="{145B2AF0-FCC7-B479-72BB-1DFEE5FA5CF0}"/>
              </a:ext>
            </a:extLst>
          </p:cNvPr>
          <p:cNvSpPr/>
          <p:nvPr/>
        </p:nvSpPr>
        <p:spPr bwMode="auto">
          <a:xfrm>
            <a:off x="3400379" y="4960439"/>
            <a:ext cx="152400" cy="152400"/>
          </a:xfrm>
          <a:prstGeom prst="ellipse">
            <a:avLst/>
          </a:prstGeom>
          <a:solidFill>
            <a:schemeClr val="accent5">
              <a:lumMod val="60000"/>
              <a:lumOff val="40000"/>
            </a:schemeClr>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41" name="TextBox 40">
            <a:extLst>
              <a:ext uri="{FF2B5EF4-FFF2-40B4-BE49-F238E27FC236}">
                <a16:creationId xmlns:a16="http://schemas.microsoft.com/office/drawing/2014/main" id="{67A58602-E38E-B122-341B-E0769790C6AD}"/>
              </a:ext>
            </a:extLst>
          </p:cNvPr>
          <p:cNvSpPr txBox="1"/>
          <p:nvPr/>
        </p:nvSpPr>
        <p:spPr>
          <a:xfrm>
            <a:off x="3490678" y="4708299"/>
            <a:ext cx="1081322" cy="276999"/>
          </a:xfrm>
          <a:prstGeom prst="rect">
            <a:avLst/>
          </a:prstGeom>
          <a:noFill/>
        </p:spPr>
        <p:txBody>
          <a:bodyPr wrap="none" rtlCol="0">
            <a:spAutoFit/>
          </a:bodyPr>
          <a:lstStyle/>
          <a:p>
            <a:r>
              <a:rPr lang="en-US" sz="1200" dirty="0" err="1"/>
              <a:t>display_temp</a:t>
            </a:r>
            <a:endParaRPr lang="en-US" sz="1200" dirty="0"/>
          </a:p>
        </p:txBody>
      </p:sp>
      <p:sp>
        <p:nvSpPr>
          <p:cNvPr id="42" name="TextBox 41">
            <a:extLst>
              <a:ext uri="{FF2B5EF4-FFF2-40B4-BE49-F238E27FC236}">
                <a16:creationId xmlns:a16="http://schemas.microsoft.com/office/drawing/2014/main" id="{87EE2C2D-31CF-D854-A562-CFC9B688F761}"/>
              </a:ext>
            </a:extLst>
          </p:cNvPr>
          <p:cNvSpPr txBox="1"/>
          <p:nvPr/>
        </p:nvSpPr>
        <p:spPr>
          <a:xfrm>
            <a:off x="71970" y="5753527"/>
            <a:ext cx="2033070" cy="1061829"/>
          </a:xfrm>
          <a:prstGeom prst="rect">
            <a:avLst/>
          </a:prstGeom>
          <a:noFill/>
        </p:spPr>
        <p:txBody>
          <a:bodyPr wrap="square" rtlCol="0">
            <a:spAutoFit/>
          </a:bodyPr>
          <a:lstStyle/>
          <a:p>
            <a:r>
              <a:rPr lang="en-US" sz="900" i="1" dirty="0"/>
              <a:t>Recall that boundary ports are essentially aliases for internal ports.  Their observable state is the observable state of the internal port.  Things work out more easily if there is only one internal port per one boundary port.</a:t>
            </a:r>
          </a:p>
        </p:txBody>
      </p:sp>
      <p:cxnSp>
        <p:nvCxnSpPr>
          <p:cNvPr id="43" name="Straight Arrow Connector 42">
            <a:extLst>
              <a:ext uri="{FF2B5EF4-FFF2-40B4-BE49-F238E27FC236}">
                <a16:creationId xmlns:a16="http://schemas.microsoft.com/office/drawing/2014/main" id="{AADB20B3-ABA2-B668-E07E-12891CE688AE}"/>
              </a:ext>
            </a:extLst>
          </p:cNvPr>
          <p:cNvCxnSpPr>
            <a:cxnSpLocks/>
            <a:endCxn id="39" idx="3"/>
          </p:cNvCxnSpPr>
          <p:nvPr/>
        </p:nvCxnSpPr>
        <p:spPr bwMode="auto">
          <a:xfrm flipV="1">
            <a:off x="2282952" y="5485422"/>
            <a:ext cx="423161" cy="85693"/>
          </a:xfrm>
          <a:prstGeom prst="straightConnector1">
            <a:avLst/>
          </a:prstGeom>
          <a:solidFill>
            <a:schemeClr val="accent1"/>
          </a:solidFill>
          <a:ln w="19050" cap="flat" cmpd="sng" algn="ctr">
            <a:solidFill>
              <a:srgbClr val="00B050"/>
            </a:solidFill>
            <a:prstDash val="dash"/>
            <a:miter lim="800000"/>
            <a:headEnd type="none" w="med" len="med"/>
            <a:tailEnd type="triangle"/>
          </a:ln>
          <a:effectLst/>
        </p:spPr>
      </p:cxnSp>
      <p:cxnSp>
        <p:nvCxnSpPr>
          <p:cNvPr id="46" name="Straight Arrow Connector 45">
            <a:extLst>
              <a:ext uri="{FF2B5EF4-FFF2-40B4-BE49-F238E27FC236}">
                <a16:creationId xmlns:a16="http://schemas.microsoft.com/office/drawing/2014/main" id="{3E144473-0A80-0E8B-2836-B73FF8E8EA4B}"/>
              </a:ext>
            </a:extLst>
          </p:cNvPr>
          <p:cNvCxnSpPr>
            <a:cxnSpLocks/>
            <a:endCxn id="29" idx="2"/>
          </p:cNvCxnSpPr>
          <p:nvPr/>
        </p:nvCxnSpPr>
        <p:spPr bwMode="auto">
          <a:xfrm flipV="1">
            <a:off x="3577881" y="4861763"/>
            <a:ext cx="2753700" cy="174876"/>
          </a:xfrm>
          <a:prstGeom prst="straightConnector1">
            <a:avLst/>
          </a:prstGeom>
          <a:solidFill>
            <a:schemeClr val="accent1"/>
          </a:solidFill>
          <a:ln w="19050" cap="flat" cmpd="sng" algn="ctr">
            <a:solidFill>
              <a:srgbClr val="00B050"/>
            </a:solidFill>
            <a:prstDash val="dash"/>
            <a:miter lim="800000"/>
            <a:headEnd type="none" w="med" len="med"/>
            <a:tailEnd type="triangle"/>
          </a:ln>
          <a:effectLst/>
        </p:spPr>
      </p:cxnSp>
      <p:sp>
        <p:nvSpPr>
          <p:cNvPr id="48" name="TextBox 47">
            <a:extLst>
              <a:ext uri="{FF2B5EF4-FFF2-40B4-BE49-F238E27FC236}">
                <a16:creationId xmlns:a16="http://schemas.microsoft.com/office/drawing/2014/main" id="{3A8B9990-351E-6676-94CE-F219AFA5BFAD}"/>
              </a:ext>
            </a:extLst>
          </p:cNvPr>
          <p:cNvSpPr txBox="1"/>
          <p:nvPr/>
        </p:nvSpPr>
        <p:spPr>
          <a:xfrm>
            <a:off x="767842" y="4388266"/>
            <a:ext cx="1469094" cy="646331"/>
          </a:xfrm>
          <a:prstGeom prst="rect">
            <a:avLst/>
          </a:prstGeom>
          <a:noFill/>
        </p:spPr>
        <p:txBody>
          <a:bodyPr wrap="square" rtlCol="0">
            <a:spAutoFit/>
          </a:bodyPr>
          <a:lstStyle/>
          <a:p>
            <a:r>
              <a:rPr lang="en-US" sz="900" i="1" dirty="0"/>
              <a:t>This is essentially defining the refinement for the abstract boundary ports</a:t>
            </a:r>
          </a:p>
        </p:txBody>
      </p:sp>
      <p:cxnSp>
        <p:nvCxnSpPr>
          <p:cNvPr id="50" name="Straight Connector 49">
            <a:extLst>
              <a:ext uri="{FF2B5EF4-FFF2-40B4-BE49-F238E27FC236}">
                <a16:creationId xmlns:a16="http://schemas.microsoft.com/office/drawing/2014/main" id="{EFAD7B1E-9B22-AC06-3CC0-80EEEC57C424}"/>
              </a:ext>
            </a:extLst>
          </p:cNvPr>
          <p:cNvCxnSpPr>
            <a:cxnSpLocks/>
          </p:cNvCxnSpPr>
          <p:nvPr/>
        </p:nvCxnSpPr>
        <p:spPr bwMode="auto">
          <a:xfrm>
            <a:off x="1706335" y="4845766"/>
            <a:ext cx="687785" cy="704835"/>
          </a:xfrm>
          <a:prstGeom prst="line">
            <a:avLst/>
          </a:prstGeom>
          <a:solidFill>
            <a:schemeClr val="accent1"/>
          </a:solidFill>
          <a:ln w="9525" cap="flat" cmpd="sng" algn="ctr">
            <a:solidFill>
              <a:schemeClr val="tx1"/>
            </a:solidFill>
            <a:prstDash val="dash"/>
            <a:miter lim="800000"/>
            <a:headEnd type="none" w="med" len="med"/>
            <a:tailEnd type="none" w="med" len="med"/>
          </a:ln>
          <a:effectLst/>
        </p:spPr>
      </p:cxnSp>
      <p:cxnSp>
        <p:nvCxnSpPr>
          <p:cNvPr id="52" name="Straight Connector 51">
            <a:extLst>
              <a:ext uri="{FF2B5EF4-FFF2-40B4-BE49-F238E27FC236}">
                <a16:creationId xmlns:a16="http://schemas.microsoft.com/office/drawing/2014/main" id="{AF1416CC-C77E-BE30-CD2A-B18F63C3E7C9}"/>
              </a:ext>
            </a:extLst>
          </p:cNvPr>
          <p:cNvCxnSpPr>
            <a:cxnSpLocks/>
          </p:cNvCxnSpPr>
          <p:nvPr/>
        </p:nvCxnSpPr>
        <p:spPr bwMode="auto">
          <a:xfrm>
            <a:off x="1877848" y="4484709"/>
            <a:ext cx="3671886" cy="419546"/>
          </a:xfrm>
          <a:prstGeom prst="line">
            <a:avLst/>
          </a:prstGeom>
          <a:solidFill>
            <a:schemeClr val="accent1"/>
          </a:solidFill>
          <a:ln w="9525" cap="flat" cmpd="sng" algn="ctr">
            <a:solidFill>
              <a:schemeClr val="tx1"/>
            </a:solidFill>
            <a:prstDash val="dash"/>
            <a:miter lim="800000"/>
            <a:headEnd type="none" w="med" len="med"/>
            <a:tailEnd type="none" w="med" len="med"/>
          </a:ln>
          <a:effectLst/>
        </p:spPr>
      </p:cxnSp>
      <p:sp>
        <p:nvSpPr>
          <p:cNvPr id="54" name="TextBox 53">
            <a:extLst>
              <a:ext uri="{FF2B5EF4-FFF2-40B4-BE49-F238E27FC236}">
                <a16:creationId xmlns:a16="http://schemas.microsoft.com/office/drawing/2014/main" id="{462A429E-BEAF-8C4F-5D31-FEEF2F015EF9}"/>
              </a:ext>
            </a:extLst>
          </p:cNvPr>
          <p:cNvSpPr txBox="1"/>
          <p:nvPr/>
        </p:nvSpPr>
        <p:spPr>
          <a:xfrm>
            <a:off x="6666584" y="2849179"/>
            <a:ext cx="2033070" cy="1600438"/>
          </a:xfrm>
          <a:prstGeom prst="rect">
            <a:avLst/>
          </a:prstGeom>
          <a:noFill/>
        </p:spPr>
        <p:txBody>
          <a:bodyPr wrap="square" rtlCol="0">
            <a:spAutoFit/>
          </a:bodyPr>
          <a:lstStyle/>
          <a:p>
            <a:r>
              <a:rPr lang="en-US" sz="700" i="1" dirty="0"/>
              <a:t>The choice for refinement of the mode is not as simple as there are multiple state elements in the refinement where mode is stored.  Moreover, a change in mode is computed during the execution of the subsystem.  We choose the input to MRI as that is what is used directly to compute </a:t>
            </a:r>
            <a:r>
              <a:rPr lang="en-US" sz="700" i="1" dirty="0" err="1"/>
              <a:t>display_temp</a:t>
            </a:r>
            <a:r>
              <a:rPr lang="en-US" sz="700" i="1" dirty="0"/>
              <a:t>.  Note that this value was computed on the </a:t>
            </a:r>
            <a:r>
              <a:rPr lang="en-US" sz="700" b="1" i="1" dirty="0"/>
              <a:t>previous cycle.  </a:t>
            </a:r>
            <a:r>
              <a:rPr lang="en-US" sz="700" i="1" dirty="0"/>
              <a:t>It should be equal to the pre-state value of the MRM local state variable.  Reasoning about this would be part of the reasoning associated with composing cycles or composing abstract functions for computing the mode and for computing the display temp.</a:t>
            </a:r>
          </a:p>
        </p:txBody>
      </p:sp>
      <p:cxnSp>
        <p:nvCxnSpPr>
          <p:cNvPr id="55" name="Straight Arrow Connector 54">
            <a:extLst>
              <a:ext uri="{FF2B5EF4-FFF2-40B4-BE49-F238E27FC236}">
                <a16:creationId xmlns:a16="http://schemas.microsoft.com/office/drawing/2014/main" id="{91A20134-42FC-C650-38F2-FFFD817B2FD6}"/>
              </a:ext>
            </a:extLst>
          </p:cNvPr>
          <p:cNvCxnSpPr>
            <a:cxnSpLocks/>
            <a:endCxn id="33" idx="7"/>
          </p:cNvCxnSpPr>
          <p:nvPr/>
        </p:nvCxnSpPr>
        <p:spPr bwMode="auto">
          <a:xfrm flipH="1">
            <a:off x="2675205" y="2657222"/>
            <a:ext cx="819495" cy="2394130"/>
          </a:xfrm>
          <a:prstGeom prst="straightConnector1">
            <a:avLst/>
          </a:prstGeom>
          <a:solidFill>
            <a:schemeClr val="accent1"/>
          </a:solidFill>
          <a:ln w="19050" cap="flat" cmpd="sng" algn="ctr">
            <a:solidFill>
              <a:srgbClr val="00B050"/>
            </a:solidFill>
            <a:prstDash val="dash"/>
            <a:miter lim="800000"/>
            <a:headEnd type="none" w="med" len="med"/>
            <a:tailEnd type="triangle"/>
          </a:ln>
          <a:effectLst/>
        </p:spPr>
      </p:cxnSp>
      <p:cxnSp>
        <p:nvCxnSpPr>
          <p:cNvPr id="57" name="Straight Arrow Connector 56">
            <a:extLst>
              <a:ext uri="{FF2B5EF4-FFF2-40B4-BE49-F238E27FC236}">
                <a16:creationId xmlns:a16="http://schemas.microsoft.com/office/drawing/2014/main" id="{C54C37CA-95B1-7860-77B6-3A4596A8EE3A}"/>
              </a:ext>
            </a:extLst>
          </p:cNvPr>
          <p:cNvCxnSpPr>
            <a:cxnSpLocks/>
          </p:cNvCxnSpPr>
          <p:nvPr/>
        </p:nvCxnSpPr>
        <p:spPr bwMode="auto">
          <a:xfrm>
            <a:off x="3594574" y="2634904"/>
            <a:ext cx="943428" cy="2872836"/>
          </a:xfrm>
          <a:prstGeom prst="straightConnector1">
            <a:avLst/>
          </a:prstGeom>
          <a:solidFill>
            <a:schemeClr val="accent1"/>
          </a:solidFill>
          <a:ln w="19050" cap="flat" cmpd="sng" algn="ctr">
            <a:solidFill>
              <a:srgbClr val="00B050"/>
            </a:solidFill>
            <a:prstDash val="dash"/>
            <a:miter lim="800000"/>
            <a:headEnd type="none" w="med" len="med"/>
            <a:tailEnd type="triangle"/>
          </a:ln>
          <a:effectLst/>
        </p:spPr>
      </p:cxnSp>
      <p:cxnSp>
        <p:nvCxnSpPr>
          <p:cNvPr id="59" name="Straight Arrow Connector 58">
            <a:extLst>
              <a:ext uri="{FF2B5EF4-FFF2-40B4-BE49-F238E27FC236}">
                <a16:creationId xmlns:a16="http://schemas.microsoft.com/office/drawing/2014/main" id="{97F851AF-CBBA-351E-4EBE-95CFCE3970B3}"/>
              </a:ext>
            </a:extLst>
          </p:cNvPr>
          <p:cNvCxnSpPr>
            <a:cxnSpLocks/>
          </p:cNvCxnSpPr>
          <p:nvPr/>
        </p:nvCxnSpPr>
        <p:spPr bwMode="auto">
          <a:xfrm>
            <a:off x="3590731" y="2627070"/>
            <a:ext cx="1065603" cy="2514483"/>
          </a:xfrm>
          <a:prstGeom prst="straightConnector1">
            <a:avLst/>
          </a:prstGeom>
          <a:solidFill>
            <a:schemeClr val="accent1"/>
          </a:solidFill>
          <a:ln w="19050" cap="flat" cmpd="sng" algn="ctr">
            <a:solidFill>
              <a:srgbClr val="00B050"/>
            </a:solidFill>
            <a:prstDash val="dash"/>
            <a:miter lim="800000"/>
            <a:headEnd type="none" w="med" len="med"/>
            <a:tailEnd type="triangle"/>
          </a:ln>
          <a:effectLst/>
        </p:spPr>
      </p:cxnSp>
      <p:sp>
        <p:nvSpPr>
          <p:cNvPr id="61" name="TextBox 60">
            <a:extLst>
              <a:ext uri="{FF2B5EF4-FFF2-40B4-BE49-F238E27FC236}">
                <a16:creationId xmlns:a16="http://schemas.microsoft.com/office/drawing/2014/main" id="{1F2F9052-D3DD-8FB1-B83B-74A7B9AE0169}"/>
              </a:ext>
            </a:extLst>
          </p:cNvPr>
          <p:cNvSpPr txBox="1"/>
          <p:nvPr/>
        </p:nvSpPr>
        <p:spPr>
          <a:xfrm>
            <a:off x="3694351" y="3741634"/>
            <a:ext cx="330540" cy="461665"/>
          </a:xfrm>
          <a:prstGeom prst="rect">
            <a:avLst/>
          </a:prstGeom>
          <a:noFill/>
        </p:spPr>
        <p:txBody>
          <a:bodyPr wrap="none" rtlCol="0">
            <a:spAutoFit/>
          </a:bodyPr>
          <a:lstStyle/>
          <a:p>
            <a:r>
              <a:rPr lang="en-US" dirty="0"/>
              <a:t>?</a:t>
            </a:r>
          </a:p>
        </p:txBody>
      </p:sp>
      <p:grpSp>
        <p:nvGrpSpPr>
          <p:cNvPr id="74" name="Group 73">
            <a:extLst>
              <a:ext uri="{FF2B5EF4-FFF2-40B4-BE49-F238E27FC236}">
                <a16:creationId xmlns:a16="http://schemas.microsoft.com/office/drawing/2014/main" id="{927D4602-1E60-C8A7-1547-31BB1B2BCEE6}"/>
              </a:ext>
            </a:extLst>
          </p:cNvPr>
          <p:cNvGrpSpPr/>
          <p:nvPr/>
        </p:nvGrpSpPr>
        <p:grpSpPr>
          <a:xfrm>
            <a:off x="2411398" y="4658868"/>
            <a:ext cx="2313002" cy="551707"/>
            <a:chOff x="2411398" y="4658868"/>
            <a:chExt cx="2313002" cy="551707"/>
          </a:xfrm>
        </p:grpSpPr>
        <p:cxnSp>
          <p:nvCxnSpPr>
            <p:cNvPr id="67" name="Straight Connector 66">
              <a:extLst>
                <a:ext uri="{FF2B5EF4-FFF2-40B4-BE49-F238E27FC236}">
                  <a16:creationId xmlns:a16="http://schemas.microsoft.com/office/drawing/2014/main" id="{F6714230-EE19-B892-B7BF-F7318D97318E}"/>
                </a:ext>
              </a:extLst>
            </p:cNvPr>
            <p:cNvCxnSpPr>
              <a:cxnSpLocks/>
              <a:endCxn id="38" idx="0"/>
            </p:cNvCxnSpPr>
            <p:nvPr/>
          </p:nvCxnSpPr>
          <p:spPr bwMode="auto">
            <a:xfrm>
              <a:off x="2422871" y="4665237"/>
              <a:ext cx="8077" cy="447602"/>
            </a:xfrm>
            <a:prstGeom prst="line">
              <a:avLst/>
            </a:prstGeom>
            <a:solidFill>
              <a:schemeClr val="accent1"/>
            </a:solidFill>
            <a:ln w="19050" cap="flat" cmpd="sng" algn="ctr">
              <a:solidFill>
                <a:srgbClr val="00B050"/>
              </a:solidFill>
              <a:prstDash val="solid"/>
              <a:miter lim="800000"/>
              <a:headEnd type="none" w="med" len="med"/>
              <a:tailEnd type="none" w="med" len="med"/>
            </a:ln>
            <a:effectLst/>
          </p:spPr>
        </p:cxnSp>
        <p:grpSp>
          <p:nvGrpSpPr>
            <p:cNvPr id="73" name="Group 72">
              <a:extLst>
                <a:ext uri="{FF2B5EF4-FFF2-40B4-BE49-F238E27FC236}">
                  <a16:creationId xmlns:a16="http://schemas.microsoft.com/office/drawing/2014/main" id="{44CD59B5-A71F-A18A-27A1-7747B8A0FC7E}"/>
                </a:ext>
              </a:extLst>
            </p:cNvPr>
            <p:cNvGrpSpPr/>
            <p:nvPr/>
          </p:nvGrpSpPr>
          <p:grpSpPr>
            <a:xfrm>
              <a:off x="2411398" y="4658868"/>
              <a:ext cx="2313002" cy="551707"/>
              <a:chOff x="2411398" y="4658868"/>
              <a:chExt cx="2313002" cy="551707"/>
            </a:xfrm>
          </p:grpSpPr>
          <p:cxnSp>
            <p:nvCxnSpPr>
              <p:cNvPr id="63" name="Straight Connector 62">
                <a:extLst>
                  <a:ext uri="{FF2B5EF4-FFF2-40B4-BE49-F238E27FC236}">
                    <a16:creationId xmlns:a16="http://schemas.microsoft.com/office/drawing/2014/main" id="{FADE241F-BEEE-6AF1-0249-ED999138AB23}"/>
                  </a:ext>
                </a:extLst>
              </p:cNvPr>
              <p:cNvCxnSpPr/>
              <p:nvPr/>
            </p:nvCxnSpPr>
            <p:spPr bwMode="auto">
              <a:xfrm flipV="1">
                <a:off x="4724400" y="4677913"/>
                <a:ext cx="0" cy="532662"/>
              </a:xfrm>
              <a:prstGeom prst="line">
                <a:avLst/>
              </a:prstGeom>
              <a:solidFill>
                <a:schemeClr val="accent1"/>
              </a:solidFill>
              <a:ln w="19050" cap="flat" cmpd="sng" algn="ctr">
                <a:solidFill>
                  <a:srgbClr val="00B050"/>
                </a:solidFill>
                <a:prstDash val="solid"/>
                <a:miter lim="800000"/>
                <a:headEnd type="none" w="med" len="med"/>
                <a:tailEnd type="none" w="med" len="med"/>
              </a:ln>
              <a:effectLst/>
            </p:spPr>
          </p:cxnSp>
          <p:cxnSp>
            <p:nvCxnSpPr>
              <p:cNvPr id="64" name="Straight Connector 63">
                <a:extLst>
                  <a:ext uri="{FF2B5EF4-FFF2-40B4-BE49-F238E27FC236}">
                    <a16:creationId xmlns:a16="http://schemas.microsoft.com/office/drawing/2014/main" id="{6C6D81F4-0731-2B9B-E128-9F558D6400DB}"/>
                  </a:ext>
                </a:extLst>
              </p:cNvPr>
              <p:cNvCxnSpPr>
                <a:cxnSpLocks/>
              </p:cNvCxnSpPr>
              <p:nvPr/>
            </p:nvCxnSpPr>
            <p:spPr bwMode="auto">
              <a:xfrm flipH="1" flipV="1">
                <a:off x="2411398" y="4658868"/>
                <a:ext cx="2313002" cy="11817"/>
              </a:xfrm>
              <a:prstGeom prst="line">
                <a:avLst/>
              </a:prstGeom>
              <a:solidFill>
                <a:schemeClr val="accent1"/>
              </a:solidFill>
              <a:ln w="19050" cap="flat" cmpd="sng" algn="ctr">
                <a:solidFill>
                  <a:srgbClr val="00B050"/>
                </a:solidFill>
                <a:prstDash val="solid"/>
                <a:miter lim="800000"/>
                <a:headEnd type="none" w="med" len="med"/>
                <a:tailEnd type="none" w="med" len="med"/>
              </a:ln>
              <a:effectLst/>
            </p:spPr>
          </p:cxnSp>
          <p:cxnSp>
            <p:nvCxnSpPr>
              <p:cNvPr id="69" name="Straight Connector 68">
                <a:extLst>
                  <a:ext uri="{FF2B5EF4-FFF2-40B4-BE49-F238E27FC236}">
                    <a16:creationId xmlns:a16="http://schemas.microsoft.com/office/drawing/2014/main" id="{97082C33-66D4-86A7-70BA-1B47AAC01718}"/>
                  </a:ext>
                </a:extLst>
              </p:cNvPr>
              <p:cNvCxnSpPr>
                <a:cxnSpLocks/>
              </p:cNvCxnSpPr>
              <p:nvPr/>
            </p:nvCxnSpPr>
            <p:spPr bwMode="auto">
              <a:xfrm>
                <a:off x="2430948" y="5122701"/>
                <a:ext cx="190375" cy="0"/>
              </a:xfrm>
              <a:prstGeom prst="line">
                <a:avLst/>
              </a:prstGeom>
              <a:solidFill>
                <a:schemeClr val="accent1"/>
              </a:solidFill>
              <a:ln w="19050" cap="flat" cmpd="sng" algn="ctr">
                <a:solidFill>
                  <a:srgbClr val="00B050"/>
                </a:solidFill>
                <a:prstDash val="solid"/>
                <a:miter lim="800000"/>
                <a:headEnd type="none" w="med" len="med"/>
                <a:tailEnd type="triangle" w="med" len="med"/>
              </a:ln>
              <a:effectLst/>
            </p:spPr>
          </p:cxnSp>
        </p:grpSp>
      </p:grpSp>
    </p:spTree>
    <p:extLst>
      <p:ext uri="{BB962C8B-B14F-4D97-AF65-F5344CB8AC3E}">
        <p14:creationId xmlns:p14="http://schemas.microsoft.com/office/powerpoint/2010/main" val="34147499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86ED6-89FF-F5E3-91C1-3C5D0F77A1C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F302A4A-F74F-7CFB-784F-E75B69FF3808}"/>
              </a:ext>
            </a:extLst>
          </p:cNvPr>
          <p:cNvSpPr>
            <a:spLocks noGrp="1"/>
          </p:cNvSpPr>
          <p:nvPr>
            <p:ph type="title"/>
          </p:nvPr>
        </p:nvSpPr>
        <p:spPr/>
        <p:txBody>
          <a:bodyPr/>
          <a:lstStyle/>
          <a:p>
            <a:r>
              <a:rPr lang="en-US" sz="2800" dirty="0"/>
              <a:t>Example: (Regulate) Display Temp Function</a:t>
            </a:r>
          </a:p>
        </p:txBody>
      </p:sp>
      <p:sp>
        <p:nvSpPr>
          <p:cNvPr id="4" name="Slide Number Placeholder 3">
            <a:extLst>
              <a:ext uri="{FF2B5EF4-FFF2-40B4-BE49-F238E27FC236}">
                <a16:creationId xmlns:a16="http://schemas.microsoft.com/office/drawing/2014/main" id="{8D0BE70E-A5C4-9DAC-A95C-2EDBDA53D542}"/>
              </a:ext>
            </a:extLst>
          </p:cNvPr>
          <p:cNvSpPr>
            <a:spLocks noGrp="1"/>
          </p:cNvSpPr>
          <p:nvPr>
            <p:ph type="sldNum" sz="quarter" idx="11"/>
          </p:nvPr>
        </p:nvSpPr>
        <p:spPr/>
        <p:txBody>
          <a:bodyPr/>
          <a:lstStyle/>
          <a:p>
            <a:pPr>
              <a:defRPr/>
            </a:pPr>
            <a:fld id="{C22399C2-1ADD-1549-9753-CEA7C1EED1B8}" type="slidenum">
              <a:rPr lang="en-US" smtClean="0"/>
              <a:pPr>
                <a:defRPr/>
              </a:pPr>
              <a:t>18</a:t>
            </a:fld>
            <a:endParaRPr lang="en-US"/>
          </a:p>
        </p:txBody>
      </p:sp>
      <p:sp>
        <p:nvSpPr>
          <p:cNvPr id="6" name="Rectangle 5">
            <a:extLst>
              <a:ext uri="{FF2B5EF4-FFF2-40B4-BE49-F238E27FC236}">
                <a16:creationId xmlns:a16="http://schemas.microsoft.com/office/drawing/2014/main" id="{0B30863E-C229-A6BD-243F-ABE5DEC30FC0}"/>
              </a:ext>
            </a:extLst>
          </p:cNvPr>
          <p:cNvSpPr/>
          <p:nvPr/>
        </p:nvSpPr>
        <p:spPr bwMode="auto">
          <a:xfrm>
            <a:off x="2209800" y="2209800"/>
            <a:ext cx="4191000" cy="1524000"/>
          </a:xfrm>
          <a:prstGeom prst="rect">
            <a:avLst/>
          </a:prstGeom>
          <a:noFill/>
          <a:ln w="2857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7" name="Oval 6">
            <a:extLst>
              <a:ext uri="{FF2B5EF4-FFF2-40B4-BE49-F238E27FC236}">
                <a16:creationId xmlns:a16="http://schemas.microsoft.com/office/drawing/2014/main" id="{20E21C7B-0C36-7ADD-3EDB-01CFE60E0975}"/>
              </a:ext>
            </a:extLst>
          </p:cNvPr>
          <p:cNvSpPr/>
          <p:nvPr/>
        </p:nvSpPr>
        <p:spPr bwMode="auto">
          <a:xfrm>
            <a:off x="6324600" y="2499360"/>
            <a:ext cx="152400" cy="1524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0" name="Oval 9">
            <a:extLst>
              <a:ext uri="{FF2B5EF4-FFF2-40B4-BE49-F238E27FC236}">
                <a16:creationId xmlns:a16="http://schemas.microsoft.com/office/drawing/2014/main" id="{D8767927-0C20-1387-3682-F2CCA9344B78}"/>
              </a:ext>
            </a:extLst>
          </p:cNvPr>
          <p:cNvSpPr/>
          <p:nvPr/>
        </p:nvSpPr>
        <p:spPr bwMode="auto">
          <a:xfrm>
            <a:off x="2130552" y="3200400"/>
            <a:ext cx="152400" cy="1524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1" name="Oval 10">
            <a:extLst>
              <a:ext uri="{FF2B5EF4-FFF2-40B4-BE49-F238E27FC236}">
                <a16:creationId xmlns:a16="http://schemas.microsoft.com/office/drawing/2014/main" id="{F256DE5E-20DA-3357-C936-969147C7CEE9}"/>
              </a:ext>
            </a:extLst>
          </p:cNvPr>
          <p:cNvSpPr/>
          <p:nvPr/>
        </p:nvSpPr>
        <p:spPr bwMode="auto">
          <a:xfrm>
            <a:off x="3429000" y="2490216"/>
            <a:ext cx="152400" cy="1524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2" name="Text Box 43">
            <a:extLst>
              <a:ext uri="{FF2B5EF4-FFF2-40B4-BE49-F238E27FC236}">
                <a16:creationId xmlns:a16="http://schemas.microsoft.com/office/drawing/2014/main" id="{B86CC32A-A365-91C9-9A91-C9319F010378}"/>
              </a:ext>
            </a:extLst>
          </p:cNvPr>
          <p:cNvSpPr txBox="1">
            <a:spLocks noChangeArrowheads="1"/>
          </p:cNvSpPr>
          <p:nvPr/>
        </p:nvSpPr>
        <p:spPr bwMode="auto">
          <a:xfrm>
            <a:off x="609600" y="1214735"/>
            <a:ext cx="8077200" cy="461665"/>
          </a:xfrm>
          <a:prstGeom prst="rect">
            <a:avLst/>
          </a:prstGeom>
          <a:solidFill>
            <a:schemeClr val="accent2"/>
          </a:solidFill>
          <a:ln w="12700">
            <a:solidFill>
              <a:schemeClr val="tx1"/>
            </a:solidFill>
            <a:miter lim="800000"/>
            <a:headEnd/>
            <a:tailEnd/>
          </a:ln>
          <a:effectLst>
            <a:outerShdw blurRad="63500" dist="35921" dir="2700000" algn="ctr" rotWithShape="0">
              <a:schemeClr val="bg2"/>
            </a:outerShdw>
          </a:effectLst>
        </p:spPr>
        <p:txBody>
          <a:bodyPr wrap="square" anchor="ctr">
            <a:spAutoFit/>
          </a:bodyPr>
          <a:lstStyle/>
          <a:p>
            <a:pPr algn="l">
              <a:defRPr/>
            </a:pPr>
            <a:r>
              <a:rPr lang="en-US" sz="1200" dirty="0">
                <a:latin typeface="Tahoma" pitchFamily="-84" charset="0"/>
              </a:rPr>
              <a:t>Display Temp is a particularly simple subsystem function that is actually </a:t>
            </a:r>
            <a:r>
              <a:rPr lang="en-US" sz="1200" dirty="0" err="1">
                <a:latin typeface="Tahoma" pitchFamily="-84" charset="0"/>
              </a:rPr>
              <a:t>componented</a:t>
            </a:r>
            <a:r>
              <a:rPr lang="en-US" sz="1200" dirty="0">
                <a:latin typeface="Tahoma" pitchFamily="-84" charset="0"/>
              </a:rPr>
              <a:t> by a single refining component, and that component occurs first in the subsystem schedule</a:t>
            </a:r>
          </a:p>
        </p:txBody>
      </p:sp>
      <p:sp>
        <p:nvSpPr>
          <p:cNvPr id="13" name="TextBox 12">
            <a:extLst>
              <a:ext uri="{FF2B5EF4-FFF2-40B4-BE49-F238E27FC236}">
                <a16:creationId xmlns:a16="http://schemas.microsoft.com/office/drawing/2014/main" id="{998B235C-3006-DA07-F9EE-126333F76A38}"/>
              </a:ext>
            </a:extLst>
          </p:cNvPr>
          <p:cNvSpPr txBox="1"/>
          <p:nvPr/>
        </p:nvSpPr>
        <p:spPr>
          <a:xfrm>
            <a:off x="2109216" y="1765568"/>
            <a:ext cx="1370119" cy="461665"/>
          </a:xfrm>
          <a:prstGeom prst="rect">
            <a:avLst/>
          </a:prstGeom>
          <a:noFill/>
        </p:spPr>
        <p:txBody>
          <a:bodyPr wrap="none" rtlCol="0">
            <a:spAutoFit/>
          </a:bodyPr>
          <a:lstStyle/>
          <a:p>
            <a:r>
              <a:rPr lang="en-US" dirty="0"/>
              <a:t>Regulate</a:t>
            </a:r>
          </a:p>
        </p:txBody>
      </p:sp>
      <p:sp>
        <p:nvSpPr>
          <p:cNvPr id="14" name="TextBox 13">
            <a:extLst>
              <a:ext uri="{FF2B5EF4-FFF2-40B4-BE49-F238E27FC236}">
                <a16:creationId xmlns:a16="http://schemas.microsoft.com/office/drawing/2014/main" id="{02BE8701-8E85-C5E5-2B43-33D32BFE1830}"/>
              </a:ext>
            </a:extLst>
          </p:cNvPr>
          <p:cNvSpPr txBox="1"/>
          <p:nvPr/>
        </p:nvSpPr>
        <p:spPr>
          <a:xfrm>
            <a:off x="3572256" y="2427916"/>
            <a:ext cx="1262718" cy="276999"/>
          </a:xfrm>
          <a:prstGeom prst="rect">
            <a:avLst/>
          </a:prstGeom>
          <a:noFill/>
        </p:spPr>
        <p:txBody>
          <a:bodyPr wrap="none" rtlCol="0">
            <a:spAutoFit/>
          </a:bodyPr>
          <a:lstStyle/>
          <a:p>
            <a:r>
              <a:rPr lang="en-US" sz="1200" dirty="0" err="1"/>
              <a:t>regulator_mode</a:t>
            </a:r>
            <a:endParaRPr lang="en-US" sz="1200" dirty="0"/>
          </a:p>
        </p:txBody>
      </p:sp>
      <p:sp>
        <p:nvSpPr>
          <p:cNvPr id="15" name="TextBox 14">
            <a:extLst>
              <a:ext uri="{FF2B5EF4-FFF2-40B4-BE49-F238E27FC236}">
                <a16:creationId xmlns:a16="http://schemas.microsoft.com/office/drawing/2014/main" id="{14E21394-7C48-130B-15F5-83F366F51C1B}"/>
              </a:ext>
            </a:extLst>
          </p:cNvPr>
          <p:cNvSpPr txBox="1"/>
          <p:nvPr/>
        </p:nvSpPr>
        <p:spPr>
          <a:xfrm>
            <a:off x="519531" y="3138100"/>
            <a:ext cx="1650645" cy="276999"/>
          </a:xfrm>
          <a:prstGeom prst="rect">
            <a:avLst/>
          </a:prstGeom>
          <a:noFill/>
        </p:spPr>
        <p:txBody>
          <a:bodyPr wrap="none" rtlCol="0">
            <a:spAutoFit/>
          </a:bodyPr>
          <a:lstStyle/>
          <a:p>
            <a:r>
              <a:rPr lang="en-US" sz="1200" dirty="0" err="1"/>
              <a:t>current_tempWstatus</a:t>
            </a:r>
            <a:endParaRPr lang="en-US" sz="1200" dirty="0"/>
          </a:p>
        </p:txBody>
      </p:sp>
      <p:sp>
        <p:nvSpPr>
          <p:cNvPr id="16" name="TextBox 15">
            <a:extLst>
              <a:ext uri="{FF2B5EF4-FFF2-40B4-BE49-F238E27FC236}">
                <a16:creationId xmlns:a16="http://schemas.microsoft.com/office/drawing/2014/main" id="{57E39FE2-9709-C518-1C95-018DDB9C665B}"/>
              </a:ext>
            </a:extLst>
          </p:cNvPr>
          <p:cNvSpPr txBox="1"/>
          <p:nvPr/>
        </p:nvSpPr>
        <p:spPr>
          <a:xfrm>
            <a:off x="6496659" y="2427916"/>
            <a:ext cx="1081322" cy="276999"/>
          </a:xfrm>
          <a:prstGeom prst="rect">
            <a:avLst/>
          </a:prstGeom>
          <a:noFill/>
        </p:spPr>
        <p:txBody>
          <a:bodyPr wrap="none" rtlCol="0">
            <a:spAutoFit/>
          </a:bodyPr>
          <a:lstStyle/>
          <a:p>
            <a:r>
              <a:rPr lang="en-US" sz="1200" dirty="0" err="1"/>
              <a:t>display_temp</a:t>
            </a:r>
            <a:endParaRPr lang="en-US" sz="1200" dirty="0"/>
          </a:p>
        </p:txBody>
      </p:sp>
      <p:cxnSp>
        <p:nvCxnSpPr>
          <p:cNvPr id="17" name="Straight Arrow Connector 16">
            <a:extLst>
              <a:ext uri="{FF2B5EF4-FFF2-40B4-BE49-F238E27FC236}">
                <a16:creationId xmlns:a16="http://schemas.microsoft.com/office/drawing/2014/main" id="{095FCACD-6307-371B-68F9-1BCE835C5961}"/>
              </a:ext>
            </a:extLst>
          </p:cNvPr>
          <p:cNvCxnSpPr>
            <a:cxnSpLocks/>
          </p:cNvCxnSpPr>
          <p:nvPr/>
        </p:nvCxnSpPr>
        <p:spPr bwMode="auto">
          <a:xfrm flipV="1">
            <a:off x="2356104" y="2671465"/>
            <a:ext cx="3903216" cy="562277"/>
          </a:xfrm>
          <a:prstGeom prst="straightConnector1">
            <a:avLst/>
          </a:prstGeom>
          <a:solidFill>
            <a:schemeClr val="accent1"/>
          </a:solidFill>
          <a:ln w="38100" cap="flat" cmpd="sng" algn="ctr">
            <a:solidFill>
              <a:srgbClr val="00B050"/>
            </a:solidFill>
            <a:prstDash val="solid"/>
            <a:miter lim="800000"/>
            <a:headEnd type="none" w="med" len="med"/>
            <a:tailEnd type="triangle"/>
          </a:ln>
          <a:effectLst/>
        </p:spPr>
      </p:cxnSp>
      <p:cxnSp>
        <p:nvCxnSpPr>
          <p:cNvPr id="20" name="Straight Arrow Connector 19">
            <a:extLst>
              <a:ext uri="{FF2B5EF4-FFF2-40B4-BE49-F238E27FC236}">
                <a16:creationId xmlns:a16="http://schemas.microsoft.com/office/drawing/2014/main" id="{ED86B548-553A-0D5B-7F3A-6EAD3B2CD7A4}"/>
              </a:ext>
            </a:extLst>
          </p:cNvPr>
          <p:cNvCxnSpPr>
            <a:cxnSpLocks/>
          </p:cNvCxnSpPr>
          <p:nvPr/>
        </p:nvCxnSpPr>
        <p:spPr bwMode="auto">
          <a:xfrm>
            <a:off x="4806737" y="2582326"/>
            <a:ext cx="1452583" cy="0"/>
          </a:xfrm>
          <a:prstGeom prst="straightConnector1">
            <a:avLst/>
          </a:prstGeom>
          <a:solidFill>
            <a:schemeClr val="accent1"/>
          </a:solidFill>
          <a:ln w="38100" cap="flat" cmpd="sng" algn="ctr">
            <a:solidFill>
              <a:srgbClr val="00B050"/>
            </a:solidFill>
            <a:prstDash val="solid"/>
            <a:miter lim="800000"/>
            <a:headEnd type="none" w="med" len="med"/>
            <a:tailEnd type="triangle"/>
          </a:ln>
          <a:effectLst/>
        </p:spPr>
      </p:cxnSp>
      <p:sp>
        <p:nvSpPr>
          <p:cNvPr id="2" name="Rectangle 1">
            <a:extLst>
              <a:ext uri="{FF2B5EF4-FFF2-40B4-BE49-F238E27FC236}">
                <a16:creationId xmlns:a16="http://schemas.microsoft.com/office/drawing/2014/main" id="{62ECAEDD-7D7B-D499-C048-FF760CA0201A}"/>
              </a:ext>
            </a:extLst>
          </p:cNvPr>
          <p:cNvSpPr/>
          <p:nvPr/>
        </p:nvSpPr>
        <p:spPr bwMode="auto">
          <a:xfrm>
            <a:off x="2209800" y="4566759"/>
            <a:ext cx="4191000" cy="1524000"/>
          </a:xfrm>
          <a:prstGeom prst="rect">
            <a:avLst/>
          </a:prstGeom>
          <a:noFill/>
          <a:ln w="2857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3" name="Text Box 43">
            <a:extLst>
              <a:ext uri="{FF2B5EF4-FFF2-40B4-BE49-F238E27FC236}">
                <a16:creationId xmlns:a16="http://schemas.microsoft.com/office/drawing/2014/main" id="{58C5A084-89A7-0688-4781-79614FC1AE45}"/>
              </a:ext>
            </a:extLst>
          </p:cNvPr>
          <p:cNvSpPr txBox="1">
            <a:spLocks noChangeArrowheads="1"/>
          </p:cNvSpPr>
          <p:nvPr/>
        </p:nvSpPr>
        <p:spPr bwMode="auto">
          <a:xfrm>
            <a:off x="609600" y="3870960"/>
            <a:ext cx="1673352" cy="461665"/>
          </a:xfrm>
          <a:prstGeom prst="rect">
            <a:avLst/>
          </a:prstGeom>
          <a:solidFill>
            <a:schemeClr val="accent2"/>
          </a:solidFill>
          <a:ln w="12700">
            <a:solidFill>
              <a:schemeClr val="tx1"/>
            </a:solidFill>
            <a:miter lim="800000"/>
            <a:headEnd/>
            <a:tailEnd/>
          </a:ln>
          <a:effectLst>
            <a:outerShdw blurRad="63500" dist="35921" dir="2700000" algn="ctr" rotWithShape="0">
              <a:schemeClr val="bg2"/>
            </a:outerShdw>
          </a:effectLst>
        </p:spPr>
        <p:txBody>
          <a:bodyPr wrap="square" anchor="ctr">
            <a:spAutoFit/>
          </a:bodyPr>
          <a:lstStyle/>
          <a:p>
            <a:pPr algn="l">
              <a:defRPr/>
            </a:pPr>
            <a:r>
              <a:rPr lang="en-US" sz="1200" dirty="0">
                <a:latin typeface="Tahoma" pitchFamily="-84" charset="0"/>
              </a:rPr>
              <a:t>Refinement… (with proof concepts)</a:t>
            </a:r>
          </a:p>
        </p:txBody>
      </p:sp>
      <p:sp>
        <p:nvSpPr>
          <p:cNvPr id="8" name="Oval 7">
            <a:extLst>
              <a:ext uri="{FF2B5EF4-FFF2-40B4-BE49-F238E27FC236}">
                <a16:creationId xmlns:a16="http://schemas.microsoft.com/office/drawing/2014/main" id="{DBE4D6FC-26A9-141C-AF0C-6D0949D6ED0A}"/>
              </a:ext>
            </a:extLst>
          </p:cNvPr>
          <p:cNvSpPr/>
          <p:nvPr/>
        </p:nvSpPr>
        <p:spPr bwMode="auto">
          <a:xfrm>
            <a:off x="2130552" y="5521549"/>
            <a:ext cx="152400" cy="1524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9" name="TextBox 8">
            <a:extLst>
              <a:ext uri="{FF2B5EF4-FFF2-40B4-BE49-F238E27FC236}">
                <a16:creationId xmlns:a16="http://schemas.microsoft.com/office/drawing/2014/main" id="{C025BC46-59CC-162E-4189-74AE80D240FE}"/>
              </a:ext>
            </a:extLst>
          </p:cNvPr>
          <p:cNvSpPr txBox="1"/>
          <p:nvPr/>
        </p:nvSpPr>
        <p:spPr>
          <a:xfrm>
            <a:off x="519531" y="5459249"/>
            <a:ext cx="1650645" cy="276999"/>
          </a:xfrm>
          <a:prstGeom prst="rect">
            <a:avLst/>
          </a:prstGeom>
          <a:noFill/>
        </p:spPr>
        <p:txBody>
          <a:bodyPr wrap="none" rtlCol="0">
            <a:spAutoFit/>
          </a:bodyPr>
          <a:lstStyle/>
          <a:p>
            <a:r>
              <a:rPr lang="en-US" sz="1200" dirty="0" err="1"/>
              <a:t>current_tempWstatus</a:t>
            </a:r>
            <a:endParaRPr lang="en-US" sz="1200" dirty="0"/>
          </a:p>
        </p:txBody>
      </p:sp>
      <p:sp>
        <p:nvSpPr>
          <p:cNvPr id="18" name="TextBox 17">
            <a:extLst>
              <a:ext uri="{FF2B5EF4-FFF2-40B4-BE49-F238E27FC236}">
                <a16:creationId xmlns:a16="http://schemas.microsoft.com/office/drawing/2014/main" id="{B91D8C09-5B92-D9EE-BF68-6918269E51D4}"/>
              </a:ext>
            </a:extLst>
          </p:cNvPr>
          <p:cNvSpPr txBox="1"/>
          <p:nvPr/>
        </p:nvSpPr>
        <p:spPr>
          <a:xfrm>
            <a:off x="6440424" y="4677913"/>
            <a:ext cx="1081322" cy="276999"/>
          </a:xfrm>
          <a:prstGeom prst="rect">
            <a:avLst/>
          </a:prstGeom>
          <a:noFill/>
        </p:spPr>
        <p:txBody>
          <a:bodyPr wrap="none" rtlCol="0">
            <a:spAutoFit/>
          </a:bodyPr>
          <a:lstStyle/>
          <a:p>
            <a:r>
              <a:rPr lang="en-US" sz="1200" dirty="0" err="1"/>
              <a:t>display_temp</a:t>
            </a:r>
            <a:endParaRPr lang="en-US" sz="1200" dirty="0"/>
          </a:p>
        </p:txBody>
      </p:sp>
      <p:sp>
        <p:nvSpPr>
          <p:cNvPr id="19" name="Rectangle 18">
            <a:extLst>
              <a:ext uri="{FF2B5EF4-FFF2-40B4-BE49-F238E27FC236}">
                <a16:creationId xmlns:a16="http://schemas.microsoft.com/office/drawing/2014/main" id="{FD634B9B-3CFC-358F-5E90-62197AE0A390}"/>
              </a:ext>
            </a:extLst>
          </p:cNvPr>
          <p:cNvSpPr/>
          <p:nvPr/>
        </p:nvSpPr>
        <p:spPr bwMode="auto">
          <a:xfrm>
            <a:off x="2641135" y="4890962"/>
            <a:ext cx="838200" cy="525673"/>
          </a:xfrm>
          <a:prstGeom prst="rect">
            <a:avLst/>
          </a:prstGeom>
          <a:noFill/>
          <a:ln w="2857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21" name="Rectangle 20">
            <a:extLst>
              <a:ext uri="{FF2B5EF4-FFF2-40B4-BE49-F238E27FC236}">
                <a16:creationId xmlns:a16="http://schemas.microsoft.com/office/drawing/2014/main" id="{5B042426-26F2-E65C-C533-8D866D49B4CF}"/>
              </a:ext>
            </a:extLst>
          </p:cNvPr>
          <p:cNvSpPr/>
          <p:nvPr/>
        </p:nvSpPr>
        <p:spPr bwMode="auto">
          <a:xfrm>
            <a:off x="3996774" y="5357811"/>
            <a:ext cx="838200" cy="525673"/>
          </a:xfrm>
          <a:prstGeom prst="rect">
            <a:avLst/>
          </a:prstGeom>
          <a:noFill/>
          <a:ln w="2857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22" name="Rectangle 21">
            <a:extLst>
              <a:ext uri="{FF2B5EF4-FFF2-40B4-BE49-F238E27FC236}">
                <a16:creationId xmlns:a16="http://schemas.microsoft.com/office/drawing/2014/main" id="{70563B27-6885-8C95-CC5E-F07C44FAB817}"/>
              </a:ext>
            </a:extLst>
          </p:cNvPr>
          <p:cNvSpPr/>
          <p:nvPr/>
        </p:nvSpPr>
        <p:spPr bwMode="auto">
          <a:xfrm>
            <a:off x="5193157" y="5210575"/>
            <a:ext cx="838200" cy="525673"/>
          </a:xfrm>
          <a:prstGeom prst="rect">
            <a:avLst/>
          </a:prstGeom>
          <a:noFill/>
          <a:ln w="2857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26" name="TextBox 25">
            <a:extLst>
              <a:ext uri="{FF2B5EF4-FFF2-40B4-BE49-F238E27FC236}">
                <a16:creationId xmlns:a16="http://schemas.microsoft.com/office/drawing/2014/main" id="{4279DB28-2B11-7372-3C09-66F6C67530A5}"/>
              </a:ext>
            </a:extLst>
          </p:cNvPr>
          <p:cNvSpPr txBox="1"/>
          <p:nvPr/>
        </p:nvSpPr>
        <p:spPr>
          <a:xfrm>
            <a:off x="2601511" y="4613963"/>
            <a:ext cx="457176" cy="276999"/>
          </a:xfrm>
          <a:prstGeom prst="rect">
            <a:avLst/>
          </a:prstGeom>
          <a:noFill/>
        </p:spPr>
        <p:txBody>
          <a:bodyPr wrap="none" rtlCol="0">
            <a:spAutoFit/>
          </a:bodyPr>
          <a:lstStyle/>
          <a:p>
            <a:r>
              <a:rPr lang="en-US" sz="1200" dirty="0"/>
              <a:t>MRI</a:t>
            </a:r>
          </a:p>
        </p:txBody>
      </p:sp>
      <p:sp>
        <p:nvSpPr>
          <p:cNvPr id="27" name="TextBox 26">
            <a:extLst>
              <a:ext uri="{FF2B5EF4-FFF2-40B4-BE49-F238E27FC236}">
                <a16:creationId xmlns:a16="http://schemas.microsoft.com/office/drawing/2014/main" id="{9E6C5E41-26EF-5F62-5239-BB3A17085359}"/>
              </a:ext>
            </a:extLst>
          </p:cNvPr>
          <p:cNvSpPr txBox="1"/>
          <p:nvPr/>
        </p:nvSpPr>
        <p:spPr>
          <a:xfrm>
            <a:off x="5134124" y="4954912"/>
            <a:ext cx="492443" cy="276999"/>
          </a:xfrm>
          <a:prstGeom prst="rect">
            <a:avLst/>
          </a:prstGeom>
          <a:noFill/>
        </p:spPr>
        <p:txBody>
          <a:bodyPr wrap="none" rtlCol="0">
            <a:spAutoFit/>
          </a:bodyPr>
          <a:lstStyle/>
          <a:p>
            <a:r>
              <a:rPr lang="en-US" sz="1200" dirty="0"/>
              <a:t>MHS</a:t>
            </a:r>
          </a:p>
        </p:txBody>
      </p:sp>
      <p:sp>
        <p:nvSpPr>
          <p:cNvPr id="28" name="TextBox 27">
            <a:extLst>
              <a:ext uri="{FF2B5EF4-FFF2-40B4-BE49-F238E27FC236}">
                <a16:creationId xmlns:a16="http://schemas.microsoft.com/office/drawing/2014/main" id="{F50C1BCE-EFE4-721C-125F-60ED5FED4F37}"/>
              </a:ext>
            </a:extLst>
          </p:cNvPr>
          <p:cNvSpPr txBox="1"/>
          <p:nvPr/>
        </p:nvSpPr>
        <p:spPr>
          <a:xfrm>
            <a:off x="3917275" y="5080239"/>
            <a:ext cx="518091" cy="276999"/>
          </a:xfrm>
          <a:prstGeom prst="rect">
            <a:avLst/>
          </a:prstGeom>
          <a:noFill/>
        </p:spPr>
        <p:txBody>
          <a:bodyPr wrap="none" rtlCol="0">
            <a:spAutoFit/>
          </a:bodyPr>
          <a:lstStyle/>
          <a:p>
            <a:r>
              <a:rPr lang="en-US" sz="1200" dirty="0"/>
              <a:t>MRM</a:t>
            </a:r>
          </a:p>
        </p:txBody>
      </p:sp>
      <p:sp>
        <p:nvSpPr>
          <p:cNvPr id="29" name="Oval 28">
            <a:extLst>
              <a:ext uri="{FF2B5EF4-FFF2-40B4-BE49-F238E27FC236}">
                <a16:creationId xmlns:a16="http://schemas.microsoft.com/office/drawing/2014/main" id="{D5335B98-DB4E-6F62-BCAB-E815E8A8845D}"/>
              </a:ext>
            </a:extLst>
          </p:cNvPr>
          <p:cNvSpPr/>
          <p:nvPr/>
        </p:nvSpPr>
        <p:spPr bwMode="auto">
          <a:xfrm>
            <a:off x="6331581" y="4785563"/>
            <a:ext cx="152400" cy="1524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30" name="TextBox 29">
            <a:extLst>
              <a:ext uri="{FF2B5EF4-FFF2-40B4-BE49-F238E27FC236}">
                <a16:creationId xmlns:a16="http://schemas.microsoft.com/office/drawing/2014/main" id="{083B2873-5C12-CF00-6CAD-35EF87076292}"/>
              </a:ext>
            </a:extLst>
          </p:cNvPr>
          <p:cNvSpPr txBox="1"/>
          <p:nvPr/>
        </p:nvSpPr>
        <p:spPr>
          <a:xfrm>
            <a:off x="6666584" y="5883484"/>
            <a:ext cx="1034257" cy="646331"/>
          </a:xfrm>
          <a:prstGeom prst="rect">
            <a:avLst/>
          </a:prstGeom>
          <a:noFill/>
        </p:spPr>
        <p:txBody>
          <a:bodyPr wrap="none" rtlCol="0">
            <a:spAutoFit/>
          </a:bodyPr>
          <a:lstStyle/>
          <a:p>
            <a:r>
              <a:rPr lang="en-US" sz="1200" dirty="0"/>
              <a:t>DRF &lt; MRM</a:t>
            </a:r>
          </a:p>
          <a:p>
            <a:r>
              <a:rPr lang="en-US" sz="1200" dirty="0"/>
              <a:t>MRI &lt; MRM</a:t>
            </a:r>
          </a:p>
          <a:p>
            <a:r>
              <a:rPr lang="en-US" sz="1200" dirty="0"/>
              <a:t>MRM &lt; MHS</a:t>
            </a:r>
          </a:p>
        </p:txBody>
      </p:sp>
      <p:sp>
        <p:nvSpPr>
          <p:cNvPr id="31" name="Rectangle 30">
            <a:extLst>
              <a:ext uri="{FF2B5EF4-FFF2-40B4-BE49-F238E27FC236}">
                <a16:creationId xmlns:a16="http://schemas.microsoft.com/office/drawing/2014/main" id="{4DD54743-31A8-DE77-7E35-CB94D7F58CE3}"/>
              </a:ext>
            </a:extLst>
          </p:cNvPr>
          <p:cNvSpPr/>
          <p:nvPr/>
        </p:nvSpPr>
        <p:spPr bwMode="auto">
          <a:xfrm>
            <a:off x="3031719" y="5768971"/>
            <a:ext cx="457201" cy="214699"/>
          </a:xfrm>
          <a:prstGeom prst="rect">
            <a:avLst/>
          </a:prstGeom>
          <a:noFill/>
          <a:ln w="2857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32" name="TextBox 31">
            <a:extLst>
              <a:ext uri="{FF2B5EF4-FFF2-40B4-BE49-F238E27FC236}">
                <a16:creationId xmlns:a16="http://schemas.microsoft.com/office/drawing/2014/main" id="{C8032C43-CD44-667E-5289-2637D1616BA1}"/>
              </a:ext>
            </a:extLst>
          </p:cNvPr>
          <p:cNvSpPr txBox="1"/>
          <p:nvPr/>
        </p:nvSpPr>
        <p:spPr>
          <a:xfrm>
            <a:off x="2920091" y="5521549"/>
            <a:ext cx="465192" cy="276999"/>
          </a:xfrm>
          <a:prstGeom prst="rect">
            <a:avLst/>
          </a:prstGeom>
          <a:noFill/>
        </p:spPr>
        <p:txBody>
          <a:bodyPr wrap="none" rtlCol="0">
            <a:spAutoFit/>
          </a:bodyPr>
          <a:lstStyle/>
          <a:p>
            <a:r>
              <a:rPr lang="en-US" sz="1200" dirty="0"/>
              <a:t>DRF</a:t>
            </a:r>
          </a:p>
        </p:txBody>
      </p:sp>
      <p:sp>
        <p:nvSpPr>
          <p:cNvPr id="33" name="Oval 32">
            <a:extLst>
              <a:ext uri="{FF2B5EF4-FFF2-40B4-BE49-F238E27FC236}">
                <a16:creationId xmlns:a16="http://schemas.microsoft.com/office/drawing/2014/main" id="{6787E8B7-0971-6B25-0334-8AFC68FAF342}"/>
              </a:ext>
            </a:extLst>
          </p:cNvPr>
          <p:cNvSpPr/>
          <p:nvPr/>
        </p:nvSpPr>
        <p:spPr bwMode="auto">
          <a:xfrm>
            <a:off x="2545123" y="5029034"/>
            <a:ext cx="152400" cy="152400"/>
          </a:xfrm>
          <a:prstGeom prst="ellipse">
            <a:avLst/>
          </a:prstGeom>
          <a:solidFill>
            <a:schemeClr val="accent5">
              <a:lumMod val="60000"/>
              <a:lumOff val="40000"/>
            </a:schemeClr>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34" name="Oval 33">
            <a:extLst>
              <a:ext uri="{FF2B5EF4-FFF2-40B4-BE49-F238E27FC236}">
                <a16:creationId xmlns:a16="http://schemas.microsoft.com/office/drawing/2014/main" id="{4399F3DA-E87C-21EE-243A-CB4A094C78F8}"/>
              </a:ext>
            </a:extLst>
          </p:cNvPr>
          <p:cNvSpPr/>
          <p:nvPr/>
        </p:nvSpPr>
        <p:spPr bwMode="auto">
          <a:xfrm>
            <a:off x="4495800" y="5550601"/>
            <a:ext cx="152400" cy="152400"/>
          </a:xfrm>
          <a:prstGeom prst="ellipse">
            <a:avLst/>
          </a:prstGeom>
          <a:solidFill>
            <a:schemeClr val="accent5">
              <a:lumMod val="60000"/>
              <a:lumOff val="40000"/>
            </a:schemeClr>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35" name="Oval 34">
            <a:extLst>
              <a:ext uri="{FF2B5EF4-FFF2-40B4-BE49-F238E27FC236}">
                <a16:creationId xmlns:a16="http://schemas.microsoft.com/office/drawing/2014/main" id="{F06C5608-4318-FC51-C0C4-9683284E4D6A}"/>
              </a:ext>
            </a:extLst>
          </p:cNvPr>
          <p:cNvSpPr/>
          <p:nvPr/>
        </p:nvSpPr>
        <p:spPr bwMode="auto">
          <a:xfrm>
            <a:off x="4609485" y="5264235"/>
            <a:ext cx="152400" cy="152400"/>
          </a:xfrm>
          <a:prstGeom prst="ellipse">
            <a:avLst/>
          </a:prstGeom>
          <a:solidFill>
            <a:schemeClr val="accent5">
              <a:lumMod val="60000"/>
              <a:lumOff val="40000"/>
            </a:schemeClr>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36" name="TextBox 35">
            <a:extLst>
              <a:ext uri="{FF2B5EF4-FFF2-40B4-BE49-F238E27FC236}">
                <a16:creationId xmlns:a16="http://schemas.microsoft.com/office/drawing/2014/main" id="{C71ABD56-8AF9-4C16-0BE9-32B265A11896}"/>
              </a:ext>
            </a:extLst>
          </p:cNvPr>
          <p:cNvSpPr txBox="1"/>
          <p:nvPr/>
        </p:nvSpPr>
        <p:spPr>
          <a:xfrm>
            <a:off x="4079006" y="5585499"/>
            <a:ext cx="564578" cy="276999"/>
          </a:xfrm>
          <a:prstGeom prst="rect">
            <a:avLst/>
          </a:prstGeom>
          <a:noFill/>
        </p:spPr>
        <p:txBody>
          <a:bodyPr wrap="none" rtlCol="0">
            <a:spAutoFit/>
          </a:bodyPr>
          <a:lstStyle/>
          <a:p>
            <a:r>
              <a:rPr lang="en-US" sz="1200" dirty="0"/>
              <a:t>mode</a:t>
            </a:r>
          </a:p>
        </p:txBody>
      </p:sp>
      <p:sp>
        <p:nvSpPr>
          <p:cNvPr id="37" name="TextBox 36">
            <a:extLst>
              <a:ext uri="{FF2B5EF4-FFF2-40B4-BE49-F238E27FC236}">
                <a16:creationId xmlns:a16="http://schemas.microsoft.com/office/drawing/2014/main" id="{69C035DE-8D0D-E36D-844C-1506B13DEE2A}"/>
              </a:ext>
            </a:extLst>
          </p:cNvPr>
          <p:cNvSpPr txBox="1"/>
          <p:nvPr/>
        </p:nvSpPr>
        <p:spPr>
          <a:xfrm>
            <a:off x="4481691" y="5014770"/>
            <a:ext cx="564578" cy="276999"/>
          </a:xfrm>
          <a:prstGeom prst="rect">
            <a:avLst/>
          </a:prstGeom>
          <a:noFill/>
        </p:spPr>
        <p:txBody>
          <a:bodyPr wrap="none" rtlCol="0">
            <a:spAutoFit/>
          </a:bodyPr>
          <a:lstStyle/>
          <a:p>
            <a:r>
              <a:rPr lang="en-US" sz="1200" dirty="0"/>
              <a:t>mode</a:t>
            </a:r>
          </a:p>
        </p:txBody>
      </p:sp>
      <p:sp>
        <p:nvSpPr>
          <p:cNvPr id="38" name="TextBox 37">
            <a:extLst>
              <a:ext uri="{FF2B5EF4-FFF2-40B4-BE49-F238E27FC236}">
                <a16:creationId xmlns:a16="http://schemas.microsoft.com/office/drawing/2014/main" id="{47689068-A05C-C4CA-076B-32F3FA4A1E0B}"/>
              </a:ext>
            </a:extLst>
          </p:cNvPr>
          <p:cNvSpPr txBox="1"/>
          <p:nvPr/>
        </p:nvSpPr>
        <p:spPr>
          <a:xfrm>
            <a:off x="2148659" y="5112839"/>
            <a:ext cx="564578" cy="276999"/>
          </a:xfrm>
          <a:prstGeom prst="rect">
            <a:avLst/>
          </a:prstGeom>
          <a:noFill/>
        </p:spPr>
        <p:txBody>
          <a:bodyPr wrap="none" rtlCol="0">
            <a:spAutoFit/>
          </a:bodyPr>
          <a:lstStyle/>
          <a:p>
            <a:r>
              <a:rPr lang="en-US" sz="1200" dirty="0"/>
              <a:t>mode</a:t>
            </a:r>
          </a:p>
        </p:txBody>
      </p:sp>
      <p:sp>
        <p:nvSpPr>
          <p:cNvPr id="39" name="Oval 38">
            <a:extLst>
              <a:ext uri="{FF2B5EF4-FFF2-40B4-BE49-F238E27FC236}">
                <a16:creationId xmlns:a16="http://schemas.microsoft.com/office/drawing/2014/main" id="{F4AAD436-C748-0442-93E1-18A198091255}"/>
              </a:ext>
            </a:extLst>
          </p:cNvPr>
          <p:cNvSpPr/>
          <p:nvPr/>
        </p:nvSpPr>
        <p:spPr bwMode="auto">
          <a:xfrm>
            <a:off x="2683795" y="5355340"/>
            <a:ext cx="152400" cy="152400"/>
          </a:xfrm>
          <a:prstGeom prst="ellipse">
            <a:avLst/>
          </a:prstGeom>
          <a:solidFill>
            <a:schemeClr val="accent5">
              <a:lumMod val="60000"/>
              <a:lumOff val="40000"/>
            </a:schemeClr>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40" name="Oval 39">
            <a:extLst>
              <a:ext uri="{FF2B5EF4-FFF2-40B4-BE49-F238E27FC236}">
                <a16:creationId xmlns:a16="http://schemas.microsoft.com/office/drawing/2014/main" id="{E81B34C9-3572-3DB1-A529-707B563C4A21}"/>
              </a:ext>
            </a:extLst>
          </p:cNvPr>
          <p:cNvSpPr/>
          <p:nvPr/>
        </p:nvSpPr>
        <p:spPr bwMode="auto">
          <a:xfrm>
            <a:off x="3400379" y="4960439"/>
            <a:ext cx="152400" cy="152400"/>
          </a:xfrm>
          <a:prstGeom prst="ellipse">
            <a:avLst/>
          </a:prstGeom>
          <a:solidFill>
            <a:schemeClr val="accent5">
              <a:lumMod val="60000"/>
              <a:lumOff val="40000"/>
            </a:schemeClr>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41" name="TextBox 40">
            <a:extLst>
              <a:ext uri="{FF2B5EF4-FFF2-40B4-BE49-F238E27FC236}">
                <a16:creationId xmlns:a16="http://schemas.microsoft.com/office/drawing/2014/main" id="{D0D445E6-9AE5-D0A4-C246-1227B7EC43AB}"/>
              </a:ext>
            </a:extLst>
          </p:cNvPr>
          <p:cNvSpPr txBox="1"/>
          <p:nvPr/>
        </p:nvSpPr>
        <p:spPr>
          <a:xfrm>
            <a:off x="3490678" y="4708299"/>
            <a:ext cx="1081322" cy="276999"/>
          </a:xfrm>
          <a:prstGeom prst="rect">
            <a:avLst/>
          </a:prstGeom>
          <a:noFill/>
        </p:spPr>
        <p:txBody>
          <a:bodyPr wrap="none" rtlCol="0">
            <a:spAutoFit/>
          </a:bodyPr>
          <a:lstStyle/>
          <a:p>
            <a:r>
              <a:rPr lang="en-US" sz="1200" dirty="0" err="1"/>
              <a:t>display_temp</a:t>
            </a:r>
            <a:endParaRPr lang="en-US" sz="1200" dirty="0"/>
          </a:p>
        </p:txBody>
      </p:sp>
      <p:cxnSp>
        <p:nvCxnSpPr>
          <p:cNvPr id="43" name="Straight Arrow Connector 42">
            <a:extLst>
              <a:ext uri="{FF2B5EF4-FFF2-40B4-BE49-F238E27FC236}">
                <a16:creationId xmlns:a16="http://schemas.microsoft.com/office/drawing/2014/main" id="{D56486AC-CF0B-00B0-36CA-09A81016A1FA}"/>
              </a:ext>
            </a:extLst>
          </p:cNvPr>
          <p:cNvCxnSpPr>
            <a:cxnSpLocks/>
            <a:endCxn id="39" idx="3"/>
          </p:cNvCxnSpPr>
          <p:nvPr/>
        </p:nvCxnSpPr>
        <p:spPr bwMode="auto">
          <a:xfrm flipV="1">
            <a:off x="2282952" y="5485422"/>
            <a:ext cx="423161" cy="85693"/>
          </a:xfrm>
          <a:prstGeom prst="straightConnector1">
            <a:avLst/>
          </a:prstGeom>
          <a:solidFill>
            <a:schemeClr val="accent1"/>
          </a:solidFill>
          <a:ln w="19050" cap="flat" cmpd="sng" algn="ctr">
            <a:solidFill>
              <a:srgbClr val="00B050"/>
            </a:solidFill>
            <a:prstDash val="dash"/>
            <a:miter lim="800000"/>
            <a:headEnd type="none" w="med" len="med"/>
            <a:tailEnd type="triangle"/>
          </a:ln>
          <a:effectLst/>
        </p:spPr>
      </p:cxnSp>
      <p:cxnSp>
        <p:nvCxnSpPr>
          <p:cNvPr id="46" name="Straight Arrow Connector 45">
            <a:extLst>
              <a:ext uri="{FF2B5EF4-FFF2-40B4-BE49-F238E27FC236}">
                <a16:creationId xmlns:a16="http://schemas.microsoft.com/office/drawing/2014/main" id="{F3C41330-C5A8-4679-47BF-A48A26F77FEE}"/>
              </a:ext>
            </a:extLst>
          </p:cNvPr>
          <p:cNvCxnSpPr>
            <a:cxnSpLocks/>
            <a:endCxn id="29" idx="2"/>
          </p:cNvCxnSpPr>
          <p:nvPr/>
        </p:nvCxnSpPr>
        <p:spPr bwMode="auto">
          <a:xfrm flipV="1">
            <a:off x="3577881" y="4861763"/>
            <a:ext cx="2753700" cy="174876"/>
          </a:xfrm>
          <a:prstGeom prst="straightConnector1">
            <a:avLst/>
          </a:prstGeom>
          <a:solidFill>
            <a:schemeClr val="accent1"/>
          </a:solidFill>
          <a:ln w="19050" cap="flat" cmpd="sng" algn="ctr">
            <a:solidFill>
              <a:srgbClr val="00B050"/>
            </a:solidFill>
            <a:prstDash val="dash"/>
            <a:miter lim="800000"/>
            <a:headEnd type="none" w="med" len="med"/>
            <a:tailEnd type="triangle"/>
          </a:ln>
          <a:effectLst/>
        </p:spPr>
      </p:cxnSp>
      <p:cxnSp>
        <p:nvCxnSpPr>
          <p:cNvPr id="23" name="Straight Arrow Connector 22">
            <a:extLst>
              <a:ext uri="{FF2B5EF4-FFF2-40B4-BE49-F238E27FC236}">
                <a16:creationId xmlns:a16="http://schemas.microsoft.com/office/drawing/2014/main" id="{24B14B5D-F1D3-6771-CD97-B0424AF4E832}"/>
              </a:ext>
            </a:extLst>
          </p:cNvPr>
          <p:cNvCxnSpPr>
            <a:cxnSpLocks/>
            <a:stCxn id="33" idx="6"/>
            <a:endCxn id="40" idx="2"/>
          </p:cNvCxnSpPr>
          <p:nvPr/>
        </p:nvCxnSpPr>
        <p:spPr bwMode="auto">
          <a:xfrm flipV="1">
            <a:off x="2697523" y="5036639"/>
            <a:ext cx="702856" cy="68595"/>
          </a:xfrm>
          <a:prstGeom prst="straightConnector1">
            <a:avLst/>
          </a:prstGeom>
          <a:solidFill>
            <a:schemeClr val="accent1"/>
          </a:solidFill>
          <a:ln w="38100" cap="flat" cmpd="sng" algn="ctr">
            <a:solidFill>
              <a:srgbClr val="0070C0"/>
            </a:solidFill>
            <a:prstDash val="solid"/>
            <a:miter lim="800000"/>
            <a:headEnd type="none" w="med" len="med"/>
            <a:tailEnd type="triangle"/>
          </a:ln>
          <a:effectLst/>
        </p:spPr>
      </p:cxnSp>
      <p:cxnSp>
        <p:nvCxnSpPr>
          <p:cNvPr id="44" name="Straight Arrow Connector 43">
            <a:extLst>
              <a:ext uri="{FF2B5EF4-FFF2-40B4-BE49-F238E27FC236}">
                <a16:creationId xmlns:a16="http://schemas.microsoft.com/office/drawing/2014/main" id="{7CE5ED2A-7723-FFA5-226C-EE584A8204AC}"/>
              </a:ext>
            </a:extLst>
          </p:cNvPr>
          <p:cNvCxnSpPr>
            <a:cxnSpLocks/>
            <a:endCxn id="40" idx="3"/>
          </p:cNvCxnSpPr>
          <p:nvPr/>
        </p:nvCxnSpPr>
        <p:spPr bwMode="auto">
          <a:xfrm flipV="1">
            <a:off x="2832421" y="5090521"/>
            <a:ext cx="590276" cy="304037"/>
          </a:xfrm>
          <a:prstGeom prst="straightConnector1">
            <a:avLst/>
          </a:prstGeom>
          <a:solidFill>
            <a:schemeClr val="accent1"/>
          </a:solidFill>
          <a:ln w="38100" cap="flat" cmpd="sng" algn="ctr">
            <a:solidFill>
              <a:srgbClr val="0070C0"/>
            </a:solidFill>
            <a:prstDash val="solid"/>
            <a:miter lim="800000"/>
            <a:headEnd type="none" w="med" len="med"/>
            <a:tailEnd type="triangle"/>
          </a:ln>
          <a:effectLst/>
        </p:spPr>
      </p:cxnSp>
      <p:grpSp>
        <p:nvGrpSpPr>
          <p:cNvPr id="56" name="Group 55">
            <a:extLst>
              <a:ext uri="{FF2B5EF4-FFF2-40B4-BE49-F238E27FC236}">
                <a16:creationId xmlns:a16="http://schemas.microsoft.com/office/drawing/2014/main" id="{B69D2A3B-D233-A2B4-DE7F-9027E46ED8CA}"/>
              </a:ext>
            </a:extLst>
          </p:cNvPr>
          <p:cNvGrpSpPr/>
          <p:nvPr/>
        </p:nvGrpSpPr>
        <p:grpSpPr>
          <a:xfrm>
            <a:off x="2411398" y="4658868"/>
            <a:ext cx="2313002" cy="551707"/>
            <a:chOff x="2411398" y="4658868"/>
            <a:chExt cx="2313002" cy="551707"/>
          </a:xfrm>
        </p:grpSpPr>
        <p:cxnSp>
          <p:nvCxnSpPr>
            <p:cNvPr id="58" name="Straight Connector 57">
              <a:extLst>
                <a:ext uri="{FF2B5EF4-FFF2-40B4-BE49-F238E27FC236}">
                  <a16:creationId xmlns:a16="http://schemas.microsoft.com/office/drawing/2014/main" id="{32D84AD6-A25F-A2AB-01EA-62576D9349D0}"/>
                </a:ext>
              </a:extLst>
            </p:cNvPr>
            <p:cNvCxnSpPr>
              <a:cxnSpLocks/>
            </p:cNvCxnSpPr>
            <p:nvPr/>
          </p:nvCxnSpPr>
          <p:spPr bwMode="auto">
            <a:xfrm>
              <a:off x="2422871" y="4665237"/>
              <a:ext cx="8077" cy="447602"/>
            </a:xfrm>
            <a:prstGeom prst="line">
              <a:avLst/>
            </a:prstGeom>
            <a:solidFill>
              <a:schemeClr val="accent1"/>
            </a:solidFill>
            <a:ln w="19050" cap="flat" cmpd="sng" algn="ctr">
              <a:solidFill>
                <a:srgbClr val="00B050"/>
              </a:solidFill>
              <a:prstDash val="solid"/>
              <a:miter lim="800000"/>
              <a:headEnd type="none" w="med" len="med"/>
              <a:tailEnd type="none" w="med" len="med"/>
            </a:ln>
            <a:effectLst/>
          </p:spPr>
        </p:cxnSp>
        <p:grpSp>
          <p:nvGrpSpPr>
            <p:cNvPr id="60" name="Group 59">
              <a:extLst>
                <a:ext uri="{FF2B5EF4-FFF2-40B4-BE49-F238E27FC236}">
                  <a16:creationId xmlns:a16="http://schemas.microsoft.com/office/drawing/2014/main" id="{E0534A2D-9206-9AA5-C9BF-6357A4A366FE}"/>
                </a:ext>
              </a:extLst>
            </p:cNvPr>
            <p:cNvGrpSpPr/>
            <p:nvPr/>
          </p:nvGrpSpPr>
          <p:grpSpPr>
            <a:xfrm>
              <a:off x="2411398" y="4658868"/>
              <a:ext cx="2313002" cy="551707"/>
              <a:chOff x="2411398" y="4658868"/>
              <a:chExt cx="2313002" cy="551707"/>
            </a:xfrm>
          </p:grpSpPr>
          <p:cxnSp>
            <p:nvCxnSpPr>
              <p:cNvPr id="62" name="Straight Connector 61">
                <a:extLst>
                  <a:ext uri="{FF2B5EF4-FFF2-40B4-BE49-F238E27FC236}">
                    <a16:creationId xmlns:a16="http://schemas.microsoft.com/office/drawing/2014/main" id="{EF699843-3D27-0B90-5879-53352BFAABF6}"/>
                  </a:ext>
                </a:extLst>
              </p:cNvPr>
              <p:cNvCxnSpPr/>
              <p:nvPr/>
            </p:nvCxnSpPr>
            <p:spPr bwMode="auto">
              <a:xfrm flipV="1">
                <a:off x="4724400" y="4677913"/>
                <a:ext cx="0" cy="532662"/>
              </a:xfrm>
              <a:prstGeom prst="line">
                <a:avLst/>
              </a:prstGeom>
              <a:solidFill>
                <a:schemeClr val="accent1"/>
              </a:solidFill>
              <a:ln w="19050" cap="flat" cmpd="sng" algn="ctr">
                <a:solidFill>
                  <a:srgbClr val="00B050"/>
                </a:solidFill>
                <a:prstDash val="solid"/>
                <a:miter lim="800000"/>
                <a:headEnd type="none" w="med" len="med"/>
                <a:tailEnd type="none" w="med" len="med"/>
              </a:ln>
              <a:effectLst/>
            </p:spPr>
          </p:cxnSp>
          <p:cxnSp>
            <p:nvCxnSpPr>
              <p:cNvPr id="63" name="Straight Connector 62">
                <a:extLst>
                  <a:ext uri="{FF2B5EF4-FFF2-40B4-BE49-F238E27FC236}">
                    <a16:creationId xmlns:a16="http://schemas.microsoft.com/office/drawing/2014/main" id="{6D043C53-8E00-2469-799E-CC0EFB5D9C70}"/>
                  </a:ext>
                </a:extLst>
              </p:cNvPr>
              <p:cNvCxnSpPr>
                <a:cxnSpLocks/>
              </p:cNvCxnSpPr>
              <p:nvPr/>
            </p:nvCxnSpPr>
            <p:spPr bwMode="auto">
              <a:xfrm flipH="1" flipV="1">
                <a:off x="2411398" y="4658868"/>
                <a:ext cx="2313002" cy="11817"/>
              </a:xfrm>
              <a:prstGeom prst="line">
                <a:avLst/>
              </a:prstGeom>
              <a:solidFill>
                <a:schemeClr val="accent1"/>
              </a:solidFill>
              <a:ln w="19050" cap="flat" cmpd="sng" algn="ctr">
                <a:solidFill>
                  <a:srgbClr val="00B050"/>
                </a:solidFill>
                <a:prstDash val="solid"/>
                <a:miter lim="800000"/>
                <a:headEnd type="none" w="med" len="med"/>
                <a:tailEnd type="none" w="med" len="med"/>
              </a:ln>
              <a:effectLst/>
            </p:spPr>
          </p:cxnSp>
          <p:cxnSp>
            <p:nvCxnSpPr>
              <p:cNvPr id="64" name="Straight Connector 63">
                <a:extLst>
                  <a:ext uri="{FF2B5EF4-FFF2-40B4-BE49-F238E27FC236}">
                    <a16:creationId xmlns:a16="http://schemas.microsoft.com/office/drawing/2014/main" id="{F8C02303-AA32-7C8D-F5D9-C3A3B2C60B62}"/>
                  </a:ext>
                </a:extLst>
              </p:cNvPr>
              <p:cNvCxnSpPr>
                <a:cxnSpLocks/>
              </p:cNvCxnSpPr>
              <p:nvPr/>
            </p:nvCxnSpPr>
            <p:spPr bwMode="auto">
              <a:xfrm>
                <a:off x="2430948" y="5122701"/>
                <a:ext cx="190375" cy="0"/>
              </a:xfrm>
              <a:prstGeom prst="line">
                <a:avLst/>
              </a:prstGeom>
              <a:solidFill>
                <a:schemeClr val="accent1"/>
              </a:solidFill>
              <a:ln w="19050" cap="flat" cmpd="sng" algn="ctr">
                <a:solidFill>
                  <a:srgbClr val="00B050"/>
                </a:solidFill>
                <a:prstDash val="solid"/>
                <a:miter lim="800000"/>
                <a:headEnd type="none" w="med" len="med"/>
                <a:tailEnd type="triangle" w="med" len="med"/>
              </a:ln>
              <a:effectLst/>
            </p:spPr>
          </p:cxnSp>
        </p:grpSp>
      </p:grpSp>
      <p:sp>
        <p:nvSpPr>
          <p:cNvPr id="65" name="TextBox 64">
            <a:extLst>
              <a:ext uri="{FF2B5EF4-FFF2-40B4-BE49-F238E27FC236}">
                <a16:creationId xmlns:a16="http://schemas.microsoft.com/office/drawing/2014/main" id="{A37530BD-93D8-FD66-1023-4282D41F7F9B}"/>
              </a:ext>
            </a:extLst>
          </p:cNvPr>
          <p:cNvSpPr txBox="1"/>
          <p:nvPr/>
        </p:nvSpPr>
        <p:spPr>
          <a:xfrm>
            <a:off x="355777" y="5952734"/>
            <a:ext cx="1650645" cy="577081"/>
          </a:xfrm>
          <a:prstGeom prst="rect">
            <a:avLst/>
          </a:prstGeom>
          <a:noFill/>
        </p:spPr>
        <p:txBody>
          <a:bodyPr wrap="square" rtlCol="0">
            <a:spAutoFit/>
          </a:bodyPr>
          <a:lstStyle/>
          <a:p>
            <a:r>
              <a:rPr lang="en-US" sz="1050" b="1" dirty="0"/>
              <a:t>Verification note: </a:t>
            </a:r>
            <a:r>
              <a:rPr lang="en-US" sz="1050" dirty="0"/>
              <a:t>rely directly on the contract for MRI</a:t>
            </a:r>
            <a:endParaRPr lang="en-US" sz="1050" b="1" dirty="0"/>
          </a:p>
        </p:txBody>
      </p:sp>
      <p:cxnSp>
        <p:nvCxnSpPr>
          <p:cNvPr id="66" name="Straight Connector 65">
            <a:extLst>
              <a:ext uri="{FF2B5EF4-FFF2-40B4-BE49-F238E27FC236}">
                <a16:creationId xmlns:a16="http://schemas.microsoft.com/office/drawing/2014/main" id="{B12ED4C1-5902-2B10-A415-0DF46B41AB37}"/>
              </a:ext>
            </a:extLst>
          </p:cNvPr>
          <p:cNvCxnSpPr>
            <a:cxnSpLocks/>
          </p:cNvCxnSpPr>
          <p:nvPr/>
        </p:nvCxnSpPr>
        <p:spPr bwMode="auto">
          <a:xfrm flipV="1">
            <a:off x="1958760" y="5313145"/>
            <a:ext cx="1301559" cy="760754"/>
          </a:xfrm>
          <a:prstGeom prst="line">
            <a:avLst/>
          </a:prstGeom>
          <a:solidFill>
            <a:schemeClr val="accent1"/>
          </a:solidFill>
          <a:ln w="9525" cap="flat" cmpd="sng" algn="ctr">
            <a:solidFill>
              <a:schemeClr val="tx1"/>
            </a:solidFill>
            <a:prstDash val="dash"/>
            <a:miter lim="800000"/>
            <a:headEnd type="none" w="med" len="med"/>
            <a:tailEnd type="none" w="med" len="med"/>
          </a:ln>
          <a:effectLst/>
        </p:spPr>
      </p:cxnSp>
      <p:sp>
        <p:nvSpPr>
          <p:cNvPr id="68" name="TextBox 67">
            <a:extLst>
              <a:ext uri="{FF2B5EF4-FFF2-40B4-BE49-F238E27FC236}">
                <a16:creationId xmlns:a16="http://schemas.microsoft.com/office/drawing/2014/main" id="{44D25D76-C282-29F0-4F2D-F4A34CEA9566}"/>
              </a:ext>
            </a:extLst>
          </p:cNvPr>
          <p:cNvSpPr txBox="1"/>
          <p:nvPr/>
        </p:nvSpPr>
        <p:spPr>
          <a:xfrm>
            <a:off x="3610043" y="6198409"/>
            <a:ext cx="2866957" cy="577081"/>
          </a:xfrm>
          <a:prstGeom prst="rect">
            <a:avLst/>
          </a:prstGeom>
          <a:noFill/>
        </p:spPr>
        <p:txBody>
          <a:bodyPr wrap="square" rtlCol="0">
            <a:spAutoFit/>
          </a:bodyPr>
          <a:lstStyle/>
          <a:p>
            <a:r>
              <a:rPr lang="en-US" sz="1050" b="1" dirty="0"/>
              <a:t>Verification note: </a:t>
            </a:r>
            <a:r>
              <a:rPr lang="en-US" sz="1050" dirty="0"/>
              <a:t>rely on frame conditions for </a:t>
            </a:r>
            <a:r>
              <a:rPr lang="en-US" sz="1050" dirty="0" err="1"/>
              <a:t>display_temp</a:t>
            </a:r>
            <a:r>
              <a:rPr lang="en-US" sz="1050" dirty="0"/>
              <a:t> for MRM and MHS components</a:t>
            </a:r>
            <a:endParaRPr lang="en-US" sz="1050" b="1" dirty="0"/>
          </a:p>
        </p:txBody>
      </p:sp>
      <p:cxnSp>
        <p:nvCxnSpPr>
          <p:cNvPr id="69" name="Straight Connector 68">
            <a:extLst>
              <a:ext uri="{FF2B5EF4-FFF2-40B4-BE49-F238E27FC236}">
                <a16:creationId xmlns:a16="http://schemas.microsoft.com/office/drawing/2014/main" id="{A73E2332-B374-A9A4-9D82-076AC37A850A}"/>
              </a:ext>
            </a:extLst>
          </p:cNvPr>
          <p:cNvCxnSpPr>
            <a:cxnSpLocks/>
          </p:cNvCxnSpPr>
          <p:nvPr/>
        </p:nvCxnSpPr>
        <p:spPr bwMode="auto">
          <a:xfrm flipH="1" flipV="1">
            <a:off x="4656897" y="5833446"/>
            <a:ext cx="632197" cy="362227"/>
          </a:xfrm>
          <a:prstGeom prst="line">
            <a:avLst/>
          </a:prstGeom>
          <a:solidFill>
            <a:schemeClr val="accent1"/>
          </a:solidFill>
          <a:ln w="9525" cap="flat" cmpd="sng" algn="ctr">
            <a:solidFill>
              <a:schemeClr val="tx1"/>
            </a:solidFill>
            <a:prstDash val="dash"/>
            <a:miter lim="800000"/>
            <a:headEnd type="none" w="med" len="med"/>
            <a:tailEnd type="none" w="med" len="med"/>
          </a:ln>
          <a:effectLst/>
        </p:spPr>
      </p:cxnSp>
      <p:cxnSp>
        <p:nvCxnSpPr>
          <p:cNvPr id="71" name="Straight Connector 70">
            <a:extLst>
              <a:ext uri="{FF2B5EF4-FFF2-40B4-BE49-F238E27FC236}">
                <a16:creationId xmlns:a16="http://schemas.microsoft.com/office/drawing/2014/main" id="{4D558CCA-80CE-EEE4-16D0-6C797563A14B}"/>
              </a:ext>
            </a:extLst>
          </p:cNvPr>
          <p:cNvCxnSpPr>
            <a:cxnSpLocks/>
          </p:cNvCxnSpPr>
          <p:nvPr/>
        </p:nvCxnSpPr>
        <p:spPr bwMode="auto">
          <a:xfrm flipV="1">
            <a:off x="5352413" y="5428032"/>
            <a:ext cx="119904" cy="778617"/>
          </a:xfrm>
          <a:prstGeom prst="line">
            <a:avLst/>
          </a:prstGeom>
          <a:solidFill>
            <a:schemeClr val="accent1"/>
          </a:solidFill>
          <a:ln w="9525" cap="flat" cmpd="sng" algn="ctr">
            <a:solidFill>
              <a:schemeClr val="tx1"/>
            </a:solidFill>
            <a:prstDash val="dash"/>
            <a:miter lim="800000"/>
            <a:headEnd type="none" w="med" len="med"/>
            <a:tailEnd type="none" w="med" len="med"/>
          </a:ln>
          <a:effectLst/>
        </p:spPr>
      </p:cxnSp>
    </p:spTree>
    <p:extLst>
      <p:ext uri="{BB962C8B-B14F-4D97-AF65-F5344CB8AC3E}">
        <p14:creationId xmlns:p14="http://schemas.microsoft.com/office/powerpoint/2010/main" val="33486682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CC4C1-2AB4-823A-FC9A-FEF24ED4F70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E6EFE2F-3348-3FC0-AE7D-DBAAFA201DC8}"/>
              </a:ext>
            </a:extLst>
          </p:cNvPr>
          <p:cNvSpPr>
            <a:spLocks noGrp="1"/>
          </p:cNvSpPr>
          <p:nvPr>
            <p:ph type="title"/>
          </p:nvPr>
        </p:nvSpPr>
        <p:spPr/>
        <p:txBody>
          <a:bodyPr/>
          <a:lstStyle/>
          <a:p>
            <a:r>
              <a:rPr lang="en-US" sz="2800" dirty="0"/>
              <a:t>Example: (Regulate) Display Temp Function</a:t>
            </a:r>
          </a:p>
        </p:txBody>
      </p:sp>
      <p:sp>
        <p:nvSpPr>
          <p:cNvPr id="4" name="Slide Number Placeholder 3">
            <a:extLst>
              <a:ext uri="{FF2B5EF4-FFF2-40B4-BE49-F238E27FC236}">
                <a16:creationId xmlns:a16="http://schemas.microsoft.com/office/drawing/2014/main" id="{A952ACCB-CA36-15F6-E991-1A745C41690D}"/>
              </a:ext>
            </a:extLst>
          </p:cNvPr>
          <p:cNvSpPr>
            <a:spLocks noGrp="1"/>
          </p:cNvSpPr>
          <p:nvPr>
            <p:ph type="sldNum" sz="quarter" idx="11"/>
          </p:nvPr>
        </p:nvSpPr>
        <p:spPr/>
        <p:txBody>
          <a:bodyPr/>
          <a:lstStyle/>
          <a:p>
            <a:pPr>
              <a:defRPr/>
            </a:pPr>
            <a:fld id="{C22399C2-1ADD-1549-9753-CEA7C1EED1B8}" type="slidenum">
              <a:rPr lang="en-US" smtClean="0"/>
              <a:pPr>
                <a:defRPr/>
              </a:pPr>
              <a:t>19</a:t>
            </a:fld>
            <a:endParaRPr lang="en-US"/>
          </a:p>
        </p:txBody>
      </p:sp>
      <p:sp>
        <p:nvSpPr>
          <p:cNvPr id="12" name="Text Box 43">
            <a:extLst>
              <a:ext uri="{FF2B5EF4-FFF2-40B4-BE49-F238E27FC236}">
                <a16:creationId xmlns:a16="http://schemas.microsoft.com/office/drawing/2014/main" id="{81D8D62A-4019-281A-15AD-E32C85FA2FA3}"/>
              </a:ext>
            </a:extLst>
          </p:cNvPr>
          <p:cNvSpPr txBox="1">
            <a:spLocks noChangeArrowheads="1"/>
          </p:cNvSpPr>
          <p:nvPr/>
        </p:nvSpPr>
        <p:spPr bwMode="auto">
          <a:xfrm>
            <a:off x="647420" y="3075801"/>
            <a:ext cx="8077200" cy="276999"/>
          </a:xfrm>
          <a:prstGeom prst="rect">
            <a:avLst/>
          </a:prstGeom>
          <a:solidFill>
            <a:schemeClr val="accent2"/>
          </a:solidFill>
          <a:ln w="12700">
            <a:solidFill>
              <a:schemeClr val="tx1"/>
            </a:solidFill>
            <a:miter lim="800000"/>
            <a:headEnd/>
            <a:tailEnd/>
          </a:ln>
          <a:effectLst>
            <a:outerShdw blurRad="63500" dist="35921" dir="2700000" algn="ctr" rotWithShape="0">
              <a:schemeClr val="bg2"/>
            </a:outerShdw>
          </a:effectLst>
        </p:spPr>
        <p:txBody>
          <a:bodyPr wrap="square" anchor="ctr">
            <a:spAutoFit/>
          </a:bodyPr>
          <a:lstStyle/>
          <a:p>
            <a:pPr algn="l">
              <a:defRPr/>
            </a:pPr>
            <a:r>
              <a:rPr lang="en-US" sz="1200" dirty="0">
                <a:latin typeface="Tahoma" pitchFamily="-84" charset="0"/>
              </a:rPr>
              <a:t>Temporal view</a:t>
            </a:r>
          </a:p>
        </p:txBody>
      </p:sp>
      <p:sp>
        <p:nvSpPr>
          <p:cNvPr id="2" name="Rectangle 1">
            <a:extLst>
              <a:ext uri="{FF2B5EF4-FFF2-40B4-BE49-F238E27FC236}">
                <a16:creationId xmlns:a16="http://schemas.microsoft.com/office/drawing/2014/main" id="{085D2E71-454E-683B-D6C5-8295F0A2B75F}"/>
              </a:ext>
            </a:extLst>
          </p:cNvPr>
          <p:cNvSpPr/>
          <p:nvPr/>
        </p:nvSpPr>
        <p:spPr bwMode="auto">
          <a:xfrm>
            <a:off x="2460454" y="1295400"/>
            <a:ext cx="4191000" cy="1524000"/>
          </a:xfrm>
          <a:prstGeom prst="rect">
            <a:avLst/>
          </a:prstGeom>
          <a:noFill/>
          <a:ln w="2857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8" name="Oval 7">
            <a:extLst>
              <a:ext uri="{FF2B5EF4-FFF2-40B4-BE49-F238E27FC236}">
                <a16:creationId xmlns:a16="http://schemas.microsoft.com/office/drawing/2014/main" id="{640C4403-DC66-EDD5-1155-7C99C9775443}"/>
              </a:ext>
            </a:extLst>
          </p:cNvPr>
          <p:cNvSpPr/>
          <p:nvPr/>
        </p:nvSpPr>
        <p:spPr bwMode="auto">
          <a:xfrm>
            <a:off x="2381206" y="2250190"/>
            <a:ext cx="152400" cy="1524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9" name="TextBox 8">
            <a:extLst>
              <a:ext uri="{FF2B5EF4-FFF2-40B4-BE49-F238E27FC236}">
                <a16:creationId xmlns:a16="http://schemas.microsoft.com/office/drawing/2014/main" id="{82B2125A-B4C3-A4DC-AEE6-DD1D8894EF70}"/>
              </a:ext>
            </a:extLst>
          </p:cNvPr>
          <p:cNvSpPr txBox="1"/>
          <p:nvPr/>
        </p:nvSpPr>
        <p:spPr>
          <a:xfrm>
            <a:off x="770185" y="2187890"/>
            <a:ext cx="1650645" cy="276999"/>
          </a:xfrm>
          <a:prstGeom prst="rect">
            <a:avLst/>
          </a:prstGeom>
          <a:noFill/>
        </p:spPr>
        <p:txBody>
          <a:bodyPr wrap="none" rtlCol="0">
            <a:spAutoFit/>
          </a:bodyPr>
          <a:lstStyle/>
          <a:p>
            <a:r>
              <a:rPr lang="en-US" sz="1200" dirty="0" err="1"/>
              <a:t>current_tempWstatus</a:t>
            </a:r>
            <a:endParaRPr lang="en-US" sz="1200" dirty="0"/>
          </a:p>
        </p:txBody>
      </p:sp>
      <p:sp>
        <p:nvSpPr>
          <p:cNvPr id="18" name="TextBox 17">
            <a:extLst>
              <a:ext uri="{FF2B5EF4-FFF2-40B4-BE49-F238E27FC236}">
                <a16:creationId xmlns:a16="http://schemas.microsoft.com/office/drawing/2014/main" id="{0FE05114-5A96-6FAB-E90F-486691421886}"/>
              </a:ext>
            </a:extLst>
          </p:cNvPr>
          <p:cNvSpPr txBox="1"/>
          <p:nvPr/>
        </p:nvSpPr>
        <p:spPr>
          <a:xfrm>
            <a:off x="6691078" y="1406554"/>
            <a:ext cx="1081322" cy="276999"/>
          </a:xfrm>
          <a:prstGeom prst="rect">
            <a:avLst/>
          </a:prstGeom>
          <a:noFill/>
        </p:spPr>
        <p:txBody>
          <a:bodyPr wrap="none" rtlCol="0">
            <a:spAutoFit/>
          </a:bodyPr>
          <a:lstStyle/>
          <a:p>
            <a:r>
              <a:rPr lang="en-US" sz="1200" dirty="0" err="1"/>
              <a:t>display_temp</a:t>
            </a:r>
            <a:endParaRPr lang="en-US" sz="1200" dirty="0"/>
          </a:p>
        </p:txBody>
      </p:sp>
      <p:sp>
        <p:nvSpPr>
          <p:cNvPr id="19" name="Rectangle 18">
            <a:extLst>
              <a:ext uri="{FF2B5EF4-FFF2-40B4-BE49-F238E27FC236}">
                <a16:creationId xmlns:a16="http://schemas.microsoft.com/office/drawing/2014/main" id="{1058B600-9C88-D35B-2AFA-0957692D522D}"/>
              </a:ext>
            </a:extLst>
          </p:cNvPr>
          <p:cNvSpPr/>
          <p:nvPr/>
        </p:nvSpPr>
        <p:spPr bwMode="auto">
          <a:xfrm>
            <a:off x="2891789" y="1619603"/>
            <a:ext cx="838200" cy="525673"/>
          </a:xfrm>
          <a:prstGeom prst="rect">
            <a:avLst/>
          </a:prstGeom>
          <a:noFill/>
          <a:ln w="2857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21" name="Rectangle 20">
            <a:extLst>
              <a:ext uri="{FF2B5EF4-FFF2-40B4-BE49-F238E27FC236}">
                <a16:creationId xmlns:a16="http://schemas.microsoft.com/office/drawing/2014/main" id="{4E4DAB22-964A-2C66-FBC0-86030ACA0BF3}"/>
              </a:ext>
            </a:extLst>
          </p:cNvPr>
          <p:cNvSpPr/>
          <p:nvPr/>
        </p:nvSpPr>
        <p:spPr bwMode="auto">
          <a:xfrm>
            <a:off x="4247428" y="2086452"/>
            <a:ext cx="838200" cy="525673"/>
          </a:xfrm>
          <a:prstGeom prst="rect">
            <a:avLst/>
          </a:prstGeom>
          <a:noFill/>
          <a:ln w="2857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22" name="Rectangle 21">
            <a:extLst>
              <a:ext uri="{FF2B5EF4-FFF2-40B4-BE49-F238E27FC236}">
                <a16:creationId xmlns:a16="http://schemas.microsoft.com/office/drawing/2014/main" id="{BE881FAB-82B6-15DF-7942-8CB587083FCE}"/>
              </a:ext>
            </a:extLst>
          </p:cNvPr>
          <p:cNvSpPr/>
          <p:nvPr/>
        </p:nvSpPr>
        <p:spPr bwMode="auto">
          <a:xfrm>
            <a:off x="5443811" y="1939216"/>
            <a:ext cx="838200" cy="525673"/>
          </a:xfrm>
          <a:prstGeom prst="rect">
            <a:avLst/>
          </a:prstGeom>
          <a:noFill/>
          <a:ln w="2857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26" name="TextBox 25">
            <a:extLst>
              <a:ext uri="{FF2B5EF4-FFF2-40B4-BE49-F238E27FC236}">
                <a16:creationId xmlns:a16="http://schemas.microsoft.com/office/drawing/2014/main" id="{3AAAEE6C-DB21-1850-C469-93BA001F6970}"/>
              </a:ext>
            </a:extLst>
          </p:cNvPr>
          <p:cNvSpPr txBox="1"/>
          <p:nvPr/>
        </p:nvSpPr>
        <p:spPr>
          <a:xfrm>
            <a:off x="2852165" y="1342604"/>
            <a:ext cx="457176" cy="276999"/>
          </a:xfrm>
          <a:prstGeom prst="rect">
            <a:avLst/>
          </a:prstGeom>
          <a:noFill/>
        </p:spPr>
        <p:txBody>
          <a:bodyPr wrap="none" rtlCol="0">
            <a:spAutoFit/>
          </a:bodyPr>
          <a:lstStyle/>
          <a:p>
            <a:r>
              <a:rPr lang="en-US" sz="1200" dirty="0"/>
              <a:t>MRI</a:t>
            </a:r>
          </a:p>
        </p:txBody>
      </p:sp>
      <p:sp>
        <p:nvSpPr>
          <p:cNvPr id="27" name="TextBox 26">
            <a:extLst>
              <a:ext uri="{FF2B5EF4-FFF2-40B4-BE49-F238E27FC236}">
                <a16:creationId xmlns:a16="http://schemas.microsoft.com/office/drawing/2014/main" id="{6B350679-617C-21DE-1974-6083A7811714}"/>
              </a:ext>
            </a:extLst>
          </p:cNvPr>
          <p:cNvSpPr txBox="1"/>
          <p:nvPr/>
        </p:nvSpPr>
        <p:spPr>
          <a:xfrm>
            <a:off x="5384778" y="1683553"/>
            <a:ext cx="492443" cy="276999"/>
          </a:xfrm>
          <a:prstGeom prst="rect">
            <a:avLst/>
          </a:prstGeom>
          <a:noFill/>
        </p:spPr>
        <p:txBody>
          <a:bodyPr wrap="none" rtlCol="0">
            <a:spAutoFit/>
          </a:bodyPr>
          <a:lstStyle/>
          <a:p>
            <a:r>
              <a:rPr lang="en-US" sz="1200" dirty="0"/>
              <a:t>MHS</a:t>
            </a:r>
          </a:p>
        </p:txBody>
      </p:sp>
      <p:sp>
        <p:nvSpPr>
          <p:cNvPr id="28" name="TextBox 27">
            <a:extLst>
              <a:ext uri="{FF2B5EF4-FFF2-40B4-BE49-F238E27FC236}">
                <a16:creationId xmlns:a16="http://schemas.microsoft.com/office/drawing/2014/main" id="{6F491037-88FE-31FA-7E1A-3C70BB0C7095}"/>
              </a:ext>
            </a:extLst>
          </p:cNvPr>
          <p:cNvSpPr txBox="1"/>
          <p:nvPr/>
        </p:nvSpPr>
        <p:spPr>
          <a:xfrm>
            <a:off x="4167929" y="1808880"/>
            <a:ext cx="518091" cy="276999"/>
          </a:xfrm>
          <a:prstGeom prst="rect">
            <a:avLst/>
          </a:prstGeom>
          <a:noFill/>
        </p:spPr>
        <p:txBody>
          <a:bodyPr wrap="none" rtlCol="0">
            <a:spAutoFit/>
          </a:bodyPr>
          <a:lstStyle/>
          <a:p>
            <a:r>
              <a:rPr lang="en-US" sz="1200" dirty="0"/>
              <a:t>MRM</a:t>
            </a:r>
          </a:p>
        </p:txBody>
      </p:sp>
      <p:sp>
        <p:nvSpPr>
          <p:cNvPr id="29" name="Oval 28">
            <a:extLst>
              <a:ext uri="{FF2B5EF4-FFF2-40B4-BE49-F238E27FC236}">
                <a16:creationId xmlns:a16="http://schemas.microsoft.com/office/drawing/2014/main" id="{8FC96DD6-94F1-DE5F-A716-99FB09A72853}"/>
              </a:ext>
            </a:extLst>
          </p:cNvPr>
          <p:cNvSpPr/>
          <p:nvPr/>
        </p:nvSpPr>
        <p:spPr bwMode="auto">
          <a:xfrm>
            <a:off x="6582235" y="1514204"/>
            <a:ext cx="152400" cy="1524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30" name="TextBox 29">
            <a:extLst>
              <a:ext uri="{FF2B5EF4-FFF2-40B4-BE49-F238E27FC236}">
                <a16:creationId xmlns:a16="http://schemas.microsoft.com/office/drawing/2014/main" id="{670306E3-B17C-DE48-7082-0156FBCA86E4}"/>
              </a:ext>
            </a:extLst>
          </p:cNvPr>
          <p:cNvSpPr txBox="1"/>
          <p:nvPr/>
        </p:nvSpPr>
        <p:spPr>
          <a:xfrm>
            <a:off x="644068" y="1283193"/>
            <a:ext cx="1034257" cy="646331"/>
          </a:xfrm>
          <a:prstGeom prst="rect">
            <a:avLst/>
          </a:prstGeom>
          <a:noFill/>
        </p:spPr>
        <p:txBody>
          <a:bodyPr wrap="none" rtlCol="0">
            <a:spAutoFit/>
          </a:bodyPr>
          <a:lstStyle/>
          <a:p>
            <a:r>
              <a:rPr lang="en-US" sz="1200" dirty="0"/>
              <a:t>DRF &lt; MRM</a:t>
            </a:r>
          </a:p>
          <a:p>
            <a:r>
              <a:rPr lang="en-US" sz="1200" dirty="0"/>
              <a:t>MRI &lt; MRM</a:t>
            </a:r>
          </a:p>
          <a:p>
            <a:r>
              <a:rPr lang="en-US" sz="1200" dirty="0"/>
              <a:t>MRM &lt; MHS</a:t>
            </a:r>
          </a:p>
        </p:txBody>
      </p:sp>
      <p:sp>
        <p:nvSpPr>
          <p:cNvPr id="31" name="Rectangle 30">
            <a:extLst>
              <a:ext uri="{FF2B5EF4-FFF2-40B4-BE49-F238E27FC236}">
                <a16:creationId xmlns:a16="http://schemas.microsoft.com/office/drawing/2014/main" id="{3C6174B0-DF1D-BE0F-5E77-05C0BF6D4025}"/>
              </a:ext>
            </a:extLst>
          </p:cNvPr>
          <p:cNvSpPr/>
          <p:nvPr/>
        </p:nvSpPr>
        <p:spPr bwMode="auto">
          <a:xfrm>
            <a:off x="3282373" y="2497612"/>
            <a:ext cx="457201" cy="214699"/>
          </a:xfrm>
          <a:prstGeom prst="rect">
            <a:avLst/>
          </a:prstGeom>
          <a:noFill/>
          <a:ln w="2857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32" name="TextBox 31">
            <a:extLst>
              <a:ext uri="{FF2B5EF4-FFF2-40B4-BE49-F238E27FC236}">
                <a16:creationId xmlns:a16="http://schemas.microsoft.com/office/drawing/2014/main" id="{AF4D9162-970B-6223-05F9-979A36388E9A}"/>
              </a:ext>
            </a:extLst>
          </p:cNvPr>
          <p:cNvSpPr txBox="1"/>
          <p:nvPr/>
        </p:nvSpPr>
        <p:spPr>
          <a:xfrm>
            <a:off x="3170745" y="2250190"/>
            <a:ext cx="465192" cy="276999"/>
          </a:xfrm>
          <a:prstGeom prst="rect">
            <a:avLst/>
          </a:prstGeom>
          <a:noFill/>
        </p:spPr>
        <p:txBody>
          <a:bodyPr wrap="none" rtlCol="0">
            <a:spAutoFit/>
          </a:bodyPr>
          <a:lstStyle/>
          <a:p>
            <a:r>
              <a:rPr lang="en-US" sz="1200" dirty="0"/>
              <a:t>DRF</a:t>
            </a:r>
          </a:p>
        </p:txBody>
      </p:sp>
      <p:sp>
        <p:nvSpPr>
          <p:cNvPr id="33" name="Oval 32">
            <a:extLst>
              <a:ext uri="{FF2B5EF4-FFF2-40B4-BE49-F238E27FC236}">
                <a16:creationId xmlns:a16="http://schemas.microsoft.com/office/drawing/2014/main" id="{975EE013-12A7-26FD-0816-C6C160CC3A66}"/>
              </a:ext>
            </a:extLst>
          </p:cNvPr>
          <p:cNvSpPr/>
          <p:nvPr/>
        </p:nvSpPr>
        <p:spPr bwMode="auto">
          <a:xfrm>
            <a:off x="2795777" y="1757675"/>
            <a:ext cx="152400" cy="152400"/>
          </a:xfrm>
          <a:prstGeom prst="ellipse">
            <a:avLst/>
          </a:prstGeom>
          <a:solidFill>
            <a:schemeClr val="accent5">
              <a:lumMod val="60000"/>
              <a:lumOff val="40000"/>
            </a:schemeClr>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34" name="Oval 33">
            <a:extLst>
              <a:ext uri="{FF2B5EF4-FFF2-40B4-BE49-F238E27FC236}">
                <a16:creationId xmlns:a16="http://schemas.microsoft.com/office/drawing/2014/main" id="{759AAAD2-F817-E136-ED4E-52C00987385B}"/>
              </a:ext>
            </a:extLst>
          </p:cNvPr>
          <p:cNvSpPr/>
          <p:nvPr/>
        </p:nvSpPr>
        <p:spPr bwMode="auto">
          <a:xfrm>
            <a:off x="4746454" y="2279242"/>
            <a:ext cx="152400" cy="152400"/>
          </a:xfrm>
          <a:prstGeom prst="ellipse">
            <a:avLst/>
          </a:prstGeom>
          <a:solidFill>
            <a:schemeClr val="accent5">
              <a:lumMod val="60000"/>
              <a:lumOff val="40000"/>
            </a:schemeClr>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35" name="Oval 34">
            <a:extLst>
              <a:ext uri="{FF2B5EF4-FFF2-40B4-BE49-F238E27FC236}">
                <a16:creationId xmlns:a16="http://schemas.microsoft.com/office/drawing/2014/main" id="{EFBF2122-E6F3-F368-8E73-5316839CDA0D}"/>
              </a:ext>
            </a:extLst>
          </p:cNvPr>
          <p:cNvSpPr/>
          <p:nvPr/>
        </p:nvSpPr>
        <p:spPr bwMode="auto">
          <a:xfrm>
            <a:off x="4860139" y="1992876"/>
            <a:ext cx="152400" cy="152400"/>
          </a:xfrm>
          <a:prstGeom prst="ellipse">
            <a:avLst/>
          </a:prstGeom>
          <a:solidFill>
            <a:schemeClr val="accent5">
              <a:lumMod val="60000"/>
              <a:lumOff val="40000"/>
            </a:schemeClr>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36" name="TextBox 35">
            <a:extLst>
              <a:ext uri="{FF2B5EF4-FFF2-40B4-BE49-F238E27FC236}">
                <a16:creationId xmlns:a16="http://schemas.microsoft.com/office/drawing/2014/main" id="{37F5E033-F9F6-857D-02B0-15DE4A3FE17B}"/>
              </a:ext>
            </a:extLst>
          </p:cNvPr>
          <p:cNvSpPr txBox="1"/>
          <p:nvPr/>
        </p:nvSpPr>
        <p:spPr>
          <a:xfrm>
            <a:off x="4329660" y="2314140"/>
            <a:ext cx="564578" cy="276999"/>
          </a:xfrm>
          <a:prstGeom prst="rect">
            <a:avLst/>
          </a:prstGeom>
          <a:noFill/>
        </p:spPr>
        <p:txBody>
          <a:bodyPr wrap="none" rtlCol="0">
            <a:spAutoFit/>
          </a:bodyPr>
          <a:lstStyle/>
          <a:p>
            <a:r>
              <a:rPr lang="en-US" sz="1200" dirty="0"/>
              <a:t>mode</a:t>
            </a:r>
          </a:p>
        </p:txBody>
      </p:sp>
      <p:sp>
        <p:nvSpPr>
          <p:cNvPr id="37" name="TextBox 36">
            <a:extLst>
              <a:ext uri="{FF2B5EF4-FFF2-40B4-BE49-F238E27FC236}">
                <a16:creationId xmlns:a16="http://schemas.microsoft.com/office/drawing/2014/main" id="{B985D728-9647-94AC-C28D-290AAF54FE93}"/>
              </a:ext>
            </a:extLst>
          </p:cNvPr>
          <p:cNvSpPr txBox="1"/>
          <p:nvPr/>
        </p:nvSpPr>
        <p:spPr>
          <a:xfrm>
            <a:off x="4732345" y="1743411"/>
            <a:ext cx="564578" cy="276999"/>
          </a:xfrm>
          <a:prstGeom prst="rect">
            <a:avLst/>
          </a:prstGeom>
          <a:noFill/>
        </p:spPr>
        <p:txBody>
          <a:bodyPr wrap="none" rtlCol="0">
            <a:spAutoFit/>
          </a:bodyPr>
          <a:lstStyle/>
          <a:p>
            <a:r>
              <a:rPr lang="en-US" sz="1200" dirty="0"/>
              <a:t>mode</a:t>
            </a:r>
          </a:p>
        </p:txBody>
      </p:sp>
      <p:sp>
        <p:nvSpPr>
          <p:cNvPr id="38" name="TextBox 37">
            <a:extLst>
              <a:ext uri="{FF2B5EF4-FFF2-40B4-BE49-F238E27FC236}">
                <a16:creationId xmlns:a16="http://schemas.microsoft.com/office/drawing/2014/main" id="{B0359A34-F9C7-EA3F-CD67-B1042235D3E6}"/>
              </a:ext>
            </a:extLst>
          </p:cNvPr>
          <p:cNvSpPr txBox="1"/>
          <p:nvPr/>
        </p:nvSpPr>
        <p:spPr>
          <a:xfrm>
            <a:off x="2399313" y="1841480"/>
            <a:ext cx="564578" cy="276999"/>
          </a:xfrm>
          <a:prstGeom prst="rect">
            <a:avLst/>
          </a:prstGeom>
          <a:noFill/>
        </p:spPr>
        <p:txBody>
          <a:bodyPr wrap="none" rtlCol="0">
            <a:spAutoFit/>
          </a:bodyPr>
          <a:lstStyle/>
          <a:p>
            <a:r>
              <a:rPr lang="en-US" sz="1200" dirty="0"/>
              <a:t>mode</a:t>
            </a:r>
          </a:p>
        </p:txBody>
      </p:sp>
      <p:sp>
        <p:nvSpPr>
          <p:cNvPr id="39" name="Oval 38">
            <a:extLst>
              <a:ext uri="{FF2B5EF4-FFF2-40B4-BE49-F238E27FC236}">
                <a16:creationId xmlns:a16="http://schemas.microsoft.com/office/drawing/2014/main" id="{D4E075F9-ADB6-DBCD-8E51-A0B04D184594}"/>
              </a:ext>
            </a:extLst>
          </p:cNvPr>
          <p:cNvSpPr/>
          <p:nvPr/>
        </p:nvSpPr>
        <p:spPr bwMode="auto">
          <a:xfrm>
            <a:off x="2934449" y="2083981"/>
            <a:ext cx="152400" cy="152400"/>
          </a:xfrm>
          <a:prstGeom prst="ellipse">
            <a:avLst/>
          </a:prstGeom>
          <a:solidFill>
            <a:schemeClr val="accent5">
              <a:lumMod val="60000"/>
              <a:lumOff val="40000"/>
            </a:schemeClr>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40" name="Oval 39">
            <a:extLst>
              <a:ext uri="{FF2B5EF4-FFF2-40B4-BE49-F238E27FC236}">
                <a16:creationId xmlns:a16="http://schemas.microsoft.com/office/drawing/2014/main" id="{31C87E94-0765-3435-2C8A-F5D20607F2F2}"/>
              </a:ext>
            </a:extLst>
          </p:cNvPr>
          <p:cNvSpPr/>
          <p:nvPr/>
        </p:nvSpPr>
        <p:spPr bwMode="auto">
          <a:xfrm>
            <a:off x="3651033" y="1689080"/>
            <a:ext cx="152400" cy="152400"/>
          </a:xfrm>
          <a:prstGeom prst="ellipse">
            <a:avLst/>
          </a:prstGeom>
          <a:solidFill>
            <a:schemeClr val="accent5">
              <a:lumMod val="60000"/>
              <a:lumOff val="40000"/>
            </a:schemeClr>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41" name="TextBox 40">
            <a:extLst>
              <a:ext uri="{FF2B5EF4-FFF2-40B4-BE49-F238E27FC236}">
                <a16:creationId xmlns:a16="http://schemas.microsoft.com/office/drawing/2014/main" id="{4D5234FB-5F4B-2522-63D4-F575B2727FB9}"/>
              </a:ext>
            </a:extLst>
          </p:cNvPr>
          <p:cNvSpPr txBox="1"/>
          <p:nvPr/>
        </p:nvSpPr>
        <p:spPr>
          <a:xfrm>
            <a:off x="3741332" y="1436940"/>
            <a:ext cx="1081322" cy="276999"/>
          </a:xfrm>
          <a:prstGeom prst="rect">
            <a:avLst/>
          </a:prstGeom>
          <a:noFill/>
        </p:spPr>
        <p:txBody>
          <a:bodyPr wrap="none" rtlCol="0">
            <a:spAutoFit/>
          </a:bodyPr>
          <a:lstStyle/>
          <a:p>
            <a:r>
              <a:rPr lang="en-US" sz="1200" dirty="0" err="1"/>
              <a:t>display_temp</a:t>
            </a:r>
            <a:endParaRPr lang="en-US" sz="1200" dirty="0"/>
          </a:p>
        </p:txBody>
      </p:sp>
      <p:cxnSp>
        <p:nvCxnSpPr>
          <p:cNvPr id="43" name="Straight Arrow Connector 42">
            <a:extLst>
              <a:ext uri="{FF2B5EF4-FFF2-40B4-BE49-F238E27FC236}">
                <a16:creationId xmlns:a16="http://schemas.microsoft.com/office/drawing/2014/main" id="{30206F71-BD5A-38C5-5C89-88D51F81BE99}"/>
              </a:ext>
            </a:extLst>
          </p:cNvPr>
          <p:cNvCxnSpPr>
            <a:cxnSpLocks/>
            <a:endCxn id="39" idx="3"/>
          </p:cNvCxnSpPr>
          <p:nvPr/>
        </p:nvCxnSpPr>
        <p:spPr bwMode="auto">
          <a:xfrm flipV="1">
            <a:off x="2533606" y="2214063"/>
            <a:ext cx="423161" cy="85693"/>
          </a:xfrm>
          <a:prstGeom prst="straightConnector1">
            <a:avLst/>
          </a:prstGeom>
          <a:solidFill>
            <a:schemeClr val="accent1"/>
          </a:solidFill>
          <a:ln w="19050" cap="flat" cmpd="sng" algn="ctr">
            <a:solidFill>
              <a:srgbClr val="00B050"/>
            </a:solidFill>
            <a:prstDash val="dash"/>
            <a:miter lim="800000"/>
            <a:headEnd type="none" w="med" len="med"/>
            <a:tailEnd type="triangle"/>
          </a:ln>
          <a:effectLst/>
        </p:spPr>
      </p:cxnSp>
      <p:cxnSp>
        <p:nvCxnSpPr>
          <p:cNvPr id="46" name="Straight Arrow Connector 45">
            <a:extLst>
              <a:ext uri="{FF2B5EF4-FFF2-40B4-BE49-F238E27FC236}">
                <a16:creationId xmlns:a16="http://schemas.microsoft.com/office/drawing/2014/main" id="{50CB9D68-E052-8EB2-CE3D-5679A5FF0174}"/>
              </a:ext>
            </a:extLst>
          </p:cNvPr>
          <p:cNvCxnSpPr>
            <a:cxnSpLocks/>
            <a:endCxn id="29" idx="2"/>
          </p:cNvCxnSpPr>
          <p:nvPr/>
        </p:nvCxnSpPr>
        <p:spPr bwMode="auto">
          <a:xfrm flipV="1">
            <a:off x="3828535" y="1590404"/>
            <a:ext cx="2753700" cy="174876"/>
          </a:xfrm>
          <a:prstGeom prst="straightConnector1">
            <a:avLst/>
          </a:prstGeom>
          <a:solidFill>
            <a:schemeClr val="accent1"/>
          </a:solidFill>
          <a:ln w="19050" cap="flat" cmpd="sng" algn="ctr">
            <a:solidFill>
              <a:srgbClr val="00B050"/>
            </a:solidFill>
            <a:prstDash val="dash"/>
            <a:miter lim="800000"/>
            <a:headEnd type="none" w="med" len="med"/>
            <a:tailEnd type="triangle"/>
          </a:ln>
          <a:effectLst/>
        </p:spPr>
      </p:cxnSp>
      <p:cxnSp>
        <p:nvCxnSpPr>
          <p:cNvPr id="23" name="Straight Arrow Connector 22">
            <a:extLst>
              <a:ext uri="{FF2B5EF4-FFF2-40B4-BE49-F238E27FC236}">
                <a16:creationId xmlns:a16="http://schemas.microsoft.com/office/drawing/2014/main" id="{F38248F3-1D37-8308-D47D-AF5525280A6F}"/>
              </a:ext>
            </a:extLst>
          </p:cNvPr>
          <p:cNvCxnSpPr>
            <a:cxnSpLocks/>
            <a:stCxn id="33" idx="6"/>
            <a:endCxn id="40" idx="2"/>
          </p:cNvCxnSpPr>
          <p:nvPr/>
        </p:nvCxnSpPr>
        <p:spPr bwMode="auto">
          <a:xfrm flipV="1">
            <a:off x="2948177" y="1765280"/>
            <a:ext cx="702856" cy="68595"/>
          </a:xfrm>
          <a:prstGeom prst="straightConnector1">
            <a:avLst/>
          </a:prstGeom>
          <a:solidFill>
            <a:schemeClr val="accent1"/>
          </a:solidFill>
          <a:ln w="38100" cap="flat" cmpd="sng" algn="ctr">
            <a:solidFill>
              <a:srgbClr val="0070C0"/>
            </a:solidFill>
            <a:prstDash val="solid"/>
            <a:miter lim="800000"/>
            <a:headEnd type="none" w="med" len="med"/>
            <a:tailEnd type="triangle"/>
          </a:ln>
          <a:effectLst/>
        </p:spPr>
      </p:cxnSp>
      <p:cxnSp>
        <p:nvCxnSpPr>
          <p:cNvPr id="44" name="Straight Arrow Connector 43">
            <a:extLst>
              <a:ext uri="{FF2B5EF4-FFF2-40B4-BE49-F238E27FC236}">
                <a16:creationId xmlns:a16="http://schemas.microsoft.com/office/drawing/2014/main" id="{DFE4F3F4-9558-2DCB-2E6F-DAF5B413C7CC}"/>
              </a:ext>
            </a:extLst>
          </p:cNvPr>
          <p:cNvCxnSpPr>
            <a:cxnSpLocks/>
            <a:endCxn id="40" idx="3"/>
          </p:cNvCxnSpPr>
          <p:nvPr/>
        </p:nvCxnSpPr>
        <p:spPr bwMode="auto">
          <a:xfrm flipV="1">
            <a:off x="3083075" y="1819162"/>
            <a:ext cx="590276" cy="304037"/>
          </a:xfrm>
          <a:prstGeom prst="straightConnector1">
            <a:avLst/>
          </a:prstGeom>
          <a:solidFill>
            <a:schemeClr val="accent1"/>
          </a:solidFill>
          <a:ln w="38100" cap="flat" cmpd="sng" algn="ctr">
            <a:solidFill>
              <a:srgbClr val="0070C0"/>
            </a:solidFill>
            <a:prstDash val="solid"/>
            <a:miter lim="800000"/>
            <a:headEnd type="none" w="med" len="med"/>
            <a:tailEnd type="triangle"/>
          </a:ln>
          <a:effectLst/>
        </p:spPr>
      </p:cxnSp>
      <p:grpSp>
        <p:nvGrpSpPr>
          <p:cNvPr id="56" name="Group 55">
            <a:extLst>
              <a:ext uri="{FF2B5EF4-FFF2-40B4-BE49-F238E27FC236}">
                <a16:creationId xmlns:a16="http://schemas.microsoft.com/office/drawing/2014/main" id="{0346F773-2144-D7AC-C182-4FD5C3071266}"/>
              </a:ext>
            </a:extLst>
          </p:cNvPr>
          <p:cNvGrpSpPr/>
          <p:nvPr/>
        </p:nvGrpSpPr>
        <p:grpSpPr>
          <a:xfrm>
            <a:off x="2662052" y="1387509"/>
            <a:ext cx="2313002" cy="551707"/>
            <a:chOff x="2411398" y="4658868"/>
            <a:chExt cx="2313002" cy="551707"/>
          </a:xfrm>
        </p:grpSpPr>
        <p:cxnSp>
          <p:nvCxnSpPr>
            <p:cNvPr id="58" name="Straight Connector 57">
              <a:extLst>
                <a:ext uri="{FF2B5EF4-FFF2-40B4-BE49-F238E27FC236}">
                  <a16:creationId xmlns:a16="http://schemas.microsoft.com/office/drawing/2014/main" id="{EBEF251E-17B6-CFA7-C5D0-AEFEACD7F878}"/>
                </a:ext>
              </a:extLst>
            </p:cNvPr>
            <p:cNvCxnSpPr>
              <a:cxnSpLocks/>
            </p:cNvCxnSpPr>
            <p:nvPr/>
          </p:nvCxnSpPr>
          <p:spPr bwMode="auto">
            <a:xfrm>
              <a:off x="2422871" y="4665237"/>
              <a:ext cx="8077" cy="447602"/>
            </a:xfrm>
            <a:prstGeom prst="line">
              <a:avLst/>
            </a:prstGeom>
            <a:solidFill>
              <a:schemeClr val="accent1"/>
            </a:solidFill>
            <a:ln w="19050" cap="flat" cmpd="sng" algn="ctr">
              <a:solidFill>
                <a:srgbClr val="00B050"/>
              </a:solidFill>
              <a:prstDash val="solid"/>
              <a:miter lim="800000"/>
              <a:headEnd type="none" w="med" len="med"/>
              <a:tailEnd type="none" w="med" len="med"/>
            </a:ln>
            <a:effectLst/>
          </p:spPr>
        </p:cxnSp>
        <p:grpSp>
          <p:nvGrpSpPr>
            <p:cNvPr id="60" name="Group 59">
              <a:extLst>
                <a:ext uri="{FF2B5EF4-FFF2-40B4-BE49-F238E27FC236}">
                  <a16:creationId xmlns:a16="http://schemas.microsoft.com/office/drawing/2014/main" id="{88B7E7FF-E8DF-FCC7-0ABA-2EB6F4F355DA}"/>
                </a:ext>
              </a:extLst>
            </p:cNvPr>
            <p:cNvGrpSpPr/>
            <p:nvPr/>
          </p:nvGrpSpPr>
          <p:grpSpPr>
            <a:xfrm>
              <a:off x="2411398" y="4658868"/>
              <a:ext cx="2313002" cy="551707"/>
              <a:chOff x="2411398" y="4658868"/>
              <a:chExt cx="2313002" cy="551707"/>
            </a:xfrm>
          </p:grpSpPr>
          <p:cxnSp>
            <p:nvCxnSpPr>
              <p:cNvPr id="62" name="Straight Connector 61">
                <a:extLst>
                  <a:ext uri="{FF2B5EF4-FFF2-40B4-BE49-F238E27FC236}">
                    <a16:creationId xmlns:a16="http://schemas.microsoft.com/office/drawing/2014/main" id="{4031C7BC-8BFF-3F0A-E8B0-553023155906}"/>
                  </a:ext>
                </a:extLst>
              </p:cNvPr>
              <p:cNvCxnSpPr/>
              <p:nvPr/>
            </p:nvCxnSpPr>
            <p:spPr bwMode="auto">
              <a:xfrm flipV="1">
                <a:off x="4724400" y="4677913"/>
                <a:ext cx="0" cy="532662"/>
              </a:xfrm>
              <a:prstGeom prst="line">
                <a:avLst/>
              </a:prstGeom>
              <a:solidFill>
                <a:schemeClr val="accent1"/>
              </a:solidFill>
              <a:ln w="19050" cap="flat" cmpd="sng" algn="ctr">
                <a:solidFill>
                  <a:srgbClr val="00B050"/>
                </a:solidFill>
                <a:prstDash val="solid"/>
                <a:miter lim="800000"/>
                <a:headEnd type="none" w="med" len="med"/>
                <a:tailEnd type="none" w="med" len="med"/>
              </a:ln>
              <a:effectLst/>
            </p:spPr>
          </p:cxnSp>
          <p:cxnSp>
            <p:nvCxnSpPr>
              <p:cNvPr id="63" name="Straight Connector 62">
                <a:extLst>
                  <a:ext uri="{FF2B5EF4-FFF2-40B4-BE49-F238E27FC236}">
                    <a16:creationId xmlns:a16="http://schemas.microsoft.com/office/drawing/2014/main" id="{EC06099F-43C7-1961-3E4B-1C8012D1A9E3}"/>
                  </a:ext>
                </a:extLst>
              </p:cNvPr>
              <p:cNvCxnSpPr>
                <a:cxnSpLocks/>
              </p:cNvCxnSpPr>
              <p:nvPr/>
            </p:nvCxnSpPr>
            <p:spPr bwMode="auto">
              <a:xfrm flipH="1" flipV="1">
                <a:off x="2411398" y="4658868"/>
                <a:ext cx="2313002" cy="11817"/>
              </a:xfrm>
              <a:prstGeom prst="line">
                <a:avLst/>
              </a:prstGeom>
              <a:solidFill>
                <a:schemeClr val="accent1"/>
              </a:solidFill>
              <a:ln w="19050" cap="flat" cmpd="sng" algn="ctr">
                <a:solidFill>
                  <a:srgbClr val="00B050"/>
                </a:solidFill>
                <a:prstDash val="solid"/>
                <a:miter lim="800000"/>
                <a:headEnd type="none" w="med" len="med"/>
                <a:tailEnd type="none" w="med" len="med"/>
              </a:ln>
              <a:effectLst/>
            </p:spPr>
          </p:cxnSp>
          <p:cxnSp>
            <p:nvCxnSpPr>
              <p:cNvPr id="64" name="Straight Connector 63">
                <a:extLst>
                  <a:ext uri="{FF2B5EF4-FFF2-40B4-BE49-F238E27FC236}">
                    <a16:creationId xmlns:a16="http://schemas.microsoft.com/office/drawing/2014/main" id="{CF022CD3-44B2-7AA2-D2A7-ADF8E62A155C}"/>
                  </a:ext>
                </a:extLst>
              </p:cNvPr>
              <p:cNvCxnSpPr>
                <a:cxnSpLocks/>
              </p:cNvCxnSpPr>
              <p:nvPr/>
            </p:nvCxnSpPr>
            <p:spPr bwMode="auto">
              <a:xfrm>
                <a:off x="2430948" y="5122701"/>
                <a:ext cx="190375" cy="0"/>
              </a:xfrm>
              <a:prstGeom prst="line">
                <a:avLst/>
              </a:prstGeom>
              <a:solidFill>
                <a:schemeClr val="accent1"/>
              </a:solidFill>
              <a:ln w="19050" cap="flat" cmpd="sng" algn="ctr">
                <a:solidFill>
                  <a:srgbClr val="00B050"/>
                </a:solidFill>
                <a:prstDash val="solid"/>
                <a:miter lim="800000"/>
                <a:headEnd type="none" w="med" len="med"/>
                <a:tailEnd type="triangle" w="med" len="med"/>
              </a:ln>
              <a:effectLst/>
            </p:spPr>
          </p:cxnSp>
        </p:grpSp>
      </p:grpSp>
      <p:sp>
        <p:nvSpPr>
          <p:cNvPr id="24" name="TextBox 23">
            <a:extLst>
              <a:ext uri="{FF2B5EF4-FFF2-40B4-BE49-F238E27FC236}">
                <a16:creationId xmlns:a16="http://schemas.microsoft.com/office/drawing/2014/main" id="{58D7D40E-79E5-9D42-B139-7E14212BA24A}"/>
              </a:ext>
            </a:extLst>
          </p:cNvPr>
          <p:cNvSpPr txBox="1"/>
          <p:nvPr/>
        </p:nvSpPr>
        <p:spPr>
          <a:xfrm>
            <a:off x="15023" y="4801587"/>
            <a:ext cx="901657" cy="276999"/>
          </a:xfrm>
          <a:prstGeom prst="rect">
            <a:avLst/>
          </a:prstGeom>
          <a:noFill/>
        </p:spPr>
        <p:txBody>
          <a:bodyPr wrap="none" rtlCol="0">
            <a:spAutoFit/>
          </a:bodyPr>
          <a:lstStyle/>
          <a:p>
            <a:r>
              <a:rPr lang="en-US" sz="1200" dirty="0" err="1"/>
              <a:t>Reg_begin</a:t>
            </a:r>
            <a:endParaRPr lang="en-US" sz="1200" dirty="0"/>
          </a:p>
        </p:txBody>
      </p:sp>
      <p:sp>
        <p:nvSpPr>
          <p:cNvPr id="25" name="TextBox 24">
            <a:extLst>
              <a:ext uri="{FF2B5EF4-FFF2-40B4-BE49-F238E27FC236}">
                <a16:creationId xmlns:a16="http://schemas.microsoft.com/office/drawing/2014/main" id="{14A07D46-4F5B-382B-A9E0-079127641378}"/>
              </a:ext>
            </a:extLst>
          </p:cNvPr>
          <p:cNvSpPr txBox="1"/>
          <p:nvPr/>
        </p:nvSpPr>
        <p:spPr>
          <a:xfrm>
            <a:off x="2363547" y="4300332"/>
            <a:ext cx="744114" cy="461665"/>
          </a:xfrm>
          <a:prstGeom prst="rect">
            <a:avLst/>
          </a:prstGeom>
          <a:noFill/>
        </p:spPr>
        <p:txBody>
          <a:bodyPr wrap="none" rtlCol="0">
            <a:spAutoFit/>
          </a:bodyPr>
          <a:lstStyle/>
          <a:p>
            <a:r>
              <a:rPr lang="en-US" dirty="0"/>
              <a:t>DRF</a:t>
            </a:r>
          </a:p>
        </p:txBody>
      </p:sp>
      <p:sp>
        <p:nvSpPr>
          <p:cNvPr id="42" name="TextBox 41">
            <a:extLst>
              <a:ext uri="{FF2B5EF4-FFF2-40B4-BE49-F238E27FC236}">
                <a16:creationId xmlns:a16="http://schemas.microsoft.com/office/drawing/2014/main" id="{04CABAC7-91EC-CBA0-100A-C9050E044F90}"/>
              </a:ext>
            </a:extLst>
          </p:cNvPr>
          <p:cNvSpPr txBox="1"/>
          <p:nvPr/>
        </p:nvSpPr>
        <p:spPr>
          <a:xfrm>
            <a:off x="770185" y="3505200"/>
            <a:ext cx="7154615" cy="261610"/>
          </a:xfrm>
          <a:prstGeom prst="rect">
            <a:avLst/>
          </a:prstGeom>
          <a:noFill/>
        </p:spPr>
        <p:txBody>
          <a:bodyPr wrap="square" rtlCol="0">
            <a:spAutoFit/>
          </a:bodyPr>
          <a:lstStyle/>
          <a:p>
            <a:r>
              <a:rPr lang="en-US" sz="1100" b="1" dirty="0">
                <a:solidFill>
                  <a:srgbClr val="FF0000"/>
                </a:solidFill>
              </a:rPr>
              <a:t>Warning</a:t>
            </a:r>
            <a:r>
              <a:rPr lang="en-US" sz="1100" dirty="0">
                <a:solidFill>
                  <a:srgbClr val="FF0000"/>
                </a:solidFill>
              </a:rPr>
              <a:t>: This is only intuition, I can’t figure out the exact semantics for the temporal precedence relation</a:t>
            </a:r>
          </a:p>
        </p:txBody>
      </p:sp>
      <p:cxnSp>
        <p:nvCxnSpPr>
          <p:cNvPr id="47" name="Straight Connector 46">
            <a:extLst>
              <a:ext uri="{FF2B5EF4-FFF2-40B4-BE49-F238E27FC236}">
                <a16:creationId xmlns:a16="http://schemas.microsoft.com/office/drawing/2014/main" id="{A3363C84-FF31-4A3C-22C5-C2E8F9AA654C}"/>
              </a:ext>
            </a:extLst>
          </p:cNvPr>
          <p:cNvCxnSpPr>
            <a:cxnSpLocks/>
            <a:endCxn id="25" idx="1"/>
          </p:cNvCxnSpPr>
          <p:nvPr/>
        </p:nvCxnSpPr>
        <p:spPr bwMode="auto">
          <a:xfrm flipV="1">
            <a:off x="1999314" y="4531165"/>
            <a:ext cx="364233" cy="354778"/>
          </a:xfrm>
          <a:prstGeom prst="line">
            <a:avLst/>
          </a:prstGeom>
          <a:solidFill>
            <a:schemeClr val="accent1"/>
          </a:solidFill>
          <a:ln w="9525" cap="flat" cmpd="sng" algn="ctr">
            <a:solidFill>
              <a:srgbClr val="00B050"/>
            </a:solidFill>
            <a:prstDash val="dash"/>
            <a:miter lim="800000"/>
            <a:headEnd type="none" w="med" len="med"/>
            <a:tailEnd type="none" w="med" len="med"/>
          </a:ln>
          <a:effectLst/>
        </p:spPr>
      </p:cxnSp>
      <p:sp>
        <p:nvSpPr>
          <p:cNvPr id="49" name="TextBox 48">
            <a:extLst>
              <a:ext uri="{FF2B5EF4-FFF2-40B4-BE49-F238E27FC236}">
                <a16:creationId xmlns:a16="http://schemas.microsoft.com/office/drawing/2014/main" id="{C3645A7A-FEAB-F04F-FAB7-AF64129F6408}"/>
              </a:ext>
            </a:extLst>
          </p:cNvPr>
          <p:cNvSpPr txBox="1"/>
          <p:nvPr/>
        </p:nvSpPr>
        <p:spPr>
          <a:xfrm>
            <a:off x="2336438" y="5195724"/>
            <a:ext cx="728084" cy="461665"/>
          </a:xfrm>
          <a:prstGeom prst="rect">
            <a:avLst/>
          </a:prstGeom>
          <a:noFill/>
        </p:spPr>
        <p:txBody>
          <a:bodyPr wrap="none" rtlCol="0">
            <a:spAutoFit/>
          </a:bodyPr>
          <a:lstStyle/>
          <a:p>
            <a:r>
              <a:rPr lang="en-US" dirty="0"/>
              <a:t>MRI</a:t>
            </a:r>
          </a:p>
        </p:txBody>
      </p:sp>
      <p:sp>
        <p:nvSpPr>
          <p:cNvPr id="50" name="TextBox 49">
            <a:extLst>
              <a:ext uri="{FF2B5EF4-FFF2-40B4-BE49-F238E27FC236}">
                <a16:creationId xmlns:a16="http://schemas.microsoft.com/office/drawing/2014/main" id="{5A59DF78-2A18-4955-73F6-995CC3EE7E69}"/>
              </a:ext>
            </a:extLst>
          </p:cNvPr>
          <p:cNvSpPr txBox="1"/>
          <p:nvPr/>
        </p:nvSpPr>
        <p:spPr>
          <a:xfrm>
            <a:off x="2433985" y="2297459"/>
            <a:ext cx="971741" cy="261610"/>
          </a:xfrm>
          <a:prstGeom prst="rect">
            <a:avLst/>
          </a:prstGeom>
          <a:noFill/>
        </p:spPr>
        <p:txBody>
          <a:bodyPr wrap="none" rtlCol="0">
            <a:spAutoFit/>
          </a:bodyPr>
          <a:lstStyle/>
          <a:p>
            <a:r>
              <a:rPr lang="en-US" sz="1100" dirty="0"/>
              <a:t>@</a:t>
            </a:r>
            <a:r>
              <a:rPr lang="en-US" sz="1100" dirty="0" err="1"/>
              <a:t>Reg_begin</a:t>
            </a:r>
            <a:endParaRPr lang="en-US" sz="1100" dirty="0"/>
          </a:p>
        </p:txBody>
      </p:sp>
      <p:sp>
        <p:nvSpPr>
          <p:cNvPr id="51" name="TextBox 50">
            <a:extLst>
              <a:ext uri="{FF2B5EF4-FFF2-40B4-BE49-F238E27FC236}">
                <a16:creationId xmlns:a16="http://schemas.microsoft.com/office/drawing/2014/main" id="{0C39B4D8-E604-5F1E-E89D-A95B796BCDFE}"/>
              </a:ext>
            </a:extLst>
          </p:cNvPr>
          <p:cNvSpPr txBox="1"/>
          <p:nvPr/>
        </p:nvSpPr>
        <p:spPr>
          <a:xfrm>
            <a:off x="5630999" y="1342604"/>
            <a:ext cx="861133" cy="261610"/>
          </a:xfrm>
          <a:prstGeom prst="rect">
            <a:avLst/>
          </a:prstGeom>
          <a:noFill/>
        </p:spPr>
        <p:txBody>
          <a:bodyPr wrap="none" rtlCol="0">
            <a:spAutoFit/>
          </a:bodyPr>
          <a:lstStyle/>
          <a:p>
            <a:r>
              <a:rPr lang="en-US" sz="1100" dirty="0"/>
              <a:t>@</a:t>
            </a:r>
            <a:r>
              <a:rPr lang="en-US" sz="1100" dirty="0" err="1"/>
              <a:t>Reg_end</a:t>
            </a:r>
            <a:endParaRPr lang="en-US" sz="1100" dirty="0"/>
          </a:p>
        </p:txBody>
      </p:sp>
      <p:sp>
        <p:nvSpPr>
          <p:cNvPr id="52" name="TextBox 51">
            <a:extLst>
              <a:ext uri="{FF2B5EF4-FFF2-40B4-BE49-F238E27FC236}">
                <a16:creationId xmlns:a16="http://schemas.microsoft.com/office/drawing/2014/main" id="{7BD50E4B-790D-F0D2-C4BA-A887FCF6EC16}"/>
              </a:ext>
            </a:extLst>
          </p:cNvPr>
          <p:cNvSpPr txBox="1"/>
          <p:nvPr/>
        </p:nvSpPr>
        <p:spPr>
          <a:xfrm>
            <a:off x="1775330" y="1507252"/>
            <a:ext cx="971741" cy="261610"/>
          </a:xfrm>
          <a:prstGeom prst="rect">
            <a:avLst/>
          </a:prstGeom>
          <a:noFill/>
        </p:spPr>
        <p:txBody>
          <a:bodyPr wrap="none" rtlCol="0">
            <a:spAutoFit/>
          </a:bodyPr>
          <a:lstStyle/>
          <a:p>
            <a:r>
              <a:rPr lang="en-US" sz="1100" dirty="0"/>
              <a:t>@</a:t>
            </a:r>
            <a:r>
              <a:rPr lang="en-US" sz="1100" dirty="0" err="1"/>
              <a:t>Reg_begin</a:t>
            </a:r>
            <a:endParaRPr lang="en-US" sz="1100" dirty="0"/>
          </a:p>
        </p:txBody>
      </p:sp>
      <p:sp>
        <p:nvSpPr>
          <p:cNvPr id="53" name="TextBox 52">
            <a:extLst>
              <a:ext uri="{FF2B5EF4-FFF2-40B4-BE49-F238E27FC236}">
                <a16:creationId xmlns:a16="http://schemas.microsoft.com/office/drawing/2014/main" id="{118BD9D4-6B7A-43EB-F665-716451881C12}"/>
              </a:ext>
            </a:extLst>
          </p:cNvPr>
          <p:cNvSpPr txBox="1"/>
          <p:nvPr/>
        </p:nvSpPr>
        <p:spPr>
          <a:xfrm>
            <a:off x="6700827" y="1851158"/>
            <a:ext cx="2301003" cy="1061829"/>
          </a:xfrm>
          <a:prstGeom prst="rect">
            <a:avLst/>
          </a:prstGeom>
          <a:noFill/>
        </p:spPr>
        <p:txBody>
          <a:bodyPr wrap="square" rtlCol="0">
            <a:spAutoFit/>
          </a:bodyPr>
          <a:lstStyle/>
          <a:p>
            <a:r>
              <a:rPr lang="en-US" sz="1050" b="1" dirty="0"/>
              <a:t>Note</a:t>
            </a:r>
            <a:r>
              <a:rPr lang="en-US" sz="1050" dirty="0"/>
              <a:t>: Refinement also requires a </a:t>
            </a:r>
            <a:r>
              <a:rPr lang="en-US" sz="1050" b="1" i="1" dirty="0"/>
              <a:t>temporal refinement </a:t>
            </a:r>
            <a:r>
              <a:rPr lang="en-US" sz="1050" i="1" dirty="0"/>
              <a:t>– an association of the refined state to a refined temporal point associated with temporal points in the refinement subsystem</a:t>
            </a:r>
            <a:endParaRPr lang="en-US" sz="1050" dirty="0"/>
          </a:p>
        </p:txBody>
      </p:sp>
      <p:cxnSp>
        <p:nvCxnSpPr>
          <p:cNvPr id="54" name="Straight Connector 53">
            <a:extLst>
              <a:ext uri="{FF2B5EF4-FFF2-40B4-BE49-F238E27FC236}">
                <a16:creationId xmlns:a16="http://schemas.microsoft.com/office/drawing/2014/main" id="{B00BDD08-4569-F01C-DA23-F1ED48C33883}"/>
              </a:ext>
            </a:extLst>
          </p:cNvPr>
          <p:cNvCxnSpPr>
            <a:cxnSpLocks/>
            <a:endCxn id="49" idx="1"/>
          </p:cNvCxnSpPr>
          <p:nvPr/>
        </p:nvCxnSpPr>
        <p:spPr bwMode="auto">
          <a:xfrm>
            <a:off x="2007391" y="4978860"/>
            <a:ext cx="329047" cy="447697"/>
          </a:xfrm>
          <a:prstGeom prst="line">
            <a:avLst/>
          </a:prstGeom>
          <a:solidFill>
            <a:schemeClr val="accent1"/>
          </a:solidFill>
          <a:ln w="9525" cap="flat" cmpd="sng" algn="ctr">
            <a:solidFill>
              <a:srgbClr val="00B050"/>
            </a:solidFill>
            <a:prstDash val="dash"/>
            <a:miter lim="800000"/>
            <a:headEnd type="none" w="med" len="med"/>
            <a:tailEnd type="none" w="med" len="med"/>
          </a:ln>
          <a:effectLst/>
        </p:spPr>
      </p:cxnSp>
      <p:sp>
        <p:nvSpPr>
          <p:cNvPr id="57" name="TextBox 56">
            <a:extLst>
              <a:ext uri="{FF2B5EF4-FFF2-40B4-BE49-F238E27FC236}">
                <a16:creationId xmlns:a16="http://schemas.microsoft.com/office/drawing/2014/main" id="{C7F2F3F2-8736-D7C9-8620-7C9B21AC2336}"/>
              </a:ext>
            </a:extLst>
          </p:cNvPr>
          <p:cNvSpPr txBox="1"/>
          <p:nvPr/>
        </p:nvSpPr>
        <p:spPr>
          <a:xfrm>
            <a:off x="3455864" y="4655111"/>
            <a:ext cx="849913" cy="461665"/>
          </a:xfrm>
          <a:prstGeom prst="rect">
            <a:avLst/>
          </a:prstGeom>
          <a:noFill/>
        </p:spPr>
        <p:txBody>
          <a:bodyPr wrap="none" rtlCol="0">
            <a:spAutoFit/>
          </a:bodyPr>
          <a:lstStyle/>
          <a:p>
            <a:r>
              <a:rPr lang="en-US" dirty="0"/>
              <a:t>MRM</a:t>
            </a:r>
          </a:p>
        </p:txBody>
      </p:sp>
      <p:sp>
        <p:nvSpPr>
          <p:cNvPr id="59" name="TextBox 58">
            <a:extLst>
              <a:ext uri="{FF2B5EF4-FFF2-40B4-BE49-F238E27FC236}">
                <a16:creationId xmlns:a16="http://schemas.microsoft.com/office/drawing/2014/main" id="{B87E6076-DC2E-423A-FB67-7615D6276E99}"/>
              </a:ext>
            </a:extLst>
          </p:cNvPr>
          <p:cNvSpPr txBox="1"/>
          <p:nvPr/>
        </p:nvSpPr>
        <p:spPr>
          <a:xfrm>
            <a:off x="4778053" y="4655110"/>
            <a:ext cx="801823" cy="461665"/>
          </a:xfrm>
          <a:prstGeom prst="rect">
            <a:avLst/>
          </a:prstGeom>
          <a:noFill/>
        </p:spPr>
        <p:txBody>
          <a:bodyPr wrap="none" rtlCol="0">
            <a:spAutoFit/>
          </a:bodyPr>
          <a:lstStyle/>
          <a:p>
            <a:r>
              <a:rPr lang="en-US" dirty="0"/>
              <a:t>MHS</a:t>
            </a:r>
          </a:p>
        </p:txBody>
      </p:sp>
      <p:sp>
        <p:nvSpPr>
          <p:cNvPr id="61" name="TextBox 60">
            <a:extLst>
              <a:ext uri="{FF2B5EF4-FFF2-40B4-BE49-F238E27FC236}">
                <a16:creationId xmlns:a16="http://schemas.microsoft.com/office/drawing/2014/main" id="{3D96606F-A582-C0E3-E91A-303D8396D679}"/>
              </a:ext>
            </a:extLst>
          </p:cNvPr>
          <p:cNvSpPr txBox="1"/>
          <p:nvPr/>
        </p:nvSpPr>
        <p:spPr>
          <a:xfrm>
            <a:off x="7331352" y="4690531"/>
            <a:ext cx="1373325" cy="461665"/>
          </a:xfrm>
          <a:prstGeom prst="rect">
            <a:avLst/>
          </a:prstGeom>
          <a:noFill/>
        </p:spPr>
        <p:txBody>
          <a:bodyPr wrap="none" rtlCol="0">
            <a:spAutoFit/>
          </a:bodyPr>
          <a:lstStyle/>
          <a:p>
            <a:r>
              <a:rPr lang="en-US" dirty="0" err="1"/>
              <a:t>Reg_end</a:t>
            </a:r>
            <a:endParaRPr lang="en-US" dirty="0"/>
          </a:p>
        </p:txBody>
      </p:sp>
      <p:cxnSp>
        <p:nvCxnSpPr>
          <p:cNvPr id="67" name="Straight Connector 66">
            <a:extLst>
              <a:ext uri="{FF2B5EF4-FFF2-40B4-BE49-F238E27FC236}">
                <a16:creationId xmlns:a16="http://schemas.microsoft.com/office/drawing/2014/main" id="{EB9CFE8D-B3DC-EBC4-70D3-8D896C16C099}"/>
              </a:ext>
            </a:extLst>
          </p:cNvPr>
          <p:cNvCxnSpPr>
            <a:cxnSpLocks/>
            <a:endCxn id="57" idx="1"/>
          </p:cNvCxnSpPr>
          <p:nvPr/>
        </p:nvCxnSpPr>
        <p:spPr bwMode="auto">
          <a:xfrm>
            <a:off x="3042234" y="4538148"/>
            <a:ext cx="413630" cy="347796"/>
          </a:xfrm>
          <a:prstGeom prst="line">
            <a:avLst/>
          </a:prstGeom>
          <a:solidFill>
            <a:schemeClr val="accent1"/>
          </a:solidFill>
          <a:ln w="9525" cap="flat" cmpd="sng" algn="ctr">
            <a:solidFill>
              <a:srgbClr val="00B050"/>
            </a:solidFill>
            <a:prstDash val="dash"/>
            <a:miter lim="800000"/>
            <a:headEnd type="none" w="med" len="med"/>
            <a:tailEnd type="none" w="med" len="med"/>
          </a:ln>
          <a:effectLst/>
        </p:spPr>
      </p:cxnSp>
      <p:cxnSp>
        <p:nvCxnSpPr>
          <p:cNvPr id="72" name="Straight Connector 71">
            <a:extLst>
              <a:ext uri="{FF2B5EF4-FFF2-40B4-BE49-F238E27FC236}">
                <a16:creationId xmlns:a16="http://schemas.microsoft.com/office/drawing/2014/main" id="{732CF3D7-73B8-7C3D-4A7E-D5A4A68F22E8}"/>
              </a:ext>
            </a:extLst>
          </p:cNvPr>
          <p:cNvCxnSpPr>
            <a:cxnSpLocks/>
          </p:cNvCxnSpPr>
          <p:nvPr/>
        </p:nvCxnSpPr>
        <p:spPr bwMode="auto">
          <a:xfrm flipV="1">
            <a:off x="3041847" y="4999813"/>
            <a:ext cx="451871" cy="421247"/>
          </a:xfrm>
          <a:prstGeom prst="line">
            <a:avLst/>
          </a:prstGeom>
          <a:solidFill>
            <a:schemeClr val="accent1"/>
          </a:solidFill>
          <a:ln w="9525" cap="flat" cmpd="sng" algn="ctr">
            <a:solidFill>
              <a:srgbClr val="00B050"/>
            </a:solidFill>
            <a:prstDash val="dash"/>
            <a:miter lim="800000"/>
            <a:headEnd type="none" w="med" len="med"/>
            <a:tailEnd type="none" w="med" len="med"/>
          </a:ln>
          <a:effectLst/>
        </p:spPr>
      </p:cxnSp>
      <p:cxnSp>
        <p:nvCxnSpPr>
          <p:cNvPr id="74" name="Straight Connector 73">
            <a:extLst>
              <a:ext uri="{FF2B5EF4-FFF2-40B4-BE49-F238E27FC236}">
                <a16:creationId xmlns:a16="http://schemas.microsoft.com/office/drawing/2014/main" id="{C9DD0376-1D71-B7EF-280C-9F8FDFA86B03}"/>
              </a:ext>
            </a:extLst>
          </p:cNvPr>
          <p:cNvCxnSpPr>
            <a:cxnSpLocks/>
            <a:endCxn id="59" idx="1"/>
          </p:cNvCxnSpPr>
          <p:nvPr/>
        </p:nvCxnSpPr>
        <p:spPr bwMode="auto">
          <a:xfrm flipV="1">
            <a:off x="4262128" y="4885943"/>
            <a:ext cx="515925" cy="33234"/>
          </a:xfrm>
          <a:prstGeom prst="line">
            <a:avLst/>
          </a:prstGeom>
          <a:solidFill>
            <a:schemeClr val="accent1"/>
          </a:solidFill>
          <a:ln w="9525" cap="flat" cmpd="sng" algn="ctr">
            <a:solidFill>
              <a:srgbClr val="00B050"/>
            </a:solidFill>
            <a:prstDash val="dash"/>
            <a:miter lim="800000"/>
            <a:headEnd type="none" w="med" len="med"/>
            <a:tailEnd type="none" w="med" len="med"/>
          </a:ln>
          <a:effectLst/>
        </p:spPr>
      </p:cxnSp>
      <p:cxnSp>
        <p:nvCxnSpPr>
          <p:cNvPr id="76" name="Straight Connector 75">
            <a:extLst>
              <a:ext uri="{FF2B5EF4-FFF2-40B4-BE49-F238E27FC236}">
                <a16:creationId xmlns:a16="http://schemas.microsoft.com/office/drawing/2014/main" id="{3A53F62E-386D-4FAB-9AF0-169F814A3DDF}"/>
              </a:ext>
            </a:extLst>
          </p:cNvPr>
          <p:cNvCxnSpPr>
            <a:cxnSpLocks/>
            <a:endCxn id="61" idx="1"/>
          </p:cNvCxnSpPr>
          <p:nvPr/>
        </p:nvCxnSpPr>
        <p:spPr bwMode="auto">
          <a:xfrm>
            <a:off x="6615342" y="4919177"/>
            <a:ext cx="716010" cy="2187"/>
          </a:xfrm>
          <a:prstGeom prst="line">
            <a:avLst/>
          </a:prstGeom>
          <a:solidFill>
            <a:schemeClr val="accent1"/>
          </a:solidFill>
          <a:ln w="9525" cap="flat" cmpd="sng" algn="ctr">
            <a:solidFill>
              <a:srgbClr val="00B050"/>
            </a:solidFill>
            <a:prstDash val="dash"/>
            <a:miter lim="800000"/>
            <a:headEnd type="none" w="med" len="med"/>
            <a:tailEnd type="none" w="med" len="med"/>
          </a:ln>
          <a:effectLst/>
        </p:spPr>
      </p:cxnSp>
      <p:cxnSp>
        <p:nvCxnSpPr>
          <p:cNvPr id="79" name="Straight Connector 78">
            <a:extLst>
              <a:ext uri="{FF2B5EF4-FFF2-40B4-BE49-F238E27FC236}">
                <a16:creationId xmlns:a16="http://schemas.microsoft.com/office/drawing/2014/main" id="{33E6EA1A-AAD6-FD6F-7BBA-F68083DB49B4}"/>
              </a:ext>
            </a:extLst>
          </p:cNvPr>
          <p:cNvCxnSpPr>
            <a:cxnSpLocks/>
          </p:cNvCxnSpPr>
          <p:nvPr/>
        </p:nvCxnSpPr>
        <p:spPr bwMode="auto">
          <a:xfrm>
            <a:off x="381000" y="4457118"/>
            <a:ext cx="0" cy="1085389"/>
          </a:xfrm>
          <a:prstGeom prst="line">
            <a:avLst/>
          </a:prstGeom>
          <a:solidFill>
            <a:schemeClr val="accent1"/>
          </a:solidFill>
          <a:ln w="38100" cap="flat" cmpd="sng" algn="ctr">
            <a:solidFill>
              <a:srgbClr val="C00000"/>
            </a:solidFill>
            <a:prstDash val="solid"/>
            <a:miter lim="800000"/>
            <a:headEnd type="none" w="med" len="med"/>
            <a:tailEnd type="none" w="med" len="med"/>
          </a:ln>
          <a:effectLst/>
        </p:spPr>
      </p:cxnSp>
      <p:cxnSp>
        <p:nvCxnSpPr>
          <p:cNvPr id="84" name="Straight Connector 83">
            <a:extLst>
              <a:ext uri="{FF2B5EF4-FFF2-40B4-BE49-F238E27FC236}">
                <a16:creationId xmlns:a16="http://schemas.microsoft.com/office/drawing/2014/main" id="{6FA1B146-ED2E-FAE8-EB17-126F285AB545}"/>
              </a:ext>
            </a:extLst>
          </p:cNvPr>
          <p:cNvCxnSpPr>
            <a:cxnSpLocks/>
          </p:cNvCxnSpPr>
          <p:nvPr/>
        </p:nvCxnSpPr>
        <p:spPr bwMode="auto">
          <a:xfrm>
            <a:off x="3249049" y="4348336"/>
            <a:ext cx="0" cy="570841"/>
          </a:xfrm>
          <a:prstGeom prst="line">
            <a:avLst/>
          </a:prstGeom>
          <a:solidFill>
            <a:schemeClr val="accent1"/>
          </a:solidFill>
          <a:ln w="38100" cap="flat" cmpd="sng" algn="ctr">
            <a:solidFill>
              <a:srgbClr val="C00000"/>
            </a:solidFill>
            <a:prstDash val="solid"/>
            <a:miter lim="800000"/>
            <a:headEnd type="none" w="med" len="med"/>
            <a:tailEnd type="none" w="med" len="med"/>
          </a:ln>
          <a:effectLst/>
        </p:spPr>
      </p:cxnSp>
      <p:cxnSp>
        <p:nvCxnSpPr>
          <p:cNvPr id="85" name="Straight Connector 84">
            <a:extLst>
              <a:ext uri="{FF2B5EF4-FFF2-40B4-BE49-F238E27FC236}">
                <a16:creationId xmlns:a16="http://schemas.microsoft.com/office/drawing/2014/main" id="{55BB1CD5-2385-7030-373C-5403E287188F}"/>
              </a:ext>
            </a:extLst>
          </p:cNvPr>
          <p:cNvCxnSpPr>
            <a:cxnSpLocks/>
          </p:cNvCxnSpPr>
          <p:nvPr/>
        </p:nvCxnSpPr>
        <p:spPr bwMode="auto">
          <a:xfrm>
            <a:off x="4520090" y="4628460"/>
            <a:ext cx="0" cy="537605"/>
          </a:xfrm>
          <a:prstGeom prst="line">
            <a:avLst/>
          </a:prstGeom>
          <a:solidFill>
            <a:schemeClr val="accent1"/>
          </a:solidFill>
          <a:ln w="38100" cap="flat" cmpd="sng" algn="ctr">
            <a:solidFill>
              <a:srgbClr val="C00000"/>
            </a:solidFill>
            <a:prstDash val="solid"/>
            <a:miter lim="800000"/>
            <a:headEnd type="none" w="med" len="med"/>
            <a:tailEnd type="none" w="med" len="med"/>
          </a:ln>
          <a:effectLst/>
        </p:spPr>
      </p:cxnSp>
      <p:cxnSp>
        <p:nvCxnSpPr>
          <p:cNvPr id="86" name="Straight Connector 85">
            <a:extLst>
              <a:ext uri="{FF2B5EF4-FFF2-40B4-BE49-F238E27FC236}">
                <a16:creationId xmlns:a16="http://schemas.microsoft.com/office/drawing/2014/main" id="{00CF0C7F-15A7-51E6-7921-3666D20B4B6F}"/>
              </a:ext>
            </a:extLst>
          </p:cNvPr>
          <p:cNvCxnSpPr>
            <a:cxnSpLocks/>
          </p:cNvCxnSpPr>
          <p:nvPr/>
        </p:nvCxnSpPr>
        <p:spPr bwMode="auto">
          <a:xfrm>
            <a:off x="5722308" y="4617138"/>
            <a:ext cx="0" cy="537605"/>
          </a:xfrm>
          <a:prstGeom prst="line">
            <a:avLst/>
          </a:prstGeom>
          <a:solidFill>
            <a:schemeClr val="accent1"/>
          </a:solidFill>
          <a:ln w="38100" cap="flat" cmpd="sng" algn="ctr">
            <a:solidFill>
              <a:srgbClr val="C00000"/>
            </a:solidFill>
            <a:prstDash val="solid"/>
            <a:miter lim="800000"/>
            <a:headEnd type="none" w="med" len="med"/>
            <a:tailEnd type="none" w="med" len="med"/>
          </a:ln>
          <a:effectLst/>
        </p:spPr>
      </p:cxnSp>
      <p:cxnSp>
        <p:nvCxnSpPr>
          <p:cNvPr id="87" name="Straight Connector 86">
            <a:extLst>
              <a:ext uri="{FF2B5EF4-FFF2-40B4-BE49-F238E27FC236}">
                <a16:creationId xmlns:a16="http://schemas.microsoft.com/office/drawing/2014/main" id="{B18D6CFD-A04B-6194-A9A4-B44F6EC34606}"/>
              </a:ext>
            </a:extLst>
          </p:cNvPr>
          <p:cNvCxnSpPr>
            <a:cxnSpLocks/>
          </p:cNvCxnSpPr>
          <p:nvPr/>
        </p:nvCxnSpPr>
        <p:spPr bwMode="auto">
          <a:xfrm>
            <a:off x="6557528" y="4406920"/>
            <a:ext cx="0" cy="904425"/>
          </a:xfrm>
          <a:prstGeom prst="line">
            <a:avLst/>
          </a:prstGeom>
          <a:solidFill>
            <a:schemeClr val="accent1"/>
          </a:solidFill>
          <a:ln w="38100" cap="flat" cmpd="sng" algn="ctr">
            <a:solidFill>
              <a:srgbClr val="C00000"/>
            </a:solidFill>
            <a:prstDash val="solid"/>
            <a:miter lim="800000"/>
            <a:headEnd type="none" w="med" len="med"/>
            <a:tailEnd type="none" w="med" len="med"/>
          </a:ln>
          <a:effectLst/>
        </p:spPr>
      </p:cxnSp>
      <p:cxnSp>
        <p:nvCxnSpPr>
          <p:cNvPr id="88" name="Straight Connector 87">
            <a:extLst>
              <a:ext uri="{FF2B5EF4-FFF2-40B4-BE49-F238E27FC236}">
                <a16:creationId xmlns:a16="http://schemas.microsoft.com/office/drawing/2014/main" id="{A4D9EC14-8808-22B0-9A26-0A4D7BB81DC7}"/>
              </a:ext>
            </a:extLst>
          </p:cNvPr>
          <p:cNvCxnSpPr/>
          <p:nvPr/>
        </p:nvCxnSpPr>
        <p:spPr bwMode="auto">
          <a:xfrm>
            <a:off x="8008376" y="4152744"/>
            <a:ext cx="0" cy="1466389"/>
          </a:xfrm>
          <a:prstGeom prst="line">
            <a:avLst/>
          </a:prstGeom>
          <a:solidFill>
            <a:schemeClr val="accent1"/>
          </a:solidFill>
          <a:ln w="38100" cap="flat" cmpd="sng" algn="ctr">
            <a:solidFill>
              <a:srgbClr val="C00000"/>
            </a:solidFill>
            <a:prstDash val="solid"/>
            <a:miter lim="800000"/>
            <a:headEnd type="none" w="med" len="med"/>
            <a:tailEnd type="none" w="med" len="med"/>
          </a:ln>
          <a:effectLst/>
        </p:spPr>
      </p:cxnSp>
      <p:sp>
        <p:nvSpPr>
          <p:cNvPr id="90" name="TextBox 89">
            <a:extLst>
              <a:ext uri="{FF2B5EF4-FFF2-40B4-BE49-F238E27FC236}">
                <a16:creationId xmlns:a16="http://schemas.microsoft.com/office/drawing/2014/main" id="{14D956A6-7C8D-F4EC-555F-2536602404A5}"/>
              </a:ext>
            </a:extLst>
          </p:cNvPr>
          <p:cNvSpPr txBox="1"/>
          <p:nvPr/>
        </p:nvSpPr>
        <p:spPr>
          <a:xfrm>
            <a:off x="228375" y="3839640"/>
            <a:ext cx="2516811" cy="415498"/>
          </a:xfrm>
          <a:prstGeom prst="rect">
            <a:avLst/>
          </a:prstGeom>
          <a:noFill/>
        </p:spPr>
        <p:txBody>
          <a:bodyPr wrap="square" rtlCol="0">
            <a:spAutoFit/>
          </a:bodyPr>
          <a:lstStyle/>
          <a:p>
            <a:r>
              <a:rPr lang="en-US" sz="700" dirty="0"/>
              <a:t>There are no frame preconditions relevant for the DISPLAY TEMP function .. BUT MRI and MHS have pre-conditions on lower/upper desired that must be established</a:t>
            </a:r>
          </a:p>
        </p:txBody>
      </p:sp>
      <p:sp>
        <p:nvSpPr>
          <p:cNvPr id="94" name="TextBox 93">
            <a:extLst>
              <a:ext uri="{FF2B5EF4-FFF2-40B4-BE49-F238E27FC236}">
                <a16:creationId xmlns:a16="http://schemas.microsoft.com/office/drawing/2014/main" id="{F8E64A27-3907-ED0A-40F5-49F0EEF51E04}"/>
              </a:ext>
            </a:extLst>
          </p:cNvPr>
          <p:cNvSpPr txBox="1"/>
          <p:nvPr/>
        </p:nvSpPr>
        <p:spPr>
          <a:xfrm>
            <a:off x="15023" y="5538964"/>
            <a:ext cx="918841" cy="230832"/>
          </a:xfrm>
          <a:prstGeom prst="rect">
            <a:avLst/>
          </a:prstGeom>
          <a:noFill/>
        </p:spPr>
        <p:txBody>
          <a:bodyPr wrap="none" rtlCol="0">
            <a:spAutoFit/>
          </a:bodyPr>
          <a:lstStyle/>
          <a:p>
            <a:r>
              <a:rPr lang="en-US" sz="900" dirty="0" err="1">
                <a:solidFill>
                  <a:srgbClr val="C00000"/>
                </a:solidFill>
              </a:rPr>
              <a:t>Reg_begin_SA</a:t>
            </a:r>
            <a:endParaRPr lang="en-US" sz="900" dirty="0">
              <a:solidFill>
                <a:srgbClr val="C00000"/>
              </a:solidFill>
            </a:endParaRPr>
          </a:p>
        </p:txBody>
      </p:sp>
      <p:sp>
        <p:nvSpPr>
          <p:cNvPr id="95" name="TextBox 94">
            <a:extLst>
              <a:ext uri="{FF2B5EF4-FFF2-40B4-BE49-F238E27FC236}">
                <a16:creationId xmlns:a16="http://schemas.microsoft.com/office/drawing/2014/main" id="{83C2D046-DF6D-5888-540B-CB3F20741D12}"/>
              </a:ext>
            </a:extLst>
          </p:cNvPr>
          <p:cNvSpPr txBox="1"/>
          <p:nvPr/>
        </p:nvSpPr>
        <p:spPr>
          <a:xfrm>
            <a:off x="3219116" y="5423548"/>
            <a:ext cx="1337226" cy="230832"/>
          </a:xfrm>
          <a:prstGeom prst="rect">
            <a:avLst/>
          </a:prstGeom>
          <a:noFill/>
        </p:spPr>
        <p:txBody>
          <a:bodyPr wrap="none" rtlCol="0">
            <a:spAutoFit/>
          </a:bodyPr>
          <a:lstStyle/>
          <a:p>
            <a:r>
              <a:rPr lang="en-US" sz="900" dirty="0">
                <a:solidFill>
                  <a:srgbClr val="C00000"/>
                </a:solidFill>
              </a:rPr>
              <a:t>..&amp; </a:t>
            </a:r>
            <a:r>
              <a:rPr lang="en-US" sz="900" dirty="0" err="1">
                <a:solidFill>
                  <a:srgbClr val="C00000"/>
                </a:solidFill>
              </a:rPr>
              <a:t>Display_Temp_Fun</a:t>
            </a:r>
            <a:endParaRPr lang="en-US" sz="900" dirty="0">
              <a:solidFill>
                <a:srgbClr val="C00000"/>
              </a:solidFill>
            </a:endParaRPr>
          </a:p>
        </p:txBody>
      </p:sp>
      <p:cxnSp>
        <p:nvCxnSpPr>
          <p:cNvPr id="96" name="Straight Connector 95">
            <a:extLst>
              <a:ext uri="{FF2B5EF4-FFF2-40B4-BE49-F238E27FC236}">
                <a16:creationId xmlns:a16="http://schemas.microsoft.com/office/drawing/2014/main" id="{C3AC8A6E-F1DB-62A5-1BF4-1CBA31DC3306}"/>
              </a:ext>
            </a:extLst>
          </p:cNvPr>
          <p:cNvCxnSpPr>
            <a:cxnSpLocks/>
          </p:cNvCxnSpPr>
          <p:nvPr/>
        </p:nvCxnSpPr>
        <p:spPr bwMode="auto">
          <a:xfrm>
            <a:off x="2399313" y="5217597"/>
            <a:ext cx="0" cy="397104"/>
          </a:xfrm>
          <a:prstGeom prst="line">
            <a:avLst/>
          </a:prstGeom>
          <a:solidFill>
            <a:schemeClr val="accent1"/>
          </a:solidFill>
          <a:ln w="38100" cap="flat" cmpd="sng" algn="ctr">
            <a:solidFill>
              <a:srgbClr val="FFC000"/>
            </a:solidFill>
            <a:prstDash val="solid"/>
            <a:miter lim="800000"/>
            <a:headEnd type="none" w="med" len="med"/>
            <a:tailEnd type="none" w="med" len="med"/>
          </a:ln>
          <a:effectLst/>
        </p:spPr>
      </p:cxnSp>
      <p:cxnSp>
        <p:nvCxnSpPr>
          <p:cNvPr id="98" name="Straight Connector 97">
            <a:extLst>
              <a:ext uri="{FF2B5EF4-FFF2-40B4-BE49-F238E27FC236}">
                <a16:creationId xmlns:a16="http://schemas.microsoft.com/office/drawing/2014/main" id="{5C4980AF-F3BD-FE6C-303A-2872CBA65045}"/>
              </a:ext>
            </a:extLst>
          </p:cNvPr>
          <p:cNvCxnSpPr>
            <a:cxnSpLocks/>
          </p:cNvCxnSpPr>
          <p:nvPr/>
        </p:nvCxnSpPr>
        <p:spPr bwMode="auto">
          <a:xfrm>
            <a:off x="3010649" y="5223693"/>
            <a:ext cx="0" cy="397104"/>
          </a:xfrm>
          <a:prstGeom prst="line">
            <a:avLst/>
          </a:prstGeom>
          <a:solidFill>
            <a:schemeClr val="accent1"/>
          </a:solidFill>
          <a:ln w="38100" cap="flat" cmpd="sng" algn="ctr">
            <a:solidFill>
              <a:schemeClr val="accent2">
                <a:lumMod val="75000"/>
              </a:schemeClr>
            </a:solidFill>
            <a:prstDash val="solid"/>
            <a:miter lim="800000"/>
            <a:headEnd type="none" w="med" len="med"/>
            <a:tailEnd type="none" w="med" len="med"/>
          </a:ln>
          <a:effectLst/>
        </p:spPr>
      </p:cxnSp>
      <p:sp>
        <p:nvSpPr>
          <p:cNvPr id="99" name="TextBox 98">
            <a:extLst>
              <a:ext uri="{FF2B5EF4-FFF2-40B4-BE49-F238E27FC236}">
                <a16:creationId xmlns:a16="http://schemas.microsoft.com/office/drawing/2014/main" id="{A0063E81-9422-7E5A-3F33-151EB6C7D7F5}"/>
              </a:ext>
            </a:extLst>
          </p:cNvPr>
          <p:cNvSpPr txBox="1"/>
          <p:nvPr/>
        </p:nvSpPr>
        <p:spPr>
          <a:xfrm>
            <a:off x="1798202" y="5578125"/>
            <a:ext cx="776633" cy="261610"/>
          </a:xfrm>
          <a:prstGeom prst="rect">
            <a:avLst/>
          </a:prstGeom>
          <a:noFill/>
        </p:spPr>
        <p:txBody>
          <a:bodyPr wrap="square" rtlCol="0">
            <a:spAutoFit/>
          </a:bodyPr>
          <a:lstStyle/>
          <a:p>
            <a:r>
              <a:rPr lang="en-US" sz="1100" dirty="0" err="1"/>
              <a:t>MRI_Pre</a:t>
            </a:r>
            <a:endParaRPr lang="en-US" sz="1100" dirty="0"/>
          </a:p>
        </p:txBody>
      </p:sp>
      <p:sp>
        <p:nvSpPr>
          <p:cNvPr id="100" name="TextBox 99">
            <a:extLst>
              <a:ext uri="{FF2B5EF4-FFF2-40B4-BE49-F238E27FC236}">
                <a16:creationId xmlns:a16="http://schemas.microsoft.com/office/drawing/2014/main" id="{DBD1831F-47FE-5EE0-28CF-B51E1A6AB7EA}"/>
              </a:ext>
            </a:extLst>
          </p:cNvPr>
          <p:cNvSpPr txBox="1"/>
          <p:nvPr/>
        </p:nvSpPr>
        <p:spPr>
          <a:xfrm>
            <a:off x="2584765" y="5588681"/>
            <a:ext cx="918841" cy="261610"/>
          </a:xfrm>
          <a:prstGeom prst="rect">
            <a:avLst/>
          </a:prstGeom>
          <a:noFill/>
        </p:spPr>
        <p:txBody>
          <a:bodyPr wrap="square" rtlCol="0">
            <a:spAutoFit/>
          </a:bodyPr>
          <a:lstStyle/>
          <a:p>
            <a:r>
              <a:rPr lang="en-US" sz="1100" dirty="0" err="1"/>
              <a:t>MRI_Post</a:t>
            </a:r>
            <a:endParaRPr lang="en-US" sz="1100" dirty="0"/>
          </a:p>
        </p:txBody>
      </p:sp>
      <p:sp>
        <p:nvSpPr>
          <p:cNvPr id="102" name="TextBox 101">
            <a:extLst>
              <a:ext uri="{FF2B5EF4-FFF2-40B4-BE49-F238E27FC236}">
                <a16:creationId xmlns:a16="http://schemas.microsoft.com/office/drawing/2014/main" id="{20E8A9D8-B977-D1FF-415A-C02767F68FB1}"/>
              </a:ext>
            </a:extLst>
          </p:cNvPr>
          <p:cNvSpPr txBox="1"/>
          <p:nvPr/>
        </p:nvSpPr>
        <p:spPr>
          <a:xfrm>
            <a:off x="3304217" y="3806756"/>
            <a:ext cx="3506793" cy="600164"/>
          </a:xfrm>
          <a:prstGeom prst="rect">
            <a:avLst/>
          </a:prstGeom>
          <a:noFill/>
        </p:spPr>
        <p:txBody>
          <a:bodyPr wrap="square" rtlCol="0">
            <a:spAutoFit/>
          </a:bodyPr>
          <a:lstStyle/>
          <a:p>
            <a:r>
              <a:rPr lang="en-US" sz="1100" b="1" dirty="0"/>
              <a:t>Frame</a:t>
            </a:r>
            <a:r>
              <a:rPr lang="en-US" sz="1100" dirty="0"/>
              <a:t>: Display Temp not modified; </a:t>
            </a:r>
            <a:r>
              <a:rPr lang="en-US" sz="1100" b="1" dirty="0">
                <a:solidFill>
                  <a:srgbClr val="FF0000"/>
                </a:solidFill>
              </a:rPr>
              <a:t>mode is modified</a:t>
            </a:r>
            <a:r>
              <a:rPr lang="en-US" sz="1100" dirty="0"/>
              <a:t> (but our requirement references logged mode at beginning of cycle.</a:t>
            </a:r>
          </a:p>
        </p:txBody>
      </p:sp>
      <p:cxnSp>
        <p:nvCxnSpPr>
          <p:cNvPr id="103" name="Straight Connector 102">
            <a:extLst>
              <a:ext uri="{FF2B5EF4-FFF2-40B4-BE49-F238E27FC236}">
                <a16:creationId xmlns:a16="http://schemas.microsoft.com/office/drawing/2014/main" id="{52E7EA89-CCD5-758B-803D-922C3016AB01}"/>
              </a:ext>
            </a:extLst>
          </p:cNvPr>
          <p:cNvCxnSpPr>
            <a:cxnSpLocks/>
          </p:cNvCxnSpPr>
          <p:nvPr/>
        </p:nvCxnSpPr>
        <p:spPr bwMode="auto">
          <a:xfrm>
            <a:off x="2399313" y="4312017"/>
            <a:ext cx="0" cy="397104"/>
          </a:xfrm>
          <a:prstGeom prst="line">
            <a:avLst/>
          </a:prstGeom>
          <a:solidFill>
            <a:schemeClr val="accent1"/>
          </a:solidFill>
          <a:ln w="38100" cap="flat" cmpd="sng" algn="ctr">
            <a:solidFill>
              <a:srgbClr val="FFC000"/>
            </a:solidFill>
            <a:prstDash val="solid"/>
            <a:miter lim="800000"/>
            <a:headEnd type="none" w="med" len="med"/>
            <a:tailEnd type="none" w="med" len="med"/>
          </a:ln>
          <a:effectLst/>
        </p:spPr>
      </p:cxnSp>
      <p:cxnSp>
        <p:nvCxnSpPr>
          <p:cNvPr id="104" name="Straight Connector 103">
            <a:extLst>
              <a:ext uri="{FF2B5EF4-FFF2-40B4-BE49-F238E27FC236}">
                <a16:creationId xmlns:a16="http://schemas.microsoft.com/office/drawing/2014/main" id="{C989B13E-5461-E9AB-9AFE-8FEDEF5C8842}"/>
              </a:ext>
            </a:extLst>
          </p:cNvPr>
          <p:cNvCxnSpPr>
            <a:cxnSpLocks/>
          </p:cNvCxnSpPr>
          <p:nvPr/>
        </p:nvCxnSpPr>
        <p:spPr bwMode="auto">
          <a:xfrm>
            <a:off x="3010649" y="4318113"/>
            <a:ext cx="0" cy="397104"/>
          </a:xfrm>
          <a:prstGeom prst="line">
            <a:avLst/>
          </a:prstGeom>
          <a:solidFill>
            <a:schemeClr val="accent1"/>
          </a:solidFill>
          <a:ln w="38100" cap="flat" cmpd="sng" algn="ctr">
            <a:solidFill>
              <a:schemeClr val="accent2">
                <a:lumMod val="75000"/>
              </a:schemeClr>
            </a:solidFill>
            <a:prstDash val="solid"/>
            <a:miter lim="800000"/>
            <a:headEnd type="none" w="med" len="med"/>
            <a:tailEnd type="none" w="med" len="med"/>
          </a:ln>
          <a:effectLst/>
        </p:spPr>
      </p:cxnSp>
      <p:cxnSp>
        <p:nvCxnSpPr>
          <p:cNvPr id="105" name="Straight Connector 104">
            <a:extLst>
              <a:ext uri="{FF2B5EF4-FFF2-40B4-BE49-F238E27FC236}">
                <a16:creationId xmlns:a16="http://schemas.microsoft.com/office/drawing/2014/main" id="{42C324DC-F4DF-DC99-3A5C-E5A21FB3F320}"/>
              </a:ext>
            </a:extLst>
          </p:cNvPr>
          <p:cNvCxnSpPr>
            <a:cxnSpLocks/>
          </p:cNvCxnSpPr>
          <p:nvPr/>
        </p:nvCxnSpPr>
        <p:spPr bwMode="auto">
          <a:xfrm>
            <a:off x="3556593" y="4681290"/>
            <a:ext cx="0" cy="397104"/>
          </a:xfrm>
          <a:prstGeom prst="line">
            <a:avLst/>
          </a:prstGeom>
          <a:solidFill>
            <a:schemeClr val="accent1"/>
          </a:solidFill>
          <a:ln w="38100" cap="flat" cmpd="sng" algn="ctr">
            <a:solidFill>
              <a:srgbClr val="FFC000"/>
            </a:solidFill>
            <a:prstDash val="solid"/>
            <a:miter lim="800000"/>
            <a:headEnd type="none" w="med" len="med"/>
            <a:tailEnd type="none" w="med" len="med"/>
          </a:ln>
          <a:effectLst/>
        </p:spPr>
      </p:cxnSp>
      <p:cxnSp>
        <p:nvCxnSpPr>
          <p:cNvPr id="106" name="Straight Connector 105">
            <a:extLst>
              <a:ext uri="{FF2B5EF4-FFF2-40B4-BE49-F238E27FC236}">
                <a16:creationId xmlns:a16="http://schemas.microsoft.com/office/drawing/2014/main" id="{D343AD03-DAA1-CC18-6A29-25B393CEDD9A}"/>
              </a:ext>
            </a:extLst>
          </p:cNvPr>
          <p:cNvCxnSpPr>
            <a:cxnSpLocks/>
          </p:cNvCxnSpPr>
          <p:nvPr/>
        </p:nvCxnSpPr>
        <p:spPr bwMode="auto">
          <a:xfrm>
            <a:off x="4167929" y="4687386"/>
            <a:ext cx="0" cy="397104"/>
          </a:xfrm>
          <a:prstGeom prst="line">
            <a:avLst/>
          </a:prstGeom>
          <a:solidFill>
            <a:schemeClr val="accent1"/>
          </a:solidFill>
          <a:ln w="38100" cap="flat" cmpd="sng" algn="ctr">
            <a:solidFill>
              <a:schemeClr val="accent2">
                <a:lumMod val="75000"/>
              </a:schemeClr>
            </a:solidFill>
            <a:prstDash val="solid"/>
            <a:miter lim="800000"/>
            <a:headEnd type="none" w="med" len="med"/>
            <a:tailEnd type="none" w="med" len="med"/>
          </a:ln>
          <a:effectLst/>
        </p:spPr>
      </p:cxnSp>
      <p:cxnSp>
        <p:nvCxnSpPr>
          <p:cNvPr id="107" name="Straight Connector 106">
            <a:extLst>
              <a:ext uri="{FF2B5EF4-FFF2-40B4-BE49-F238E27FC236}">
                <a16:creationId xmlns:a16="http://schemas.microsoft.com/office/drawing/2014/main" id="{E0E61DF5-3FCF-0293-40A9-ACFB16F834EE}"/>
              </a:ext>
            </a:extLst>
          </p:cNvPr>
          <p:cNvCxnSpPr>
            <a:cxnSpLocks/>
          </p:cNvCxnSpPr>
          <p:nvPr/>
        </p:nvCxnSpPr>
        <p:spPr bwMode="auto">
          <a:xfrm>
            <a:off x="4864268" y="4697912"/>
            <a:ext cx="0" cy="397104"/>
          </a:xfrm>
          <a:prstGeom prst="line">
            <a:avLst/>
          </a:prstGeom>
          <a:solidFill>
            <a:schemeClr val="accent1"/>
          </a:solidFill>
          <a:ln w="38100" cap="flat" cmpd="sng" algn="ctr">
            <a:solidFill>
              <a:srgbClr val="FFC000"/>
            </a:solidFill>
            <a:prstDash val="solid"/>
            <a:miter lim="800000"/>
            <a:headEnd type="none" w="med" len="med"/>
            <a:tailEnd type="none" w="med" len="med"/>
          </a:ln>
          <a:effectLst/>
        </p:spPr>
      </p:cxnSp>
      <p:cxnSp>
        <p:nvCxnSpPr>
          <p:cNvPr id="108" name="Straight Connector 107">
            <a:extLst>
              <a:ext uri="{FF2B5EF4-FFF2-40B4-BE49-F238E27FC236}">
                <a16:creationId xmlns:a16="http://schemas.microsoft.com/office/drawing/2014/main" id="{7B4DDB92-9592-4A87-FFDB-0073C75877B4}"/>
              </a:ext>
            </a:extLst>
          </p:cNvPr>
          <p:cNvCxnSpPr>
            <a:cxnSpLocks/>
          </p:cNvCxnSpPr>
          <p:nvPr/>
        </p:nvCxnSpPr>
        <p:spPr bwMode="auto">
          <a:xfrm>
            <a:off x="5475604" y="4704008"/>
            <a:ext cx="0" cy="397104"/>
          </a:xfrm>
          <a:prstGeom prst="line">
            <a:avLst/>
          </a:prstGeom>
          <a:solidFill>
            <a:schemeClr val="accent1"/>
          </a:solidFill>
          <a:ln w="38100" cap="flat" cmpd="sng" algn="ctr">
            <a:solidFill>
              <a:schemeClr val="accent2">
                <a:lumMod val="75000"/>
              </a:schemeClr>
            </a:solidFill>
            <a:prstDash val="solid"/>
            <a:miter lim="800000"/>
            <a:headEnd type="none" w="med" len="med"/>
            <a:tailEnd type="none" w="med" len="med"/>
          </a:ln>
          <a:effectLst/>
        </p:spPr>
      </p:cxnSp>
      <p:sp>
        <p:nvSpPr>
          <p:cNvPr id="109" name="TextBox 108">
            <a:extLst>
              <a:ext uri="{FF2B5EF4-FFF2-40B4-BE49-F238E27FC236}">
                <a16:creationId xmlns:a16="http://schemas.microsoft.com/office/drawing/2014/main" id="{C998A02D-C7F1-F43F-2F87-850544A34440}"/>
              </a:ext>
            </a:extLst>
          </p:cNvPr>
          <p:cNvSpPr txBox="1"/>
          <p:nvPr/>
        </p:nvSpPr>
        <p:spPr>
          <a:xfrm>
            <a:off x="4296792" y="5144271"/>
            <a:ext cx="880369" cy="230832"/>
          </a:xfrm>
          <a:prstGeom prst="rect">
            <a:avLst/>
          </a:prstGeom>
          <a:noFill/>
        </p:spPr>
        <p:txBody>
          <a:bodyPr wrap="none" rtlCol="0">
            <a:spAutoFit/>
          </a:bodyPr>
          <a:lstStyle/>
          <a:p>
            <a:r>
              <a:rPr lang="en-US" sz="900" dirty="0" err="1">
                <a:solidFill>
                  <a:srgbClr val="C00000"/>
                </a:solidFill>
              </a:rPr>
              <a:t>MRM_end_SA</a:t>
            </a:r>
            <a:endParaRPr lang="en-US" sz="900" dirty="0">
              <a:solidFill>
                <a:srgbClr val="C00000"/>
              </a:solidFill>
            </a:endParaRPr>
          </a:p>
        </p:txBody>
      </p:sp>
      <p:sp>
        <p:nvSpPr>
          <p:cNvPr id="110" name="TextBox 109">
            <a:extLst>
              <a:ext uri="{FF2B5EF4-FFF2-40B4-BE49-F238E27FC236}">
                <a16:creationId xmlns:a16="http://schemas.microsoft.com/office/drawing/2014/main" id="{D31FB3EE-9A49-3FC2-927E-4E477E020097}"/>
              </a:ext>
            </a:extLst>
          </p:cNvPr>
          <p:cNvSpPr txBox="1"/>
          <p:nvPr/>
        </p:nvSpPr>
        <p:spPr>
          <a:xfrm>
            <a:off x="5464969" y="5152180"/>
            <a:ext cx="862737" cy="230832"/>
          </a:xfrm>
          <a:prstGeom prst="rect">
            <a:avLst/>
          </a:prstGeom>
          <a:noFill/>
        </p:spPr>
        <p:txBody>
          <a:bodyPr wrap="none" rtlCol="0">
            <a:spAutoFit/>
          </a:bodyPr>
          <a:lstStyle/>
          <a:p>
            <a:r>
              <a:rPr lang="en-US" sz="900" dirty="0" err="1">
                <a:solidFill>
                  <a:srgbClr val="C00000"/>
                </a:solidFill>
              </a:rPr>
              <a:t>MHS_end_SA</a:t>
            </a:r>
            <a:endParaRPr lang="en-US" sz="900" dirty="0">
              <a:solidFill>
                <a:srgbClr val="C00000"/>
              </a:solidFill>
            </a:endParaRPr>
          </a:p>
        </p:txBody>
      </p:sp>
      <p:sp>
        <p:nvSpPr>
          <p:cNvPr id="111" name="TextBox 110">
            <a:extLst>
              <a:ext uri="{FF2B5EF4-FFF2-40B4-BE49-F238E27FC236}">
                <a16:creationId xmlns:a16="http://schemas.microsoft.com/office/drawing/2014/main" id="{EC2D2CD0-A376-A8D5-5441-4984DAD5DCDF}"/>
              </a:ext>
            </a:extLst>
          </p:cNvPr>
          <p:cNvSpPr txBox="1"/>
          <p:nvPr/>
        </p:nvSpPr>
        <p:spPr>
          <a:xfrm>
            <a:off x="7658006" y="5588681"/>
            <a:ext cx="829073" cy="230832"/>
          </a:xfrm>
          <a:prstGeom prst="rect">
            <a:avLst/>
          </a:prstGeom>
          <a:noFill/>
        </p:spPr>
        <p:txBody>
          <a:bodyPr wrap="none" rtlCol="0">
            <a:spAutoFit/>
          </a:bodyPr>
          <a:lstStyle/>
          <a:p>
            <a:r>
              <a:rPr lang="en-US" sz="900" dirty="0" err="1">
                <a:solidFill>
                  <a:srgbClr val="C00000"/>
                </a:solidFill>
              </a:rPr>
              <a:t>Reg_end_SA</a:t>
            </a:r>
            <a:endParaRPr lang="en-US" sz="900" dirty="0">
              <a:solidFill>
                <a:srgbClr val="C00000"/>
              </a:solidFill>
            </a:endParaRPr>
          </a:p>
        </p:txBody>
      </p:sp>
      <p:sp>
        <p:nvSpPr>
          <p:cNvPr id="113" name="TextBox 112">
            <a:extLst>
              <a:ext uri="{FF2B5EF4-FFF2-40B4-BE49-F238E27FC236}">
                <a16:creationId xmlns:a16="http://schemas.microsoft.com/office/drawing/2014/main" id="{7F539EB3-63F7-DB13-4F26-5AE3574E1386}"/>
              </a:ext>
            </a:extLst>
          </p:cNvPr>
          <p:cNvSpPr txBox="1"/>
          <p:nvPr/>
        </p:nvSpPr>
        <p:spPr>
          <a:xfrm>
            <a:off x="6594215" y="4139722"/>
            <a:ext cx="837089" cy="230832"/>
          </a:xfrm>
          <a:prstGeom prst="rect">
            <a:avLst/>
          </a:prstGeom>
          <a:noFill/>
        </p:spPr>
        <p:txBody>
          <a:bodyPr wrap="none" rtlCol="0">
            <a:spAutoFit/>
          </a:bodyPr>
          <a:lstStyle/>
          <a:p>
            <a:r>
              <a:rPr lang="en-US" sz="900" dirty="0" err="1">
                <a:solidFill>
                  <a:srgbClr val="C00000"/>
                </a:solidFill>
              </a:rPr>
              <a:t>DisplayTemp</a:t>
            </a:r>
            <a:endParaRPr lang="en-US" sz="900" dirty="0">
              <a:solidFill>
                <a:srgbClr val="C00000"/>
              </a:solidFill>
            </a:endParaRPr>
          </a:p>
        </p:txBody>
      </p:sp>
      <p:sp>
        <p:nvSpPr>
          <p:cNvPr id="114" name="TextBox 113">
            <a:extLst>
              <a:ext uri="{FF2B5EF4-FFF2-40B4-BE49-F238E27FC236}">
                <a16:creationId xmlns:a16="http://schemas.microsoft.com/office/drawing/2014/main" id="{CA9A750A-0FDD-9D01-EA35-708435BA316D}"/>
              </a:ext>
            </a:extLst>
          </p:cNvPr>
          <p:cNvSpPr txBox="1"/>
          <p:nvPr/>
        </p:nvSpPr>
        <p:spPr>
          <a:xfrm>
            <a:off x="4164832" y="5267596"/>
            <a:ext cx="1337226" cy="230832"/>
          </a:xfrm>
          <a:prstGeom prst="rect">
            <a:avLst/>
          </a:prstGeom>
          <a:noFill/>
        </p:spPr>
        <p:txBody>
          <a:bodyPr wrap="none" rtlCol="0">
            <a:spAutoFit/>
          </a:bodyPr>
          <a:lstStyle/>
          <a:p>
            <a:r>
              <a:rPr lang="en-US" sz="900" dirty="0">
                <a:solidFill>
                  <a:srgbClr val="C00000"/>
                </a:solidFill>
              </a:rPr>
              <a:t>..&amp; </a:t>
            </a:r>
            <a:r>
              <a:rPr lang="en-US" sz="900" dirty="0" err="1">
                <a:solidFill>
                  <a:srgbClr val="C00000"/>
                </a:solidFill>
              </a:rPr>
              <a:t>Display_Temp_Fun</a:t>
            </a:r>
            <a:endParaRPr lang="en-US" sz="900" dirty="0">
              <a:solidFill>
                <a:srgbClr val="C00000"/>
              </a:solidFill>
            </a:endParaRPr>
          </a:p>
        </p:txBody>
      </p:sp>
      <p:sp>
        <p:nvSpPr>
          <p:cNvPr id="115" name="TextBox 114">
            <a:extLst>
              <a:ext uri="{FF2B5EF4-FFF2-40B4-BE49-F238E27FC236}">
                <a16:creationId xmlns:a16="http://schemas.microsoft.com/office/drawing/2014/main" id="{C1EA3149-483D-E3AA-0D70-381E0FE87C54}"/>
              </a:ext>
            </a:extLst>
          </p:cNvPr>
          <p:cNvSpPr txBox="1"/>
          <p:nvPr/>
        </p:nvSpPr>
        <p:spPr>
          <a:xfrm>
            <a:off x="5440910" y="5311345"/>
            <a:ext cx="1337226" cy="230832"/>
          </a:xfrm>
          <a:prstGeom prst="rect">
            <a:avLst/>
          </a:prstGeom>
          <a:noFill/>
        </p:spPr>
        <p:txBody>
          <a:bodyPr wrap="none" rtlCol="0">
            <a:spAutoFit/>
          </a:bodyPr>
          <a:lstStyle/>
          <a:p>
            <a:r>
              <a:rPr lang="en-US" sz="900" dirty="0">
                <a:solidFill>
                  <a:srgbClr val="C00000"/>
                </a:solidFill>
              </a:rPr>
              <a:t>..&amp; </a:t>
            </a:r>
            <a:r>
              <a:rPr lang="en-US" sz="900" dirty="0" err="1">
                <a:solidFill>
                  <a:srgbClr val="C00000"/>
                </a:solidFill>
              </a:rPr>
              <a:t>Display_Temp_Fun</a:t>
            </a:r>
            <a:endParaRPr lang="en-US" sz="900" dirty="0">
              <a:solidFill>
                <a:srgbClr val="C00000"/>
              </a:solidFill>
            </a:endParaRPr>
          </a:p>
        </p:txBody>
      </p:sp>
      <p:sp>
        <p:nvSpPr>
          <p:cNvPr id="116" name="TextBox 115">
            <a:extLst>
              <a:ext uri="{FF2B5EF4-FFF2-40B4-BE49-F238E27FC236}">
                <a16:creationId xmlns:a16="http://schemas.microsoft.com/office/drawing/2014/main" id="{89BE7753-0557-5026-9D1D-1F7D96649937}"/>
              </a:ext>
            </a:extLst>
          </p:cNvPr>
          <p:cNvSpPr txBox="1"/>
          <p:nvPr/>
        </p:nvSpPr>
        <p:spPr>
          <a:xfrm>
            <a:off x="1175700" y="6112518"/>
            <a:ext cx="2356090" cy="600164"/>
          </a:xfrm>
          <a:prstGeom prst="rect">
            <a:avLst/>
          </a:prstGeom>
          <a:noFill/>
        </p:spPr>
        <p:txBody>
          <a:bodyPr wrap="square" rtlCol="0">
            <a:spAutoFit/>
          </a:bodyPr>
          <a:lstStyle/>
          <a:p>
            <a:r>
              <a:rPr lang="en-US" sz="1100" i="1" dirty="0" err="1"/>
              <a:t>Display_Temp_Fun</a:t>
            </a:r>
            <a:r>
              <a:rPr lang="en-US" sz="1100" i="1" dirty="0"/>
              <a:t> property is established from MRI contract here…</a:t>
            </a:r>
          </a:p>
        </p:txBody>
      </p:sp>
      <p:cxnSp>
        <p:nvCxnSpPr>
          <p:cNvPr id="117" name="Straight Connector 116">
            <a:extLst>
              <a:ext uri="{FF2B5EF4-FFF2-40B4-BE49-F238E27FC236}">
                <a16:creationId xmlns:a16="http://schemas.microsoft.com/office/drawing/2014/main" id="{F6CAD330-6F7A-7B3A-D59A-F7DEB76A1AE7}"/>
              </a:ext>
            </a:extLst>
          </p:cNvPr>
          <p:cNvCxnSpPr>
            <a:cxnSpLocks/>
          </p:cNvCxnSpPr>
          <p:nvPr/>
        </p:nvCxnSpPr>
        <p:spPr bwMode="auto">
          <a:xfrm flipV="1">
            <a:off x="3000937" y="5682349"/>
            <a:ext cx="308404" cy="421629"/>
          </a:xfrm>
          <a:prstGeom prst="line">
            <a:avLst/>
          </a:prstGeom>
          <a:solidFill>
            <a:schemeClr val="accent1"/>
          </a:solidFill>
          <a:ln w="9525" cap="flat" cmpd="sng" algn="ctr">
            <a:solidFill>
              <a:schemeClr val="tx1"/>
            </a:solidFill>
            <a:prstDash val="dash"/>
            <a:miter lim="800000"/>
            <a:headEnd type="none" w="med" len="med"/>
            <a:tailEnd type="none" w="med" len="med"/>
          </a:ln>
          <a:effectLst/>
        </p:spPr>
      </p:cxnSp>
      <p:sp>
        <p:nvSpPr>
          <p:cNvPr id="120" name="TextBox 119">
            <a:extLst>
              <a:ext uri="{FF2B5EF4-FFF2-40B4-BE49-F238E27FC236}">
                <a16:creationId xmlns:a16="http://schemas.microsoft.com/office/drawing/2014/main" id="{0AD5E49B-B4BA-A2A4-C550-9D8D69C0C3D7}"/>
              </a:ext>
            </a:extLst>
          </p:cNvPr>
          <p:cNvSpPr txBox="1"/>
          <p:nvPr/>
        </p:nvSpPr>
        <p:spPr>
          <a:xfrm>
            <a:off x="4114102" y="6100718"/>
            <a:ext cx="1995421" cy="600164"/>
          </a:xfrm>
          <a:prstGeom prst="rect">
            <a:avLst/>
          </a:prstGeom>
          <a:noFill/>
        </p:spPr>
        <p:txBody>
          <a:bodyPr wrap="square" rtlCol="0">
            <a:spAutoFit/>
          </a:bodyPr>
          <a:lstStyle/>
          <a:p>
            <a:r>
              <a:rPr lang="en-US" sz="1100" i="1" dirty="0" err="1"/>
              <a:t>Display_Temp_Fun</a:t>
            </a:r>
            <a:r>
              <a:rPr lang="en-US" sz="1100" i="1" dirty="0"/>
              <a:t> property is preserved via component frame conditions here…</a:t>
            </a:r>
          </a:p>
        </p:txBody>
      </p:sp>
      <p:cxnSp>
        <p:nvCxnSpPr>
          <p:cNvPr id="121" name="Straight Connector 120">
            <a:extLst>
              <a:ext uri="{FF2B5EF4-FFF2-40B4-BE49-F238E27FC236}">
                <a16:creationId xmlns:a16="http://schemas.microsoft.com/office/drawing/2014/main" id="{044BF567-AAB1-ED81-0344-1F29D7341197}"/>
              </a:ext>
            </a:extLst>
          </p:cNvPr>
          <p:cNvCxnSpPr>
            <a:cxnSpLocks/>
          </p:cNvCxnSpPr>
          <p:nvPr/>
        </p:nvCxnSpPr>
        <p:spPr bwMode="auto">
          <a:xfrm flipH="1" flipV="1">
            <a:off x="4586275" y="5517628"/>
            <a:ext cx="368178" cy="578372"/>
          </a:xfrm>
          <a:prstGeom prst="line">
            <a:avLst/>
          </a:prstGeom>
          <a:solidFill>
            <a:schemeClr val="accent1"/>
          </a:solidFill>
          <a:ln w="9525" cap="flat" cmpd="sng" algn="ctr">
            <a:solidFill>
              <a:schemeClr val="tx1"/>
            </a:solidFill>
            <a:prstDash val="dash"/>
            <a:miter lim="800000"/>
            <a:headEnd type="none" w="med" len="med"/>
            <a:tailEnd type="none" w="med" len="med"/>
          </a:ln>
          <a:effectLst/>
        </p:spPr>
      </p:cxnSp>
      <p:cxnSp>
        <p:nvCxnSpPr>
          <p:cNvPr id="123" name="Straight Connector 122">
            <a:extLst>
              <a:ext uri="{FF2B5EF4-FFF2-40B4-BE49-F238E27FC236}">
                <a16:creationId xmlns:a16="http://schemas.microsoft.com/office/drawing/2014/main" id="{F8D10CCA-1170-CB7A-00D0-93645B23106D}"/>
              </a:ext>
            </a:extLst>
          </p:cNvPr>
          <p:cNvCxnSpPr>
            <a:cxnSpLocks/>
          </p:cNvCxnSpPr>
          <p:nvPr/>
        </p:nvCxnSpPr>
        <p:spPr bwMode="auto">
          <a:xfrm flipV="1">
            <a:off x="5579876" y="5530327"/>
            <a:ext cx="218132" cy="565673"/>
          </a:xfrm>
          <a:prstGeom prst="line">
            <a:avLst/>
          </a:prstGeom>
          <a:solidFill>
            <a:schemeClr val="accent1"/>
          </a:solidFill>
          <a:ln w="9525" cap="flat" cmpd="sng" algn="ctr">
            <a:solidFill>
              <a:schemeClr val="tx1"/>
            </a:solidFill>
            <a:prstDash val="dash"/>
            <a:miter lim="800000"/>
            <a:headEnd type="none" w="med" len="med"/>
            <a:tailEnd type="none" w="med" len="med"/>
          </a:ln>
          <a:effectLst/>
        </p:spPr>
      </p:cxnSp>
      <p:sp>
        <p:nvSpPr>
          <p:cNvPr id="126" name="TextBox 125">
            <a:extLst>
              <a:ext uri="{FF2B5EF4-FFF2-40B4-BE49-F238E27FC236}">
                <a16:creationId xmlns:a16="http://schemas.microsoft.com/office/drawing/2014/main" id="{4ED70DAC-E61A-AA4E-BE7F-3BD023ADD119}"/>
              </a:ext>
            </a:extLst>
          </p:cNvPr>
          <p:cNvSpPr txBox="1"/>
          <p:nvPr/>
        </p:nvSpPr>
        <p:spPr>
          <a:xfrm>
            <a:off x="6268163" y="6101680"/>
            <a:ext cx="1656637" cy="600164"/>
          </a:xfrm>
          <a:prstGeom prst="rect">
            <a:avLst/>
          </a:prstGeom>
          <a:noFill/>
        </p:spPr>
        <p:txBody>
          <a:bodyPr wrap="square" rtlCol="0">
            <a:spAutoFit/>
          </a:bodyPr>
          <a:lstStyle/>
          <a:p>
            <a:r>
              <a:rPr lang="en-US" sz="1100" i="1" dirty="0" err="1"/>
              <a:t>Display_Temp_Fun</a:t>
            </a:r>
            <a:r>
              <a:rPr lang="en-US" sz="1100" i="1" dirty="0"/>
              <a:t> property holds at the end of the cycle</a:t>
            </a:r>
          </a:p>
        </p:txBody>
      </p:sp>
      <p:cxnSp>
        <p:nvCxnSpPr>
          <p:cNvPr id="127" name="Straight Connector 126">
            <a:extLst>
              <a:ext uri="{FF2B5EF4-FFF2-40B4-BE49-F238E27FC236}">
                <a16:creationId xmlns:a16="http://schemas.microsoft.com/office/drawing/2014/main" id="{4E42140B-9B43-39D8-E15F-C9791153BE5E}"/>
              </a:ext>
            </a:extLst>
          </p:cNvPr>
          <p:cNvCxnSpPr>
            <a:cxnSpLocks/>
          </p:cNvCxnSpPr>
          <p:nvPr/>
        </p:nvCxnSpPr>
        <p:spPr bwMode="auto">
          <a:xfrm flipH="1" flipV="1">
            <a:off x="6734635" y="5828425"/>
            <a:ext cx="199565" cy="282837"/>
          </a:xfrm>
          <a:prstGeom prst="line">
            <a:avLst/>
          </a:prstGeom>
          <a:solidFill>
            <a:schemeClr val="accent1"/>
          </a:solidFill>
          <a:ln w="9525" cap="flat" cmpd="sng" algn="ctr">
            <a:solidFill>
              <a:schemeClr val="tx1"/>
            </a:solidFill>
            <a:prstDash val="dash"/>
            <a:miter lim="800000"/>
            <a:headEnd type="none" w="med" len="med"/>
            <a:tailEnd type="none" w="med" len="med"/>
          </a:ln>
          <a:effectLst/>
        </p:spPr>
      </p:cxnSp>
      <p:cxnSp>
        <p:nvCxnSpPr>
          <p:cNvPr id="131" name="Straight Connector 130">
            <a:extLst>
              <a:ext uri="{FF2B5EF4-FFF2-40B4-BE49-F238E27FC236}">
                <a16:creationId xmlns:a16="http://schemas.microsoft.com/office/drawing/2014/main" id="{BD444EDD-EB33-7234-9D68-4418D7E0CE65}"/>
              </a:ext>
            </a:extLst>
          </p:cNvPr>
          <p:cNvCxnSpPr>
            <a:cxnSpLocks/>
          </p:cNvCxnSpPr>
          <p:nvPr/>
        </p:nvCxnSpPr>
        <p:spPr bwMode="auto">
          <a:xfrm>
            <a:off x="3249049" y="5089682"/>
            <a:ext cx="0" cy="570841"/>
          </a:xfrm>
          <a:prstGeom prst="line">
            <a:avLst/>
          </a:prstGeom>
          <a:solidFill>
            <a:schemeClr val="accent1"/>
          </a:solidFill>
          <a:ln w="38100" cap="flat" cmpd="sng" algn="ctr">
            <a:solidFill>
              <a:srgbClr val="C00000"/>
            </a:solidFill>
            <a:prstDash val="solid"/>
            <a:miter lim="800000"/>
            <a:headEnd type="none" w="med" len="med"/>
            <a:tailEnd type="none" w="med" len="med"/>
          </a:ln>
          <a:effectLst/>
        </p:spPr>
      </p:cxnSp>
      <p:sp>
        <p:nvSpPr>
          <p:cNvPr id="132" name="TextBox 131">
            <a:extLst>
              <a:ext uri="{FF2B5EF4-FFF2-40B4-BE49-F238E27FC236}">
                <a16:creationId xmlns:a16="http://schemas.microsoft.com/office/drawing/2014/main" id="{9F95FD96-4479-865E-6E4A-8560A38E2837}"/>
              </a:ext>
            </a:extLst>
          </p:cNvPr>
          <p:cNvSpPr txBox="1"/>
          <p:nvPr/>
        </p:nvSpPr>
        <p:spPr>
          <a:xfrm>
            <a:off x="2518430" y="4715217"/>
            <a:ext cx="330540" cy="461665"/>
          </a:xfrm>
          <a:prstGeom prst="rect">
            <a:avLst/>
          </a:prstGeom>
          <a:noFill/>
        </p:spPr>
        <p:txBody>
          <a:bodyPr wrap="none" rtlCol="0">
            <a:spAutoFit/>
          </a:bodyPr>
          <a:lstStyle/>
          <a:p>
            <a:r>
              <a:rPr lang="en-US" dirty="0">
                <a:solidFill>
                  <a:schemeClr val="tx2">
                    <a:lumMod val="60000"/>
                    <a:lumOff val="40000"/>
                  </a:schemeClr>
                </a:solidFill>
              </a:rPr>
              <a:t>?</a:t>
            </a:r>
          </a:p>
        </p:txBody>
      </p:sp>
      <p:sp>
        <p:nvSpPr>
          <p:cNvPr id="133" name="TextBox 132">
            <a:extLst>
              <a:ext uri="{FF2B5EF4-FFF2-40B4-BE49-F238E27FC236}">
                <a16:creationId xmlns:a16="http://schemas.microsoft.com/office/drawing/2014/main" id="{CB111D86-EBBC-500E-F76B-FB36E1E46476}"/>
              </a:ext>
            </a:extLst>
          </p:cNvPr>
          <p:cNvSpPr txBox="1"/>
          <p:nvPr/>
        </p:nvSpPr>
        <p:spPr>
          <a:xfrm>
            <a:off x="812957" y="4792413"/>
            <a:ext cx="1345368" cy="276999"/>
          </a:xfrm>
          <a:prstGeom prst="rect">
            <a:avLst/>
          </a:prstGeom>
          <a:noFill/>
        </p:spPr>
        <p:txBody>
          <a:bodyPr wrap="none" rtlCol="0">
            <a:spAutoFit/>
          </a:bodyPr>
          <a:lstStyle/>
          <a:p>
            <a:r>
              <a:rPr lang="en-US" sz="1200" dirty="0" err="1"/>
              <a:t>DisplayTemp_pre</a:t>
            </a:r>
            <a:endParaRPr lang="en-US" sz="1200" dirty="0"/>
          </a:p>
        </p:txBody>
      </p:sp>
      <p:cxnSp>
        <p:nvCxnSpPr>
          <p:cNvPr id="134" name="Straight Connector 133">
            <a:extLst>
              <a:ext uri="{FF2B5EF4-FFF2-40B4-BE49-F238E27FC236}">
                <a16:creationId xmlns:a16="http://schemas.microsoft.com/office/drawing/2014/main" id="{C6A1D736-FC79-5887-C3C7-0D325ECD2761}"/>
              </a:ext>
            </a:extLst>
          </p:cNvPr>
          <p:cNvCxnSpPr>
            <a:cxnSpLocks/>
          </p:cNvCxnSpPr>
          <p:nvPr/>
        </p:nvCxnSpPr>
        <p:spPr bwMode="auto">
          <a:xfrm>
            <a:off x="1495640" y="4413039"/>
            <a:ext cx="0" cy="1085389"/>
          </a:xfrm>
          <a:prstGeom prst="line">
            <a:avLst/>
          </a:prstGeom>
          <a:solidFill>
            <a:schemeClr val="accent1"/>
          </a:solidFill>
          <a:ln w="38100" cap="flat" cmpd="sng" algn="ctr">
            <a:solidFill>
              <a:srgbClr val="C00000"/>
            </a:solidFill>
            <a:prstDash val="solid"/>
            <a:miter lim="800000"/>
            <a:headEnd type="none" w="med" len="med"/>
            <a:tailEnd type="none" w="med" len="med"/>
          </a:ln>
          <a:effectLst/>
        </p:spPr>
      </p:cxnSp>
      <p:sp>
        <p:nvSpPr>
          <p:cNvPr id="135" name="TextBox 134">
            <a:extLst>
              <a:ext uri="{FF2B5EF4-FFF2-40B4-BE49-F238E27FC236}">
                <a16:creationId xmlns:a16="http://schemas.microsoft.com/office/drawing/2014/main" id="{674466CA-0367-9322-AD4D-7F95FC0E2CC6}"/>
              </a:ext>
            </a:extLst>
          </p:cNvPr>
          <p:cNvSpPr txBox="1"/>
          <p:nvPr/>
        </p:nvSpPr>
        <p:spPr>
          <a:xfrm>
            <a:off x="650547" y="5066270"/>
            <a:ext cx="1376102" cy="369332"/>
          </a:xfrm>
          <a:prstGeom prst="rect">
            <a:avLst/>
          </a:prstGeom>
          <a:noFill/>
        </p:spPr>
        <p:txBody>
          <a:bodyPr wrap="square" rtlCol="0">
            <a:spAutoFit/>
          </a:bodyPr>
          <a:lstStyle/>
          <a:p>
            <a:r>
              <a:rPr lang="en-US" sz="600" dirty="0"/>
              <a:t>Log pre-state values </a:t>
            </a:r>
            <a:r>
              <a:rPr lang="en-US" sz="600" dirty="0" err="1"/>
              <a:t>current_tempWstatus</a:t>
            </a:r>
            <a:r>
              <a:rPr lang="en-US" sz="600" dirty="0"/>
              <a:t> and </a:t>
            </a:r>
            <a:r>
              <a:rPr lang="en-US" sz="600" dirty="0" err="1"/>
              <a:t>last_regulator_mode</a:t>
            </a:r>
            <a:endParaRPr lang="en-US" sz="600" dirty="0"/>
          </a:p>
        </p:txBody>
      </p:sp>
      <p:cxnSp>
        <p:nvCxnSpPr>
          <p:cNvPr id="136" name="Straight Connector 135">
            <a:extLst>
              <a:ext uri="{FF2B5EF4-FFF2-40B4-BE49-F238E27FC236}">
                <a16:creationId xmlns:a16="http://schemas.microsoft.com/office/drawing/2014/main" id="{FF3ACAF0-BE17-8525-A583-24C4100CCDD6}"/>
              </a:ext>
            </a:extLst>
          </p:cNvPr>
          <p:cNvCxnSpPr>
            <a:cxnSpLocks/>
          </p:cNvCxnSpPr>
          <p:nvPr/>
        </p:nvCxnSpPr>
        <p:spPr bwMode="auto">
          <a:xfrm flipV="1">
            <a:off x="461692" y="4708554"/>
            <a:ext cx="861576" cy="6663"/>
          </a:xfrm>
          <a:prstGeom prst="line">
            <a:avLst/>
          </a:prstGeom>
          <a:solidFill>
            <a:schemeClr val="accent1"/>
          </a:solidFill>
          <a:ln w="9525" cap="flat" cmpd="sng" algn="ctr">
            <a:solidFill>
              <a:srgbClr val="00B050"/>
            </a:solidFill>
            <a:prstDash val="dash"/>
            <a:miter lim="800000"/>
            <a:headEnd type="none" w="med" len="med"/>
            <a:tailEnd type="none" w="med" len="med"/>
          </a:ln>
          <a:effectLst/>
        </p:spPr>
      </p:cxnSp>
      <p:sp>
        <p:nvSpPr>
          <p:cNvPr id="139" name="TextBox 138">
            <a:extLst>
              <a:ext uri="{FF2B5EF4-FFF2-40B4-BE49-F238E27FC236}">
                <a16:creationId xmlns:a16="http://schemas.microsoft.com/office/drawing/2014/main" id="{0EC59490-6421-55B8-F97B-835485638B7B}"/>
              </a:ext>
            </a:extLst>
          </p:cNvPr>
          <p:cNvSpPr txBox="1"/>
          <p:nvPr/>
        </p:nvSpPr>
        <p:spPr>
          <a:xfrm>
            <a:off x="6036103" y="4774939"/>
            <a:ext cx="655177" cy="369332"/>
          </a:xfrm>
          <a:prstGeom prst="rect">
            <a:avLst/>
          </a:prstGeom>
          <a:noFill/>
        </p:spPr>
        <p:txBody>
          <a:bodyPr wrap="square" rtlCol="0">
            <a:spAutoFit/>
          </a:bodyPr>
          <a:lstStyle/>
          <a:p>
            <a:r>
              <a:rPr lang="en-US" sz="600" dirty="0"/>
              <a:t>Log post-state values </a:t>
            </a:r>
            <a:r>
              <a:rPr lang="en-US" sz="600" dirty="0" err="1"/>
              <a:t>displayTemp</a:t>
            </a:r>
            <a:endParaRPr lang="en-US" sz="600" dirty="0"/>
          </a:p>
        </p:txBody>
      </p:sp>
      <p:cxnSp>
        <p:nvCxnSpPr>
          <p:cNvPr id="144" name="Straight Connector 143">
            <a:extLst>
              <a:ext uri="{FF2B5EF4-FFF2-40B4-BE49-F238E27FC236}">
                <a16:creationId xmlns:a16="http://schemas.microsoft.com/office/drawing/2014/main" id="{4608712F-F6AC-E266-576F-C7E04C77B881}"/>
              </a:ext>
            </a:extLst>
          </p:cNvPr>
          <p:cNvCxnSpPr>
            <a:cxnSpLocks/>
          </p:cNvCxnSpPr>
          <p:nvPr/>
        </p:nvCxnSpPr>
        <p:spPr bwMode="auto">
          <a:xfrm>
            <a:off x="5751682" y="4916990"/>
            <a:ext cx="716010" cy="2187"/>
          </a:xfrm>
          <a:prstGeom prst="line">
            <a:avLst/>
          </a:prstGeom>
          <a:solidFill>
            <a:schemeClr val="accent1"/>
          </a:solidFill>
          <a:ln w="9525" cap="flat" cmpd="sng" algn="ctr">
            <a:solidFill>
              <a:srgbClr val="00B050"/>
            </a:solidFill>
            <a:prstDash val="dash"/>
            <a:miter lim="800000"/>
            <a:headEnd type="none" w="med" len="med"/>
            <a:tailEnd type="none" w="med" len="med"/>
          </a:ln>
          <a:effectLst/>
        </p:spPr>
      </p:cxnSp>
      <p:sp>
        <p:nvSpPr>
          <p:cNvPr id="145" name="TextBox 144">
            <a:extLst>
              <a:ext uri="{FF2B5EF4-FFF2-40B4-BE49-F238E27FC236}">
                <a16:creationId xmlns:a16="http://schemas.microsoft.com/office/drawing/2014/main" id="{E901524D-0569-FFE7-95CA-FBC13AD2F2E9}"/>
              </a:ext>
            </a:extLst>
          </p:cNvPr>
          <p:cNvSpPr txBox="1"/>
          <p:nvPr/>
        </p:nvSpPr>
        <p:spPr>
          <a:xfrm>
            <a:off x="5967040" y="4550565"/>
            <a:ext cx="1411861" cy="276999"/>
          </a:xfrm>
          <a:prstGeom prst="rect">
            <a:avLst/>
          </a:prstGeom>
          <a:noFill/>
        </p:spPr>
        <p:txBody>
          <a:bodyPr wrap="none" rtlCol="0">
            <a:spAutoFit/>
          </a:bodyPr>
          <a:lstStyle/>
          <a:p>
            <a:r>
              <a:rPr lang="en-US" sz="1200" dirty="0" err="1"/>
              <a:t>DisplayTemp_post</a:t>
            </a:r>
            <a:endParaRPr lang="en-US" sz="1200" dirty="0"/>
          </a:p>
        </p:txBody>
      </p:sp>
      <p:sp>
        <p:nvSpPr>
          <p:cNvPr id="147" name="Oval 146">
            <a:extLst>
              <a:ext uri="{FF2B5EF4-FFF2-40B4-BE49-F238E27FC236}">
                <a16:creationId xmlns:a16="http://schemas.microsoft.com/office/drawing/2014/main" id="{C22FBEA8-E160-1197-2020-520D35497B20}"/>
              </a:ext>
            </a:extLst>
          </p:cNvPr>
          <p:cNvSpPr/>
          <p:nvPr/>
        </p:nvSpPr>
        <p:spPr bwMode="auto">
          <a:xfrm>
            <a:off x="2278624" y="5192636"/>
            <a:ext cx="138051" cy="127033"/>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48" name="Oval 147">
            <a:extLst>
              <a:ext uri="{FF2B5EF4-FFF2-40B4-BE49-F238E27FC236}">
                <a16:creationId xmlns:a16="http://schemas.microsoft.com/office/drawing/2014/main" id="{52F298C2-3A29-A1A5-7C6C-F8AD5C998417}"/>
              </a:ext>
            </a:extLst>
          </p:cNvPr>
          <p:cNvSpPr/>
          <p:nvPr/>
        </p:nvSpPr>
        <p:spPr bwMode="auto">
          <a:xfrm>
            <a:off x="4707531" y="4651700"/>
            <a:ext cx="138051" cy="127033"/>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Tree>
    <p:extLst>
      <p:ext uri="{BB962C8B-B14F-4D97-AF65-F5344CB8AC3E}">
        <p14:creationId xmlns:p14="http://schemas.microsoft.com/office/powerpoint/2010/main" val="13975081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CC21B-0847-85AC-C91F-CFD16053530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A1F6356-86DA-C21C-EB65-2B4F1F48906A}"/>
              </a:ext>
            </a:extLst>
          </p:cNvPr>
          <p:cNvSpPr>
            <a:spLocks noGrp="1"/>
          </p:cNvSpPr>
          <p:nvPr>
            <p:ph type="title"/>
          </p:nvPr>
        </p:nvSpPr>
        <p:spPr/>
        <p:txBody>
          <a:bodyPr/>
          <a:lstStyle/>
          <a:p>
            <a:r>
              <a:rPr lang="en-US" sz="2800" dirty="0"/>
              <a:t>Example: (Regulate) Display Temp Function</a:t>
            </a:r>
          </a:p>
        </p:txBody>
      </p:sp>
      <p:sp>
        <p:nvSpPr>
          <p:cNvPr id="4" name="Slide Number Placeholder 3">
            <a:extLst>
              <a:ext uri="{FF2B5EF4-FFF2-40B4-BE49-F238E27FC236}">
                <a16:creationId xmlns:a16="http://schemas.microsoft.com/office/drawing/2014/main" id="{DE7C7A55-D8E6-2E2F-F2B6-B5A925818879}"/>
              </a:ext>
            </a:extLst>
          </p:cNvPr>
          <p:cNvSpPr>
            <a:spLocks noGrp="1"/>
          </p:cNvSpPr>
          <p:nvPr>
            <p:ph type="sldNum" sz="quarter" idx="11"/>
          </p:nvPr>
        </p:nvSpPr>
        <p:spPr/>
        <p:txBody>
          <a:bodyPr/>
          <a:lstStyle/>
          <a:p>
            <a:pPr>
              <a:defRPr/>
            </a:pPr>
            <a:fld id="{C22399C2-1ADD-1549-9753-CEA7C1EED1B8}" type="slidenum">
              <a:rPr lang="en-US" smtClean="0"/>
              <a:pPr>
                <a:defRPr/>
              </a:pPr>
              <a:t>20</a:t>
            </a:fld>
            <a:endParaRPr lang="en-US"/>
          </a:p>
        </p:txBody>
      </p:sp>
      <p:pic>
        <p:nvPicPr>
          <p:cNvPr id="3" name="Picture 2">
            <a:extLst>
              <a:ext uri="{FF2B5EF4-FFF2-40B4-BE49-F238E27FC236}">
                <a16:creationId xmlns:a16="http://schemas.microsoft.com/office/drawing/2014/main" id="{D4D17A8E-612B-F19E-A43B-FADC35C965A6}"/>
              </a:ext>
            </a:extLst>
          </p:cNvPr>
          <p:cNvPicPr>
            <a:picLocks noChangeAspect="1"/>
          </p:cNvPicPr>
          <p:nvPr/>
        </p:nvPicPr>
        <p:blipFill>
          <a:blip r:embed="rId2"/>
          <a:stretch>
            <a:fillRect/>
          </a:stretch>
        </p:blipFill>
        <p:spPr>
          <a:xfrm>
            <a:off x="762000" y="1600200"/>
            <a:ext cx="4800600" cy="1512794"/>
          </a:xfrm>
          <a:prstGeom prst="rect">
            <a:avLst/>
          </a:prstGeom>
        </p:spPr>
      </p:pic>
      <p:pic>
        <p:nvPicPr>
          <p:cNvPr id="6" name="Picture 5">
            <a:extLst>
              <a:ext uri="{FF2B5EF4-FFF2-40B4-BE49-F238E27FC236}">
                <a16:creationId xmlns:a16="http://schemas.microsoft.com/office/drawing/2014/main" id="{8FB1F557-8029-CACC-82D2-E0776AE0DFD0}"/>
              </a:ext>
            </a:extLst>
          </p:cNvPr>
          <p:cNvPicPr>
            <a:picLocks noChangeAspect="1"/>
          </p:cNvPicPr>
          <p:nvPr/>
        </p:nvPicPr>
        <p:blipFill>
          <a:blip r:embed="rId3"/>
          <a:stretch>
            <a:fillRect/>
          </a:stretch>
        </p:blipFill>
        <p:spPr>
          <a:xfrm>
            <a:off x="762000" y="3193808"/>
            <a:ext cx="4823443" cy="1301992"/>
          </a:xfrm>
          <a:prstGeom prst="rect">
            <a:avLst/>
          </a:prstGeom>
        </p:spPr>
      </p:pic>
      <p:sp>
        <p:nvSpPr>
          <p:cNvPr id="7" name="TextBox 6">
            <a:extLst>
              <a:ext uri="{FF2B5EF4-FFF2-40B4-BE49-F238E27FC236}">
                <a16:creationId xmlns:a16="http://schemas.microsoft.com/office/drawing/2014/main" id="{28B2F673-7BB5-9A5D-2B01-F0EA63EC62AE}"/>
              </a:ext>
            </a:extLst>
          </p:cNvPr>
          <p:cNvSpPr txBox="1"/>
          <p:nvPr/>
        </p:nvSpPr>
        <p:spPr>
          <a:xfrm>
            <a:off x="5769864" y="1600200"/>
            <a:ext cx="2895600" cy="769441"/>
          </a:xfrm>
          <a:prstGeom prst="rect">
            <a:avLst/>
          </a:prstGeom>
          <a:noFill/>
        </p:spPr>
        <p:txBody>
          <a:bodyPr wrap="square" rtlCol="0">
            <a:spAutoFit/>
          </a:bodyPr>
          <a:lstStyle/>
          <a:p>
            <a:r>
              <a:rPr lang="en-US" sz="1100" dirty="0"/>
              <a:t>Req-REG-DisplayTemp-1: If the </a:t>
            </a:r>
            <a:r>
              <a:rPr lang="en-US" sz="1100" b="1" dirty="0"/>
              <a:t>mode</a:t>
            </a:r>
            <a:r>
              <a:rPr lang="en-US" sz="1100" dirty="0"/>
              <a:t> is normal in the subsystem pre-state, then the </a:t>
            </a:r>
            <a:r>
              <a:rPr lang="en-US" sz="1100" b="1" dirty="0"/>
              <a:t>display temp </a:t>
            </a:r>
            <a:r>
              <a:rPr lang="en-US" sz="1100" dirty="0"/>
              <a:t>= </a:t>
            </a:r>
            <a:r>
              <a:rPr lang="en-US" sz="1100" b="1" dirty="0"/>
              <a:t>current temp </a:t>
            </a:r>
            <a:r>
              <a:rPr lang="en-US" sz="1100" dirty="0"/>
              <a:t>value in the subsystem post-state</a:t>
            </a:r>
          </a:p>
        </p:txBody>
      </p:sp>
      <p:sp>
        <p:nvSpPr>
          <p:cNvPr id="10" name="TextBox 9">
            <a:extLst>
              <a:ext uri="{FF2B5EF4-FFF2-40B4-BE49-F238E27FC236}">
                <a16:creationId xmlns:a16="http://schemas.microsoft.com/office/drawing/2014/main" id="{B407D2A4-3E01-6313-8720-967CE928CC60}"/>
              </a:ext>
            </a:extLst>
          </p:cNvPr>
          <p:cNvSpPr txBox="1"/>
          <p:nvPr/>
        </p:nvSpPr>
        <p:spPr>
          <a:xfrm>
            <a:off x="5769864" y="3184664"/>
            <a:ext cx="2895600" cy="938719"/>
          </a:xfrm>
          <a:prstGeom prst="rect">
            <a:avLst/>
          </a:prstGeom>
          <a:noFill/>
        </p:spPr>
        <p:txBody>
          <a:bodyPr wrap="square" rtlCol="0">
            <a:spAutoFit/>
          </a:bodyPr>
          <a:lstStyle/>
          <a:p>
            <a:r>
              <a:rPr lang="en-US" sz="1100" dirty="0"/>
              <a:t>Req-REG-DisplayTemp-2: If the </a:t>
            </a:r>
            <a:r>
              <a:rPr lang="en-US" sz="1100" b="1" dirty="0"/>
              <a:t>mode</a:t>
            </a:r>
            <a:r>
              <a:rPr lang="en-US" sz="1100" dirty="0"/>
              <a:t> is not normal in the subsystem pre-state, then the </a:t>
            </a:r>
            <a:r>
              <a:rPr lang="en-US" sz="1100" b="1" dirty="0"/>
              <a:t>display temp </a:t>
            </a:r>
            <a:r>
              <a:rPr lang="en-US" sz="1100" dirty="0"/>
              <a:t>is unspecified (unconstrained) in the subsystem post-state.</a:t>
            </a:r>
          </a:p>
        </p:txBody>
      </p:sp>
      <p:sp>
        <p:nvSpPr>
          <p:cNvPr id="11" name="Text Box 43">
            <a:extLst>
              <a:ext uri="{FF2B5EF4-FFF2-40B4-BE49-F238E27FC236}">
                <a16:creationId xmlns:a16="http://schemas.microsoft.com/office/drawing/2014/main" id="{6249F57D-0FD9-A94D-F069-BCCB40A935E9}"/>
              </a:ext>
            </a:extLst>
          </p:cNvPr>
          <p:cNvSpPr txBox="1">
            <a:spLocks noChangeArrowheads="1"/>
          </p:cNvSpPr>
          <p:nvPr/>
        </p:nvSpPr>
        <p:spPr bwMode="auto">
          <a:xfrm>
            <a:off x="525631" y="1195000"/>
            <a:ext cx="5296180" cy="276999"/>
          </a:xfrm>
          <a:prstGeom prst="rect">
            <a:avLst/>
          </a:prstGeom>
          <a:solidFill>
            <a:schemeClr val="accent2"/>
          </a:solidFill>
          <a:ln w="12700">
            <a:solidFill>
              <a:schemeClr val="tx1"/>
            </a:solidFill>
            <a:miter lim="800000"/>
            <a:headEnd/>
            <a:tailEnd/>
          </a:ln>
          <a:effectLst>
            <a:outerShdw blurRad="63500" dist="35921" dir="2700000" algn="ctr" rotWithShape="0">
              <a:schemeClr val="bg2"/>
            </a:outerShdw>
          </a:effectLst>
        </p:spPr>
        <p:txBody>
          <a:bodyPr wrap="square" anchor="ctr">
            <a:spAutoFit/>
          </a:bodyPr>
          <a:lstStyle/>
          <a:p>
            <a:pPr algn="l">
              <a:defRPr/>
            </a:pPr>
            <a:r>
              <a:rPr lang="en-US" sz="1200" dirty="0">
                <a:latin typeface="Tahoma" pitchFamily="-84" charset="0"/>
              </a:rPr>
              <a:t>Formalize predicates corresponding to abstract subsystem requirements</a:t>
            </a:r>
          </a:p>
        </p:txBody>
      </p:sp>
      <p:pic>
        <p:nvPicPr>
          <p:cNvPr id="13" name="Picture 12">
            <a:extLst>
              <a:ext uri="{FF2B5EF4-FFF2-40B4-BE49-F238E27FC236}">
                <a16:creationId xmlns:a16="http://schemas.microsoft.com/office/drawing/2014/main" id="{82FEDE78-FA4E-2D6F-AB35-1D9250F850B3}"/>
              </a:ext>
            </a:extLst>
          </p:cNvPr>
          <p:cNvPicPr>
            <a:picLocks noChangeAspect="1"/>
          </p:cNvPicPr>
          <p:nvPr/>
        </p:nvPicPr>
        <p:blipFill>
          <a:blip r:embed="rId4"/>
          <a:stretch>
            <a:fillRect/>
          </a:stretch>
        </p:blipFill>
        <p:spPr>
          <a:xfrm>
            <a:off x="762000" y="4576615"/>
            <a:ext cx="4823443" cy="859411"/>
          </a:xfrm>
          <a:prstGeom prst="rect">
            <a:avLst/>
          </a:prstGeom>
        </p:spPr>
      </p:pic>
      <p:sp>
        <p:nvSpPr>
          <p:cNvPr id="14" name="TextBox 13">
            <a:extLst>
              <a:ext uri="{FF2B5EF4-FFF2-40B4-BE49-F238E27FC236}">
                <a16:creationId xmlns:a16="http://schemas.microsoft.com/office/drawing/2014/main" id="{EFB7E685-FA9D-769D-8E2A-72F4A0877E93}"/>
              </a:ext>
            </a:extLst>
          </p:cNvPr>
          <p:cNvSpPr txBox="1"/>
          <p:nvPr/>
        </p:nvSpPr>
        <p:spPr>
          <a:xfrm>
            <a:off x="5742432" y="4488360"/>
            <a:ext cx="2895600" cy="938719"/>
          </a:xfrm>
          <a:prstGeom prst="rect">
            <a:avLst/>
          </a:prstGeom>
          <a:noFill/>
        </p:spPr>
        <p:txBody>
          <a:bodyPr wrap="square" rtlCol="0">
            <a:spAutoFit/>
          </a:bodyPr>
          <a:lstStyle/>
          <a:p>
            <a:r>
              <a:rPr lang="en-US" sz="1100" dirty="0"/>
              <a:t>Req-REG-</a:t>
            </a:r>
            <a:r>
              <a:rPr lang="en-US" sz="1100" dirty="0" err="1"/>
              <a:t>DisplayTemp</a:t>
            </a:r>
            <a:r>
              <a:rPr lang="en-US" sz="1100" dirty="0"/>
              <a:t>: (Conjunction of the two properties above).  Intuitively, this is the predicate representing the logic of the contract for the abstract </a:t>
            </a:r>
            <a:r>
              <a:rPr lang="en-US" sz="1100" dirty="0" err="1"/>
              <a:t>DisplayTemp</a:t>
            </a:r>
            <a:r>
              <a:rPr lang="en-US" sz="1100" dirty="0"/>
              <a:t> function allocated to the REG subsystem. </a:t>
            </a:r>
          </a:p>
        </p:txBody>
      </p:sp>
      <p:sp>
        <p:nvSpPr>
          <p:cNvPr id="15" name="TextBox 14">
            <a:extLst>
              <a:ext uri="{FF2B5EF4-FFF2-40B4-BE49-F238E27FC236}">
                <a16:creationId xmlns:a16="http://schemas.microsoft.com/office/drawing/2014/main" id="{B89C691F-561B-F215-8961-F0A2D85170CA}"/>
              </a:ext>
            </a:extLst>
          </p:cNvPr>
          <p:cNvSpPr txBox="1"/>
          <p:nvPr/>
        </p:nvSpPr>
        <p:spPr>
          <a:xfrm>
            <a:off x="525631" y="5663000"/>
            <a:ext cx="8001000" cy="830997"/>
          </a:xfrm>
          <a:prstGeom prst="rect">
            <a:avLst/>
          </a:prstGeom>
          <a:noFill/>
        </p:spPr>
        <p:txBody>
          <a:bodyPr wrap="square" rtlCol="0">
            <a:spAutoFit/>
          </a:bodyPr>
          <a:lstStyle/>
          <a:p>
            <a:r>
              <a:rPr lang="en-US" dirty="0"/>
              <a:t>…but we still need to map/refine the function contract logic above to particular temporal points</a:t>
            </a:r>
          </a:p>
        </p:txBody>
      </p:sp>
    </p:spTree>
    <p:extLst>
      <p:ext uri="{BB962C8B-B14F-4D97-AF65-F5344CB8AC3E}">
        <p14:creationId xmlns:p14="http://schemas.microsoft.com/office/powerpoint/2010/main" val="13674638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1642F-F44B-0A85-F196-1E2920BF4B7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6BF98E7-8D55-137A-BF16-B19C2E7C75C9}"/>
              </a:ext>
            </a:extLst>
          </p:cNvPr>
          <p:cNvSpPr>
            <a:spLocks noGrp="1"/>
          </p:cNvSpPr>
          <p:nvPr>
            <p:ph type="title"/>
          </p:nvPr>
        </p:nvSpPr>
        <p:spPr/>
        <p:txBody>
          <a:bodyPr/>
          <a:lstStyle/>
          <a:p>
            <a:r>
              <a:rPr lang="en-US" sz="2800" dirty="0"/>
              <a:t>Example: (Regulate) Display Temp Function</a:t>
            </a:r>
          </a:p>
        </p:txBody>
      </p:sp>
      <p:sp>
        <p:nvSpPr>
          <p:cNvPr id="4" name="Slide Number Placeholder 3">
            <a:extLst>
              <a:ext uri="{FF2B5EF4-FFF2-40B4-BE49-F238E27FC236}">
                <a16:creationId xmlns:a16="http://schemas.microsoft.com/office/drawing/2014/main" id="{A867E916-E0F8-4119-D8EC-9101D0D7B4C0}"/>
              </a:ext>
            </a:extLst>
          </p:cNvPr>
          <p:cNvSpPr>
            <a:spLocks noGrp="1"/>
          </p:cNvSpPr>
          <p:nvPr>
            <p:ph type="sldNum" sz="quarter" idx="11"/>
          </p:nvPr>
        </p:nvSpPr>
        <p:spPr/>
        <p:txBody>
          <a:bodyPr/>
          <a:lstStyle/>
          <a:p>
            <a:pPr>
              <a:defRPr/>
            </a:pPr>
            <a:fld id="{C22399C2-1ADD-1549-9753-CEA7C1EED1B8}" type="slidenum">
              <a:rPr lang="en-US" smtClean="0"/>
              <a:pPr>
                <a:defRPr/>
              </a:pPr>
              <a:t>21</a:t>
            </a:fld>
            <a:endParaRPr lang="en-US"/>
          </a:p>
        </p:txBody>
      </p:sp>
      <p:sp>
        <p:nvSpPr>
          <p:cNvPr id="6" name="Rectangle 5">
            <a:extLst>
              <a:ext uri="{FF2B5EF4-FFF2-40B4-BE49-F238E27FC236}">
                <a16:creationId xmlns:a16="http://schemas.microsoft.com/office/drawing/2014/main" id="{BA04C366-7894-1D64-0C87-169ACD2011D3}"/>
              </a:ext>
            </a:extLst>
          </p:cNvPr>
          <p:cNvSpPr/>
          <p:nvPr/>
        </p:nvSpPr>
        <p:spPr bwMode="auto">
          <a:xfrm>
            <a:off x="2209800" y="2209800"/>
            <a:ext cx="4191000" cy="1524000"/>
          </a:xfrm>
          <a:prstGeom prst="rect">
            <a:avLst/>
          </a:prstGeom>
          <a:noFill/>
          <a:ln w="2857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7" name="Oval 6">
            <a:extLst>
              <a:ext uri="{FF2B5EF4-FFF2-40B4-BE49-F238E27FC236}">
                <a16:creationId xmlns:a16="http://schemas.microsoft.com/office/drawing/2014/main" id="{76A16E4B-7D29-BFC6-A700-044452A59A91}"/>
              </a:ext>
            </a:extLst>
          </p:cNvPr>
          <p:cNvSpPr/>
          <p:nvPr/>
        </p:nvSpPr>
        <p:spPr bwMode="auto">
          <a:xfrm>
            <a:off x="6324600" y="2499360"/>
            <a:ext cx="152400" cy="1524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0" name="Oval 9">
            <a:extLst>
              <a:ext uri="{FF2B5EF4-FFF2-40B4-BE49-F238E27FC236}">
                <a16:creationId xmlns:a16="http://schemas.microsoft.com/office/drawing/2014/main" id="{64EBD12B-36CC-9E1A-3C66-C3B1AC556334}"/>
              </a:ext>
            </a:extLst>
          </p:cNvPr>
          <p:cNvSpPr/>
          <p:nvPr/>
        </p:nvSpPr>
        <p:spPr bwMode="auto">
          <a:xfrm>
            <a:off x="2130552" y="3200400"/>
            <a:ext cx="152400" cy="1524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1" name="Oval 10">
            <a:extLst>
              <a:ext uri="{FF2B5EF4-FFF2-40B4-BE49-F238E27FC236}">
                <a16:creationId xmlns:a16="http://schemas.microsoft.com/office/drawing/2014/main" id="{8ED713F8-D7E9-5465-C76D-03191CA496DB}"/>
              </a:ext>
            </a:extLst>
          </p:cNvPr>
          <p:cNvSpPr/>
          <p:nvPr/>
        </p:nvSpPr>
        <p:spPr bwMode="auto">
          <a:xfrm>
            <a:off x="3429000" y="2490216"/>
            <a:ext cx="152400" cy="152400"/>
          </a:xfrm>
          <a:prstGeom prst="ellips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charset="0"/>
            </a:endParaRPr>
          </a:p>
        </p:txBody>
      </p:sp>
      <p:sp>
        <p:nvSpPr>
          <p:cNvPr id="12" name="Text Box 43">
            <a:extLst>
              <a:ext uri="{FF2B5EF4-FFF2-40B4-BE49-F238E27FC236}">
                <a16:creationId xmlns:a16="http://schemas.microsoft.com/office/drawing/2014/main" id="{BFF3CA25-63D3-5B9B-CC5E-491AD0014CB1}"/>
              </a:ext>
            </a:extLst>
          </p:cNvPr>
          <p:cNvSpPr txBox="1">
            <a:spLocks noChangeArrowheads="1"/>
          </p:cNvSpPr>
          <p:nvPr/>
        </p:nvSpPr>
        <p:spPr bwMode="auto">
          <a:xfrm>
            <a:off x="609600" y="1214735"/>
            <a:ext cx="8077200" cy="461665"/>
          </a:xfrm>
          <a:prstGeom prst="rect">
            <a:avLst/>
          </a:prstGeom>
          <a:solidFill>
            <a:schemeClr val="accent2"/>
          </a:solidFill>
          <a:ln w="12700">
            <a:solidFill>
              <a:schemeClr val="tx1"/>
            </a:solidFill>
            <a:miter lim="800000"/>
            <a:headEnd/>
            <a:tailEnd/>
          </a:ln>
          <a:effectLst>
            <a:outerShdw blurRad="63500" dist="35921" dir="2700000" algn="ctr" rotWithShape="0">
              <a:schemeClr val="bg2"/>
            </a:outerShdw>
          </a:effectLst>
        </p:spPr>
        <p:txBody>
          <a:bodyPr wrap="square" anchor="ctr">
            <a:spAutoFit/>
          </a:bodyPr>
          <a:lstStyle/>
          <a:p>
            <a:pPr algn="l">
              <a:defRPr/>
            </a:pPr>
            <a:r>
              <a:rPr lang="en-US" sz="1200" dirty="0">
                <a:latin typeface="Tahoma" pitchFamily="-84" charset="0"/>
              </a:rPr>
              <a:t>Display Temp is a particularly simple subsystem function that is actually </a:t>
            </a:r>
            <a:r>
              <a:rPr lang="en-US" sz="1200" dirty="0" err="1">
                <a:latin typeface="Tahoma" pitchFamily="-84" charset="0"/>
              </a:rPr>
              <a:t>componented</a:t>
            </a:r>
            <a:r>
              <a:rPr lang="en-US" sz="1200" dirty="0">
                <a:latin typeface="Tahoma" pitchFamily="-84" charset="0"/>
              </a:rPr>
              <a:t> by a single refining component, and that component occurs first in the subsystem schedule</a:t>
            </a:r>
          </a:p>
        </p:txBody>
      </p:sp>
      <p:sp>
        <p:nvSpPr>
          <p:cNvPr id="13" name="TextBox 12">
            <a:extLst>
              <a:ext uri="{FF2B5EF4-FFF2-40B4-BE49-F238E27FC236}">
                <a16:creationId xmlns:a16="http://schemas.microsoft.com/office/drawing/2014/main" id="{53B7614D-D82E-4DEF-5F59-F643413F4AB9}"/>
              </a:ext>
            </a:extLst>
          </p:cNvPr>
          <p:cNvSpPr txBox="1"/>
          <p:nvPr/>
        </p:nvSpPr>
        <p:spPr>
          <a:xfrm>
            <a:off x="2109216" y="1765568"/>
            <a:ext cx="1370119" cy="461665"/>
          </a:xfrm>
          <a:prstGeom prst="rect">
            <a:avLst/>
          </a:prstGeom>
          <a:noFill/>
        </p:spPr>
        <p:txBody>
          <a:bodyPr wrap="none" rtlCol="0">
            <a:spAutoFit/>
          </a:bodyPr>
          <a:lstStyle/>
          <a:p>
            <a:r>
              <a:rPr lang="en-US" dirty="0"/>
              <a:t>Regulate</a:t>
            </a:r>
          </a:p>
        </p:txBody>
      </p:sp>
      <p:sp>
        <p:nvSpPr>
          <p:cNvPr id="14" name="TextBox 13">
            <a:extLst>
              <a:ext uri="{FF2B5EF4-FFF2-40B4-BE49-F238E27FC236}">
                <a16:creationId xmlns:a16="http://schemas.microsoft.com/office/drawing/2014/main" id="{2A233727-5318-E230-B681-CA241CEC878C}"/>
              </a:ext>
            </a:extLst>
          </p:cNvPr>
          <p:cNvSpPr txBox="1"/>
          <p:nvPr/>
        </p:nvSpPr>
        <p:spPr>
          <a:xfrm>
            <a:off x="3572256" y="2427916"/>
            <a:ext cx="1262718" cy="276999"/>
          </a:xfrm>
          <a:prstGeom prst="rect">
            <a:avLst/>
          </a:prstGeom>
          <a:noFill/>
        </p:spPr>
        <p:txBody>
          <a:bodyPr wrap="none" rtlCol="0">
            <a:spAutoFit/>
          </a:bodyPr>
          <a:lstStyle/>
          <a:p>
            <a:r>
              <a:rPr lang="en-US" sz="1200" dirty="0" err="1"/>
              <a:t>regulator_mode</a:t>
            </a:r>
            <a:endParaRPr lang="en-US" sz="1200" dirty="0"/>
          </a:p>
        </p:txBody>
      </p:sp>
      <p:sp>
        <p:nvSpPr>
          <p:cNvPr id="15" name="TextBox 14">
            <a:extLst>
              <a:ext uri="{FF2B5EF4-FFF2-40B4-BE49-F238E27FC236}">
                <a16:creationId xmlns:a16="http://schemas.microsoft.com/office/drawing/2014/main" id="{BF772DFD-1A99-A8A1-C403-90B73B0912A0}"/>
              </a:ext>
            </a:extLst>
          </p:cNvPr>
          <p:cNvSpPr txBox="1"/>
          <p:nvPr/>
        </p:nvSpPr>
        <p:spPr>
          <a:xfrm>
            <a:off x="519531" y="3138100"/>
            <a:ext cx="1650645" cy="276999"/>
          </a:xfrm>
          <a:prstGeom prst="rect">
            <a:avLst/>
          </a:prstGeom>
          <a:noFill/>
        </p:spPr>
        <p:txBody>
          <a:bodyPr wrap="none" rtlCol="0">
            <a:spAutoFit/>
          </a:bodyPr>
          <a:lstStyle/>
          <a:p>
            <a:r>
              <a:rPr lang="en-US" sz="1200" dirty="0" err="1"/>
              <a:t>current_tempWstatus</a:t>
            </a:r>
            <a:endParaRPr lang="en-US" sz="1200" dirty="0"/>
          </a:p>
        </p:txBody>
      </p:sp>
      <p:sp>
        <p:nvSpPr>
          <p:cNvPr id="16" name="TextBox 15">
            <a:extLst>
              <a:ext uri="{FF2B5EF4-FFF2-40B4-BE49-F238E27FC236}">
                <a16:creationId xmlns:a16="http://schemas.microsoft.com/office/drawing/2014/main" id="{33358E4C-EC8D-5B22-173E-EC4686FDAA6E}"/>
              </a:ext>
            </a:extLst>
          </p:cNvPr>
          <p:cNvSpPr txBox="1"/>
          <p:nvPr/>
        </p:nvSpPr>
        <p:spPr>
          <a:xfrm>
            <a:off x="6496659" y="2427916"/>
            <a:ext cx="1081322" cy="276999"/>
          </a:xfrm>
          <a:prstGeom prst="rect">
            <a:avLst/>
          </a:prstGeom>
          <a:noFill/>
        </p:spPr>
        <p:txBody>
          <a:bodyPr wrap="none" rtlCol="0">
            <a:spAutoFit/>
          </a:bodyPr>
          <a:lstStyle/>
          <a:p>
            <a:r>
              <a:rPr lang="en-US" sz="1200" dirty="0" err="1"/>
              <a:t>display_temp</a:t>
            </a:r>
            <a:endParaRPr lang="en-US" sz="1200" dirty="0"/>
          </a:p>
        </p:txBody>
      </p:sp>
      <p:cxnSp>
        <p:nvCxnSpPr>
          <p:cNvPr id="17" name="Straight Arrow Connector 16">
            <a:extLst>
              <a:ext uri="{FF2B5EF4-FFF2-40B4-BE49-F238E27FC236}">
                <a16:creationId xmlns:a16="http://schemas.microsoft.com/office/drawing/2014/main" id="{9F8D5A2B-F9A6-4D21-1952-F0469003C652}"/>
              </a:ext>
            </a:extLst>
          </p:cNvPr>
          <p:cNvCxnSpPr>
            <a:cxnSpLocks/>
          </p:cNvCxnSpPr>
          <p:nvPr/>
        </p:nvCxnSpPr>
        <p:spPr bwMode="auto">
          <a:xfrm flipV="1">
            <a:off x="2356104" y="2671465"/>
            <a:ext cx="3903216" cy="562277"/>
          </a:xfrm>
          <a:prstGeom prst="straightConnector1">
            <a:avLst/>
          </a:prstGeom>
          <a:solidFill>
            <a:schemeClr val="accent1"/>
          </a:solidFill>
          <a:ln w="38100" cap="flat" cmpd="sng" algn="ctr">
            <a:solidFill>
              <a:srgbClr val="00B050"/>
            </a:solidFill>
            <a:prstDash val="solid"/>
            <a:miter lim="800000"/>
            <a:headEnd type="none" w="med" len="med"/>
            <a:tailEnd type="triangle"/>
          </a:ln>
          <a:effectLst/>
        </p:spPr>
      </p:cxnSp>
      <p:cxnSp>
        <p:nvCxnSpPr>
          <p:cNvPr id="20" name="Straight Arrow Connector 19">
            <a:extLst>
              <a:ext uri="{FF2B5EF4-FFF2-40B4-BE49-F238E27FC236}">
                <a16:creationId xmlns:a16="http://schemas.microsoft.com/office/drawing/2014/main" id="{341EFA90-5257-ADD0-592E-4A9DC53D8CB3}"/>
              </a:ext>
            </a:extLst>
          </p:cNvPr>
          <p:cNvCxnSpPr>
            <a:cxnSpLocks/>
          </p:cNvCxnSpPr>
          <p:nvPr/>
        </p:nvCxnSpPr>
        <p:spPr bwMode="auto">
          <a:xfrm>
            <a:off x="4806737" y="2582326"/>
            <a:ext cx="1452583" cy="0"/>
          </a:xfrm>
          <a:prstGeom prst="straightConnector1">
            <a:avLst/>
          </a:prstGeom>
          <a:solidFill>
            <a:schemeClr val="accent1"/>
          </a:solidFill>
          <a:ln w="38100" cap="flat" cmpd="sng" algn="ctr">
            <a:solidFill>
              <a:srgbClr val="00B050"/>
            </a:solidFill>
            <a:prstDash val="solid"/>
            <a:miter lim="800000"/>
            <a:headEnd type="none" w="med" len="med"/>
            <a:tailEnd type="triangle"/>
          </a:ln>
          <a:effectLst/>
        </p:spPr>
      </p:cxnSp>
      <p:sp>
        <p:nvSpPr>
          <p:cNvPr id="24" name="TextBox 23">
            <a:extLst>
              <a:ext uri="{FF2B5EF4-FFF2-40B4-BE49-F238E27FC236}">
                <a16:creationId xmlns:a16="http://schemas.microsoft.com/office/drawing/2014/main" id="{72B4657A-07F4-9CBA-1A2B-18EFF970C949}"/>
              </a:ext>
            </a:extLst>
          </p:cNvPr>
          <p:cNvSpPr txBox="1"/>
          <p:nvPr/>
        </p:nvSpPr>
        <p:spPr>
          <a:xfrm>
            <a:off x="694944" y="4181080"/>
            <a:ext cx="6477000" cy="1938992"/>
          </a:xfrm>
          <a:prstGeom prst="rect">
            <a:avLst/>
          </a:prstGeom>
          <a:noFill/>
        </p:spPr>
        <p:txBody>
          <a:bodyPr wrap="square">
            <a:spAutoFit/>
          </a:bodyPr>
          <a:lstStyle/>
          <a:p>
            <a:r>
              <a:rPr lang="en-US" dirty="0" err="1">
                <a:effectLst/>
                <a:latin typeface="Courier New" panose="02070309020205020404" pitchFamily="49" charset="0"/>
                <a:cs typeface="Courier New" panose="02070309020205020404" pitchFamily="49" charset="0"/>
              </a:rPr>
              <a:t>Req_REG_DisplayTemp</a:t>
            </a:r>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current_tempWstatus</a:t>
            </a:r>
            <a:r>
              <a:rPr lang="en-US" dirty="0" err="1">
                <a:solidFill>
                  <a:srgbClr val="FF0000"/>
                </a:solidFill>
                <a:latin typeface="Courier New" panose="02070309020205020404" pitchFamily="49" charset="0"/>
                <a:cs typeface="Courier New" panose="02070309020205020404" pitchFamily="49" charset="0"/>
              </a:rPr>
              <a:t>@Reg_begin</a:t>
            </a:r>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regulator_mode</a:t>
            </a:r>
            <a:r>
              <a:rPr lang="en-US" dirty="0" err="1">
                <a:solidFill>
                  <a:srgbClr val="FF0000"/>
                </a:solidFill>
                <a:latin typeface="Courier New" panose="02070309020205020404" pitchFamily="49" charset="0"/>
                <a:cs typeface="Courier New" panose="02070309020205020404" pitchFamily="49" charset="0"/>
              </a:rPr>
              <a:t>@Reg_begin</a:t>
            </a:r>
            <a:endParaRPr lang="en-US" dirty="0">
              <a:solidFill>
                <a:srgbClr val="FF0000"/>
              </a:solidFill>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display_temp</a:t>
            </a:r>
            <a:r>
              <a:rPr lang="en-US" dirty="0" err="1">
                <a:solidFill>
                  <a:srgbClr val="FF0000"/>
                </a:solidFill>
                <a:latin typeface="Courier New" panose="02070309020205020404" pitchFamily="49" charset="0"/>
                <a:cs typeface="Courier New" panose="02070309020205020404" pitchFamily="49" charset="0"/>
              </a:rPr>
              <a:t>@Reg_end</a:t>
            </a:r>
            <a:endParaRPr lang="en-US" dirty="0">
              <a:solidFill>
                <a:srgbClr val="FF0000"/>
              </a:solidFill>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a:t>
            </a:r>
            <a:endParaRPr lang="en-US" dirty="0">
              <a:effectLst/>
              <a:latin typeface="Courier New" panose="02070309020205020404" pitchFamily="49" charset="0"/>
              <a:cs typeface="Courier New" panose="02070309020205020404" pitchFamily="49" charset="0"/>
            </a:endParaRPr>
          </a:p>
        </p:txBody>
      </p:sp>
      <p:sp>
        <p:nvSpPr>
          <p:cNvPr id="25" name="TextBox 24">
            <a:extLst>
              <a:ext uri="{FF2B5EF4-FFF2-40B4-BE49-F238E27FC236}">
                <a16:creationId xmlns:a16="http://schemas.microsoft.com/office/drawing/2014/main" id="{55E0D56D-D52C-B67B-80B0-F995113E623C}"/>
              </a:ext>
            </a:extLst>
          </p:cNvPr>
          <p:cNvSpPr txBox="1"/>
          <p:nvPr/>
        </p:nvSpPr>
        <p:spPr>
          <a:xfrm>
            <a:off x="7010400" y="4264715"/>
            <a:ext cx="1828800" cy="2246769"/>
          </a:xfrm>
          <a:prstGeom prst="rect">
            <a:avLst/>
          </a:prstGeom>
          <a:noFill/>
        </p:spPr>
        <p:txBody>
          <a:bodyPr wrap="square" rtlCol="0">
            <a:spAutoFit/>
          </a:bodyPr>
          <a:lstStyle/>
          <a:p>
            <a:r>
              <a:rPr lang="en-US" sz="1400" i="1" dirty="0"/>
              <a:t>These must be </a:t>
            </a:r>
            <a:r>
              <a:rPr lang="en-US" sz="1400" i="1" dirty="0" err="1"/>
              <a:t>refineable</a:t>
            </a:r>
            <a:r>
              <a:rPr lang="en-US" sz="1400" i="1" dirty="0"/>
              <a:t> to observable/</a:t>
            </a:r>
            <a:r>
              <a:rPr lang="en-US" sz="1400" i="1" dirty="0" err="1"/>
              <a:t>loggable</a:t>
            </a:r>
            <a:r>
              <a:rPr lang="en-US" sz="1400" i="1" dirty="0"/>
              <a:t> aspects of the system state.  Documentation of the refinement (e.g., down to seL4) is key for supporting appropriate audits</a:t>
            </a:r>
          </a:p>
        </p:txBody>
      </p:sp>
      <p:cxnSp>
        <p:nvCxnSpPr>
          <p:cNvPr id="44" name="Straight Connector 43">
            <a:extLst>
              <a:ext uri="{FF2B5EF4-FFF2-40B4-BE49-F238E27FC236}">
                <a16:creationId xmlns:a16="http://schemas.microsoft.com/office/drawing/2014/main" id="{F000CC1D-6C7E-8823-7934-7F0B589006D2}"/>
              </a:ext>
            </a:extLst>
          </p:cNvPr>
          <p:cNvCxnSpPr>
            <a:cxnSpLocks/>
          </p:cNvCxnSpPr>
          <p:nvPr/>
        </p:nvCxnSpPr>
        <p:spPr bwMode="auto">
          <a:xfrm>
            <a:off x="6309360" y="4710595"/>
            <a:ext cx="701040" cy="20161"/>
          </a:xfrm>
          <a:prstGeom prst="line">
            <a:avLst/>
          </a:prstGeom>
          <a:solidFill>
            <a:schemeClr val="accent1"/>
          </a:solidFill>
          <a:ln w="9525" cap="flat" cmpd="sng" algn="ctr">
            <a:solidFill>
              <a:schemeClr val="tx1"/>
            </a:solidFill>
            <a:prstDash val="dash"/>
            <a:miter lim="800000"/>
            <a:headEnd type="none" w="med" len="med"/>
            <a:tailEnd type="none" w="med" len="med"/>
          </a:ln>
          <a:effectLst/>
        </p:spPr>
      </p:cxnSp>
      <p:cxnSp>
        <p:nvCxnSpPr>
          <p:cNvPr id="47" name="Straight Connector 46">
            <a:extLst>
              <a:ext uri="{FF2B5EF4-FFF2-40B4-BE49-F238E27FC236}">
                <a16:creationId xmlns:a16="http://schemas.microsoft.com/office/drawing/2014/main" id="{36A9AFF8-5D81-3FB7-D697-BD345BDFB124}"/>
              </a:ext>
            </a:extLst>
          </p:cNvPr>
          <p:cNvCxnSpPr>
            <a:cxnSpLocks/>
          </p:cNvCxnSpPr>
          <p:nvPr/>
        </p:nvCxnSpPr>
        <p:spPr bwMode="auto">
          <a:xfrm flipV="1">
            <a:off x="5483860" y="4898843"/>
            <a:ext cx="1526540" cy="311122"/>
          </a:xfrm>
          <a:prstGeom prst="line">
            <a:avLst/>
          </a:prstGeom>
          <a:solidFill>
            <a:schemeClr val="accent1"/>
          </a:solidFill>
          <a:ln w="9525" cap="flat" cmpd="sng" algn="ctr">
            <a:solidFill>
              <a:schemeClr val="tx1"/>
            </a:solidFill>
            <a:prstDash val="dash"/>
            <a:miter lim="800000"/>
            <a:headEnd type="none" w="med" len="med"/>
            <a:tailEnd type="none" w="med" len="med"/>
          </a:ln>
          <a:effectLst/>
        </p:spPr>
      </p:cxnSp>
      <p:cxnSp>
        <p:nvCxnSpPr>
          <p:cNvPr id="53" name="Straight Connector 52">
            <a:extLst>
              <a:ext uri="{FF2B5EF4-FFF2-40B4-BE49-F238E27FC236}">
                <a16:creationId xmlns:a16="http://schemas.microsoft.com/office/drawing/2014/main" id="{DEB5372C-6B49-60B1-CB83-F84BC1D8219F}"/>
              </a:ext>
            </a:extLst>
          </p:cNvPr>
          <p:cNvCxnSpPr>
            <a:cxnSpLocks/>
          </p:cNvCxnSpPr>
          <p:nvPr/>
        </p:nvCxnSpPr>
        <p:spPr bwMode="auto">
          <a:xfrm flipV="1">
            <a:off x="4762500" y="5029728"/>
            <a:ext cx="2247900" cy="456672"/>
          </a:xfrm>
          <a:prstGeom prst="line">
            <a:avLst/>
          </a:prstGeom>
          <a:solidFill>
            <a:schemeClr val="accent1"/>
          </a:solidFill>
          <a:ln w="9525" cap="flat" cmpd="sng" algn="ctr">
            <a:solidFill>
              <a:schemeClr val="tx1"/>
            </a:solidFill>
            <a:prstDash val="dash"/>
            <a:miter lim="800000"/>
            <a:headEnd type="none" w="med" len="med"/>
            <a:tailEnd type="none" w="med" len="med"/>
          </a:ln>
          <a:effectLst/>
        </p:spPr>
      </p:cxnSp>
      <p:sp>
        <p:nvSpPr>
          <p:cNvPr id="60" name="TextBox 59">
            <a:extLst>
              <a:ext uri="{FF2B5EF4-FFF2-40B4-BE49-F238E27FC236}">
                <a16:creationId xmlns:a16="http://schemas.microsoft.com/office/drawing/2014/main" id="{690B56E1-ADE1-98EC-A467-A012E5741447}"/>
              </a:ext>
            </a:extLst>
          </p:cNvPr>
          <p:cNvSpPr txBox="1"/>
          <p:nvPr/>
        </p:nvSpPr>
        <p:spPr>
          <a:xfrm>
            <a:off x="1387266" y="5916235"/>
            <a:ext cx="5348460" cy="523220"/>
          </a:xfrm>
          <a:prstGeom prst="rect">
            <a:avLst/>
          </a:prstGeom>
          <a:noFill/>
        </p:spPr>
        <p:txBody>
          <a:bodyPr wrap="square" rtlCol="0">
            <a:spAutoFit/>
          </a:bodyPr>
          <a:lstStyle/>
          <a:p>
            <a:r>
              <a:rPr lang="en-US" sz="1400" dirty="0"/>
              <a:t>Stefan: To provide the “logging” concept or the notion of a state element, they can be mark “dirty”.</a:t>
            </a:r>
          </a:p>
        </p:txBody>
      </p:sp>
    </p:spTree>
    <p:extLst>
      <p:ext uri="{BB962C8B-B14F-4D97-AF65-F5344CB8AC3E}">
        <p14:creationId xmlns:p14="http://schemas.microsoft.com/office/powerpoint/2010/main" val="3044339862"/>
      </p:ext>
    </p:extLst>
  </p:cSld>
  <p:clrMapOvr>
    <a:masterClrMapping/>
  </p:clrMapOvr>
</p:sld>
</file>

<file path=ppt/theme/theme1.xml><?xml version="1.0" encoding="utf-8"?>
<a:theme xmlns:a="http://schemas.openxmlformats.org/drawingml/2006/main" name="Blends">
  <a:themeElements>
    <a:clrScheme name="">
      <a:dk1>
        <a:srgbClr val="000000"/>
      </a:dk1>
      <a:lt1>
        <a:srgbClr val="FFFFFF"/>
      </a:lt1>
      <a:dk2>
        <a:srgbClr val="990099"/>
      </a:dk2>
      <a:lt2>
        <a:srgbClr val="1C1C1C"/>
      </a:lt2>
      <a:accent1>
        <a:srgbClr val="6E1EC6"/>
      </a:accent1>
      <a:accent2>
        <a:srgbClr val="FFCF01"/>
      </a:accent2>
      <a:accent3>
        <a:srgbClr val="FFFFFF"/>
      </a:accent3>
      <a:accent4>
        <a:srgbClr val="000000"/>
      </a:accent4>
      <a:accent5>
        <a:srgbClr val="BAABDF"/>
      </a:accent5>
      <a:accent6>
        <a:srgbClr val="E7BB01"/>
      </a:accent6>
      <a:hlink>
        <a:srgbClr val="00CC00"/>
      </a:hlink>
      <a:folHlink>
        <a:srgbClr val="990099"/>
      </a:folHlink>
    </a:clrScheme>
    <a:fontScheme name="Blends">
      <a:majorFont>
        <a:latin typeface="Microsoft Sans Serif"/>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ahom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ahoma"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Designs\Blends.pot</Template>
  <TotalTime>270007</TotalTime>
  <Words>3007</Words>
  <Application>Microsoft Macintosh PowerPoint</Application>
  <PresentationFormat>On-screen Show (4:3)</PresentationFormat>
  <Paragraphs>342</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Courier New</vt:lpstr>
      <vt:lpstr>Microsoft Sans Serif</vt:lpstr>
      <vt:lpstr>Tahoma</vt:lpstr>
      <vt:lpstr>Times New Roman</vt:lpstr>
      <vt:lpstr>Wingdings</vt:lpstr>
      <vt:lpstr>Blends</vt:lpstr>
      <vt:lpstr>Goals</vt:lpstr>
      <vt:lpstr>Note</vt:lpstr>
      <vt:lpstr>Static Schedule (Intuition)</vt:lpstr>
      <vt:lpstr>Static Schedule Declaration</vt:lpstr>
      <vt:lpstr>Schedule Abstractions (Intuition)</vt:lpstr>
      <vt:lpstr>Control Points (States?)</vt:lpstr>
      <vt:lpstr>Control Graph - Intuition</vt:lpstr>
      <vt:lpstr>Abstract Control Points</vt:lpstr>
      <vt:lpstr>Properties for Abstract Functions</vt:lpstr>
      <vt:lpstr>Example: Abstract Component Spec</vt:lpstr>
      <vt:lpstr>Example: Abstract Functional Specification</vt:lpstr>
      <vt:lpstr>Example: (Regulate) Display Temp Function</vt:lpstr>
      <vt:lpstr>Example: Abstract Functional Specification</vt:lpstr>
      <vt:lpstr>Types of Properties (Phase I)</vt:lpstr>
      <vt:lpstr>VC Structure (Phase 1)</vt:lpstr>
      <vt:lpstr>Types of Properties (Phase X?)</vt:lpstr>
      <vt:lpstr>Example: (Regulate) Display Temp Function</vt:lpstr>
      <vt:lpstr>Example: (Regulate) Display Temp Function</vt:lpstr>
      <vt:lpstr>Example: (Regulate) Display Temp Function</vt:lpstr>
      <vt:lpstr>Example: (Regulate) Display Temp Function</vt:lpstr>
      <vt:lpstr>Example: (Regulate) Display Temp Function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John Hatcliff</cp:lastModifiedBy>
  <cp:revision>1482</cp:revision>
  <cp:lastPrinted>2023-09-28T13:37:11Z</cp:lastPrinted>
  <dcterms:created xsi:type="dcterms:W3CDTF">2016-11-14T12:47:14Z</dcterms:created>
  <dcterms:modified xsi:type="dcterms:W3CDTF">2025-10-15T15:43:21Z</dcterms:modified>
</cp:coreProperties>
</file>