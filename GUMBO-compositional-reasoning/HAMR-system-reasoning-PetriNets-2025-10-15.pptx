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60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FE8DA0-A58B-5C27-709A-C550CE7ADF9F}" v="2479" dt="2025-10-09T23:57:01.322"/>
    <p1510:client id="{BF0D40D2-333E-074B-607C-2144DEF7061A}" v="340" dt="2025-10-10T00:01:54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flowchart&#10;&#10;AI-generated content may be incorrect.">
            <a:extLst>
              <a:ext uri="{FF2B5EF4-FFF2-40B4-BE49-F238E27FC236}">
                <a16:creationId xmlns:a16="http://schemas.microsoft.com/office/drawing/2014/main" id="{29119B1D-D647-699B-B81D-4B2979D62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2883"/>
            <a:ext cx="12192000" cy="5023491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34E7D8E-10FA-5D0E-683D-513C37725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1776" cy="1355445"/>
          </a:xfrm>
        </p:spPr>
        <p:txBody>
          <a:bodyPr/>
          <a:lstStyle/>
          <a:p>
            <a:r>
              <a:rPr lang="en-US" dirty="0" err="1"/>
              <a:t>Isolette</a:t>
            </a:r>
            <a:r>
              <a:rPr lang="en-US" dirty="0"/>
              <a:t> Petri Net</a:t>
            </a:r>
          </a:p>
        </p:txBody>
      </p:sp>
    </p:spTree>
    <p:extLst>
      <p:ext uri="{BB962C8B-B14F-4D97-AF65-F5344CB8AC3E}">
        <p14:creationId xmlns:p14="http://schemas.microsoft.com/office/powerpoint/2010/main" val="716123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CE8942A9-9BB5-D2C1-5A8A-C999999C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557"/>
            <a:ext cx="12192000" cy="50234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DD40D0-FBEE-1269-48C0-02FF8175006F}"/>
              </a:ext>
            </a:extLst>
          </p:cNvPr>
          <p:cNvSpPr/>
          <p:nvPr/>
        </p:nvSpPr>
        <p:spPr>
          <a:xfrm>
            <a:off x="1999375" y="2753370"/>
            <a:ext cx="3502403" cy="1181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F531B-2A40-700D-0A09-56BDC9CC95D5}"/>
              </a:ext>
            </a:extLst>
          </p:cNvPr>
          <p:cNvSpPr/>
          <p:nvPr/>
        </p:nvSpPr>
        <p:spPr>
          <a:xfrm>
            <a:off x="1999374" y="5063950"/>
            <a:ext cx="3502403" cy="11814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231F3-6459-17C6-0E3A-ECC22B6AE699}"/>
              </a:ext>
            </a:extLst>
          </p:cNvPr>
          <p:cNvSpPr/>
          <p:nvPr/>
        </p:nvSpPr>
        <p:spPr>
          <a:xfrm>
            <a:off x="100520" y="4222062"/>
            <a:ext cx="1462210" cy="5730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5539B1-B28B-4787-CDCD-7123E608FF13}"/>
              </a:ext>
            </a:extLst>
          </p:cNvPr>
          <p:cNvSpPr/>
          <p:nvPr/>
        </p:nvSpPr>
        <p:spPr>
          <a:xfrm>
            <a:off x="6915504" y="2950015"/>
            <a:ext cx="1708016" cy="7881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00FAEE-7364-989C-1DBF-EEC0BDC70382}"/>
              </a:ext>
            </a:extLst>
          </p:cNvPr>
          <p:cNvSpPr/>
          <p:nvPr/>
        </p:nvSpPr>
        <p:spPr>
          <a:xfrm>
            <a:off x="6915503" y="5260595"/>
            <a:ext cx="1708016" cy="7881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421C8-0D73-6C1E-DB35-EDE8AEC45F4D}"/>
              </a:ext>
            </a:extLst>
          </p:cNvPr>
          <p:cNvSpPr txBox="1"/>
          <p:nvPr/>
        </p:nvSpPr>
        <p:spPr>
          <a:xfrm>
            <a:off x="2001744" y="239385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REGULATOR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3DA6C-1A08-E44A-B1DE-3906BE824259}"/>
              </a:ext>
            </a:extLst>
          </p:cNvPr>
          <p:cNvSpPr txBox="1"/>
          <p:nvPr/>
        </p:nvSpPr>
        <p:spPr>
          <a:xfrm>
            <a:off x="2001743" y="624686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MONITOR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F590AA-642D-A9C4-2619-33F659AE1CE9}"/>
              </a:ext>
            </a:extLst>
          </p:cNvPr>
          <p:cNvSpPr txBox="1"/>
          <p:nvPr/>
        </p:nvSpPr>
        <p:spPr>
          <a:xfrm>
            <a:off x="102889" y="479660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TEMP SENSOR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FA57B1-DECE-EC70-E4B2-A5DCDE9559BD}"/>
              </a:ext>
            </a:extLst>
          </p:cNvPr>
          <p:cNvSpPr txBox="1"/>
          <p:nvPr/>
        </p:nvSpPr>
        <p:spPr>
          <a:xfrm>
            <a:off x="6917873" y="259049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HEAT SOURCE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981D1E-9D34-645E-1B2B-872B8E6E8D79}"/>
              </a:ext>
            </a:extLst>
          </p:cNvPr>
          <p:cNvSpPr txBox="1"/>
          <p:nvPr/>
        </p:nvSpPr>
        <p:spPr>
          <a:xfrm>
            <a:off x="6917872" y="606251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OPERATOR INTERFACE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13962D4-2D54-532F-24F7-DB440617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B792E7-857A-57A8-E091-7B57424F7772}"/>
              </a:ext>
            </a:extLst>
          </p:cNvPr>
          <p:cNvSpPr/>
          <p:nvPr/>
        </p:nvSpPr>
        <p:spPr>
          <a:xfrm>
            <a:off x="1845746" y="2396950"/>
            <a:ext cx="3797370" cy="42110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AA313-BF64-6508-020A-E41308175009}"/>
              </a:ext>
            </a:extLst>
          </p:cNvPr>
          <p:cNvSpPr txBox="1"/>
          <p:nvPr/>
        </p:nvSpPr>
        <p:spPr>
          <a:xfrm>
            <a:off x="1846428" y="208225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THERMOSTAT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5C12-2839-5A88-E138-802D4B69E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 and Properties</a:t>
            </a: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05BF0932-703F-B418-92C7-96340CC51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557"/>
            <a:ext cx="12192000" cy="50234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0CADBBA-0897-E368-5EC9-1C0195CCCB99}"/>
              </a:ext>
            </a:extLst>
          </p:cNvPr>
          <p:cNvSpPr/>
          <p:nvPr/>
        </p:nvSpPr>
        <p:spPr>
          <a:xfrm>
            <a:off x="10504973" y="4145694"/>
            <a:ext cx="1514480" cy="664882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C06C8F-29B6-B19E-D799-5C2F30035944}"/>
              </a:ext>
            </a:extLst>
          </p:cNvPr>
          <p:cNvSpPr/>
          <p:nvPr/>
        </p:nvSpPr>
        <p:spPr>
          <a:xfrm>
            <a:off x="5582698" y="3266936"/>
            <a:ext cx="1471464" cy="2422397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D1EC10-03A5-084E-4E6E-E84ADEEE7E9E}"/>
              </a:ext>
            </a:extLst>
          </p:cNvPr>
          <p:cNvSpPr/>
          <p:nvPr/>
        </p:nvSpPr>
        <p:spPr>
          <a:xfrm>
            <a:off x="8593828" y="3033420"/>
            <a:ext cx="1680399" cy="288942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11F772-7AB8-4389-E527-D85A95B7057F}"/>
              </a:ext>
            </a:extLst>
          </p:cNvPr>
          <p:cNvSpPr txBox="1"/>
          <p:nvPr/>
        </p:nvSpPr>
        <p:spPr>
          <a:xfrm>
            <a:off x="5526428" y="2619164"/>
            <a:ext cx="184186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Synchronization Constraint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64C2B2-4924-5C56-E635-249E7F3FBC90}"/>
              </a:ext>
            </a:extLst>
          </p:cNvPr>
          <p:cNvSpPr txBox="1"/>
          <p:nvPr/>
        </p:nvSpPr>
        <p:spPr>
          <a:xfrm>
            <a:off x="8512976" y="2385647"/>
            <a:ext cx="18295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Synchronization Constraint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6D0F9-8538-F623-DD50-84A5AB66BA02}"/>
              </a:ext>
            </a:extLst>
          </p:cNvPr>
          <p:cNvSpPr txBox="1"/>
          <p:nvPr/>
        </p:nvSpPr>
        <p:spPr>
          <a:xfrm>
            <a:off x="10448703" y="4806841"/>
            <a:ext cx="181727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Schedule Loops</a:t>
            </a:r>
          </a:p>
        </p:txBody>
      </p:sp>
    </p:spTree>
    <p:extLst>
      <p:ext uri="{BB962C8B-B14F-4D97-AF65-F5344CB8AC3E}">
        <p14:creationId xmlns:p14="http://schemas.microsoft.com/office/powerpoint/2010/main" val="879769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7ED8D-6382-6F01-341A-5508A301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Concrete Schedule Example</a:t>
            </a: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899A550C-D03D-C947-9E42-B7F6AE24C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5" y="2319544"/>
            <a:ext cx="12192000" cy="2771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868A15-13FB-D39C-5096-6A579D7F5EC7}"/>
              </a:ext>
            </a:extLst>
          </p:cNvPr>
          <p:cNvSpPr txBox="1"/>
          <p:nvPr/>
        </p:nvSpPr>
        <p:spPr>
          <a:xfrm>
            <a:off x="2210087" y="5435094"/>
            <a:ext cx="78129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TS =&gt; MMM =&gt; MMI =&gt; MA =&gt; DMF =&gt; MRI =&gt; MRM =&gt; MHS =&gt; DRF =&gt; HS =&gt; OI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AF153-F760-C087-FA90-2ED510E5E98D}"/>
              </a:ext>
            </a:extLst>
          </p:cNvPr>
          <p:cNvSpPr/>
          <p:nvPr/>
        </p:nvSpPr>
        <p:spPr>
          <a:xfrm>
            <a:off x="198842" y="2605885"/>
            <a:ext cx="909146" cy="1193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A5ECE-22E8-1B5A-FD52-3D61E235FFF8}"/>
              </a:ext>
            </a:extLst>
          </p:cNvPr>
          <p:cNvSpPr txBox="1"/>
          <p:nvPr/>
        </p:nvSpPr>
        <p:spPr>
          <a:xfrm>
            <a:off x="16857" y="2320107"/>
            <a:ext cx="132366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TEMP SENSOR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FEDE3B9-8008-68F8-01BA-7B0120754EAB}"/>
              </a:ext>
            </a:extLst>
          </p:cNvPr>
          <p:cNvSpPr/>
          <p:nvPr/>
        </p:nvSpPr>
        <p:spPr>
          <a:xfrm>
            <a:off x="1261954" y="2605886"/>
            <a:ext cx="3674467" cy="1193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D40B7-25D0-E164-13C1-8AAEB7077E3A}"/>
              </a:ext>
            </a:extLst>
          </p:cNvPr>
          <p:cNvSpPr txBox="1"/>
          <p:nvPr/>
        </p:nvSpPr>
        <p:spPr>
          <a:xfrm>
            <a:off x="2683856" y="3801090"/>
            <a:ext cx="94881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/>
              <a:t>MONITOR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16AB89-7270-785A-E1CE-8E550A7C1A0A}"/>
              </a:ext>
            </a:extLst>
          </p:cNvPr>
          <p:cNvSpPr/>
          <p:nvPr/>
        </p:nvSpPr>
        <p:spPr>
          <a:xfrm>
            <a:off x="5219437" y="2605885"/>
            <a:ext cx="3674467" cy="11937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D0447-A246-E75F-41B0-45E72BDDF5C4}"/>
              </a:ext>
            </a:extLst>
          </p:cNvPr>
          <p:cNvSpPr txBox="1"/>
          <p:nvPr/>
        </p:nvSpPr>
        <p:spPr>
          <a:xfrm>
            <a:off x="6475419" y="2320105"/>
            <a:ext cx="11638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/>
              <a:t>REGULATOR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D424E8-3B44-6C24-BC81-804C4E44A8E8}"/>
              </a:ext>
            </a:extLst>
          </p:cNvPr>
          <p:cNvSpPr/>
          <p:nvPr/>
        </p:nvSpPr>
        <p:spPr>
          <a:xfrm>
            <a:off x="9054019" y="2624320"/>
            <a:ext cx="909146" cy="1193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F6A9A9-25D8-9096-25A3-69C8405079B9}"/>
              </a:ext>
            </a:extLst>
          </p:cNvPr>
          <p:cNvSpPr/>
          <p:nvPr/>
        </p:nvSpPr>
        <p:spPr>
          <a:xfrm>
            <a:off x="10184729" y="3281851"/>
            <a:ext cx="1708016" cy="536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765F1-E490-E109-9998-E8DA8149D6B1}"/>
              </a:ext>
            </a:extLst>
          </p:cNvPr>
          <p:cNvSpPr txBox="1"/>
          <p:nvPr/>
        </p:nvSpPr>
        <p:spPr>
          <a:xfrm>
            <a:off x="9056388" y="3819524"/>
            <a:ext cx="9119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dirty="0"/>
              <a:t>HEAT</a:t>
            </a:r>
          </a:p>
          <a:p>
            <a:r>
              <a:rPr lang="en-US" sz="1400" dirty="0"/>
              <a:t>SOURCE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45DCE6-6E67-2780-A9D0-AF5D094887B0}"/>
              </a:ext>
            </a:extLst>
          </p:cNvPr>
          <p:cNvSpPr txBox="1"/>
          <p:nvPr/>
        </p:nvSpPr>
        <p:spPr>
          <a:xfrm>
            <a:off x="10457483" y="2762557"/>
            <a:ext cx="11638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OPERATOR</a:t>
            </a:r>
          </a:p>
          <a:p>
            <a:r>
              <a:rPr lang="en-US" sz="1400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284294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74CB3-143A-05DE-EC1E-26D9E39D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Assertions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8F9DE82-F851-5648-6EF8-991E6D85B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673"/>
            <a:ext cx="10515600" cy="21022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We can match up system assertion with specific places within the petri net</a:t>
            </a:r>
          </a:p>
          <a:p>
            <a:r>
              <a:rPr lang="en-US" sz="2400" dirty="0"/>
              <a:t>These assertions can align with pre and post conditions of a system or as facts that should hold true at certain points in the execution of a system</a:t>
            </a:r>
          </a:p>
          <a:p>
            <a:r>
              <a:rPr lang="en-US" sz="2400" dirty="0"/>
              <a:t>The petri net can later be analyzed to automatically produce VC conditions that verify the system assertions along with pre and post condition of subsystems/tasks</a:t>
            </a:r>
          </a:p>
          <a:p>
            <a:pPr marL="0" indent="0">
              <a:buNone/>
            </a:pPr>
            <a:endParaRPr lang="en-US"/>
          </a:p>
          <a:p>
            <a:endParaRPr lang="en-US" sz="2400" dirty="0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562CBF2D-3E4E-DAE7-304C-EABABD0B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717" y="4042134"/>
            <a:ext cx="4866968" cy="13301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1537D1-11B4-8B7C-7A32-DD8343509040}"/>
              </a:ext>
            </a:extLst>
          </p:cNvPr>
          <p:cNvSpPr txBox="1"/>
          <p:nvPr/>
        </p:nvSpPr>
        <p:spPr>
          <a:xfrm>
            <a:off x="3002573" y="5561249"/>
            <a:ext cx="1156495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MRI_REG_END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765A6-76D7-6DC2-37CE-C27C3E7CEC2C}"/>
              </a:ext>
            </a:extLst>
          </p:cNvPr>
          <p:cNvSpPr txBox="1"/>
          <p:nvPr/>
        </p:nvSpPr>
        <p:spPr>
          <a:xfrm>
            <a:off x="3912056" y="6083587"/>
            <a:ext cx="124867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MRM_REG_END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19AD6-3DB3-DE5F-31B3-87DBEDFCFDDE}"/>
              </a:ext>
            </a:extLst>
          </p:cNvPr>
          <p:cNvSpPr txBox="1"/>
          <p:nvPr/>
        </p:nvSpPr>
        <p:spPr>
          <a:xfrm>
            <a:off x="4901427" y="5561249"/>
            <a:ext cx="123638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MHS_REG_END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22B764-81A8-AE8F-2518-75028FA76CB3}"/>
              </a:ext>
            </a:extLst>
          </p:cNvPr>
          <p:cNvSpPr txBox="1"/>
          <p:nvPr/>
        </p:nvSpPr>
        <p:spPr>
          <a:xfrm>
            <a:off x="6056718" y="6077443"/>
            <a:ext cx="130397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. DRF_REG_END</a:t>
            </a:r>
          </a:p>
          <a:p>
            <a:r>
              <a:rPr lang="en-US" sz="1200" dirty="0"/>
              <a:t>. REG_END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49177F-3AAE-FC94-400C-940B869EE597}"/>
              </a:ext>
            </a:extLst>
          </p:cNvPr>
          <p:cNvCxnSpPr/>
          <p:nvPr/>
        </p:nvCxnSpPr>
        <p:spPr>
          <a:xfrm flipV="1">
            <a:off x="3549252" y="5185911"/>
            <a:ext cx="1325" cy="3779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FFFECF6-7D1C-791B-AFB4-057CB1E572EF}"/>
              </a:ext>
            </a:extLst>
          </p:cNvPr>
          <p:cNvCxnSpPr>
            <a:cxnSpLocks/>
          </p:cNvCxnSpPr>
          <p:nvPr/>
        </p:nvCxnSpPr>
        <p:spPr>
          <a:xfrm flipV="1">
            <a:off x="5491122" y="5185910"/>
            <a:ext cx="1325" cy="3779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C668F2-8B14-4274-57AB-4522B635171B}"/>
              </a:ext>
            </a:extLst>
          </p:cNvPr>
          <p:cNvCxnSpPr>
            <a:cxnSpLocks/>
          </p:cNvCxnSpPr>
          <p:nvPr/>
        </p:nvCxnSpPr>
        <p:spPr>
          <a:xfrm flipV="1">
            <a:off x="4507897" y="5192056"/>
            <a:ext cx="1325" cy="888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851A9E-CAC7-6EDA-599C-B83C84AE1D98}"/>
              </a:ext>
            </a:extLst>
          </p:cNvPr>
          <p:cNvCxnSpPr>
            <a:cxnSpLocks/>
          </p:cNvCxnSpPr>
          <p:nvPr/>
        </p:nvCxnSpPr>
        <p:spPr>
          <a:xfrm flipV="1">
            <a:off x="6486638" y="5198200"/>
            <a:ext cx="1325" cy="888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916F72-5C0A-8BEB-857E-8C14DC127BF3}"/>
              </a:ext>
            </a:extLst>
          </p:cNvPr>
          <p:cNvSpPr txBox="1"/>
          <p:nvPr/>
        </p:nvSpPr>
        <p:spPr>
          <a:xfrm>
            <a:off x="2105379" y="6083587"/>
            <a:ext cx="89225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dirty="0"/>
              <a:t>REG_PRE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965A14-C741-C442-92D4-9A3FAED5D538}"/>
              </a:ext>
            </a:extLst>
          </p:cNvPr>
          <p:cNvCxnSpPr>
            <a:cxnSpLocks/>
          </p:cNvCxnSpPr>
          <p:nvPr/>
        </p:nvCxnSpPr>
        <p:spPr>
          <a:xfrm flipV="1">
            <a:off x="2553735" y="5185910"/>
            <a:ext cx="1325" cy="8880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16D6C67-B6C6-8FF0-06DD-D7CCC73C30BE}"/>
              </a:ext>
            </a:extLst>
          </p:cNvPr>
          <p:cNvSpPr txBox="1"/>
          <p:nvPr/>
        </p:nvSpPr>
        <p:spPr>
          <a:xfrm>
            <a:off x="8094382" y="4451627"/>
            <a:ext cx="3155358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In this example, MRI, MRM, MHS, and DRF represent tasks in the Regulator, and each system assertion labeled [Task]_REG_END corresponds to something that should hold true after the respective task. REG_END and REG_PRE represent the pre and post conditions of the regulator system</a:t>
            </a:r>
          </a:p>
        </p:txBody>
      </p:sp>
    </p:spTree>
    <p:extLst>
      <p:ext uri="{BB962C8B-B14F-4D97-AF65-F5344CB8AC3E}">
        <p14:creationId xmlns:p14="http://schemas.microsoft.com/office/powerpoint/2010/main" val="1331440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Isolette Petri Net</vt:lpstr>
      <vt:lpstr>Systems</vt:lpstr>
      <vt:lpstr>Constraints and Properties</vt:lpstr>
      <vt:lpstr>Concrete Schedule Example</vt:lpstr>
      <vt:lpstr>System Assertions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513</cp:revision>
  <dcterms:created xsi:type="dcterms:W3CDTF">2025-10-09T22:12:21Z</dcterms:created>
  <dcterms:modified xsi:type="dcterms:W3CDTF">2025-10-10T00:07:44Z</dcterms:modified>
</cp:coreProperties>
</file>